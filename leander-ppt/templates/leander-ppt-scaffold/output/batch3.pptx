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ReeWell</c:v>
                </c:pt>
              </c:strCache>
            </c:strRef>
          </c:tx>
          <c:spPr>
            <a:solidFill>
              <a:srgbClr val="00B0F0"/>
            </a:solidFill>
            <a:ln w="38100" cap="flat">
              <a:solidFill>
                <a:srgbClr val="00B0F0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00B0F0"/>
              </a:solidFill>
              <a:ln w="9525" cap="flat">
                <a:solidFill>
                  <a:srgbClr val="00B0F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调度</c:v>
                  </c:pt>
                  <c:pt idx="1">
                    <c:v>仿真</c:v>
                  </c:pt>
                  <c:pt idx="2">
                    <c:v>感知</c:v>
                  </c:pt>
                  <c:pt idx="3">
                    <c:v>能源</c:v>
                  </c:pt>
                  <c:pt idx="4">
                    <c:v>安全</c:v>
                  </c:pt>
                  <c:pt idx="5">
                    <c:v>数据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</c:v>
                </c:pt>
                <c:pt idx="1">
                  <c:v>9</c:v>
                </c:pt>
                <c:pt idx="2">
                  <c:v>8</c:v>
                </c:pt>
                <c:pt idx="3">
                  <c:v>7</c:v>
                </c:pt>
                <c:pt idx="4">
                  <c:v>8</c:v>
                </c:pt>
                <c:pt idx="5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传统方案</c:v>
                </c:pt>
              </c:strCache>
            </c:strRef>
          </c:tx>
          <c:spPr>
            <a:solidFill>
              <a:srgbClr val="002060"/>
            </a:solidFill>
            <a:ln w="38100" cap="flat">
              <a:solidFill>
                <a:srgbClr val="002060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002060"/>
              </a:solidFill>
              <a:ln w="9525" cap="flat">
                <a:solidFill>
                  <a:srgbClr val="00206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调度</c:v>
                  </c:pt>
                  <c:pt idx="1">
                    <c:v>仿真</c:v>
                  </c:pt>
                  <c:pt idx="2">
                    <c:v>感知</c:v>
                  </c:pt>
                  <c:pt idx="3">
                    <c:v>能源</c:v>
                  </c:pt>
                  <c:pt idx="4">
                    <c:v>安全</c:v>
                  </c:pt>
                  <c:pt idx="5">
                    <c:v>数据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</c:v>
                </c:pt>
                <c:pt idx="1">
                  <c:v>2</c:v>
                </c:pt>
                <c:pt idx="2">
                  <c:v>5</c:v>
                </c:pt>
                <c:pt idx="3">
                  <c:v>3</c:v>
                </c:pt>
                <c:pt idx="4">
                  <c:v>6</c:v>
                </c:pt>
                <c:pt idx="5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206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F2A37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效率提升 %</c:v>
                </c:pt>
              </c:strCache>
            </c:strRef>
          </c:tx>
          <c:spPr>
            <a:solidFill>
              <a:srgbClr val="0020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7"/>
                    </a:solidFill>
                    <a:latin typeface="Century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天津港</c:v>
                  </c:pt>
                  <c:pt idx="1">
                    <c:v>盐田港</c:v>
                  </c:pt>
                  <c:pt idx="2">
                    <c:v>甘其毛都</c:v>
                  </c:pt>
                  <c:pt idx="3">
                    <c:v>瑞钢联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26</c:v>
                </c:pt>
                <c:pt idx="2">
                  <c:v>22</c:v>
                </c:pt>
                <c:pt idx="3">
                  <c:v>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能耗下降 %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7"/>
                    </a:solidFill>
                    <a:latin typeface="Century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天津港</c:v>
                  </c:pt>
                  <c:pt idx="1">
                    <c:v>盐田港</c:v>
                  </c:pt>
                  <c:pt idx="2">
                    <c:v>甘其毛都</c:v>
                  </c:pt>
                  <c:pt idx="3">
                    <c:v>瑞钢联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25</c:v>
                </c:pt>
                <c:pt idx="1">
                  <c:v>20</c:v>
                </c:pt>
                <c:pt idx="2">
                  <c:v>18</c:v>
                </c:pt>
                <c:pt idx="3">
                  <c:v>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A37"/>
                  </a:solidFill>
                  <a:latin typeface="Century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206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8E0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F2A37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00B0F0"/>
            </a:solidFill>
            <a:ln w="38100" cap="flat">
              <a:solidFill>
                <a:srgbClr val="00B0F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B0F0"/>
              </a:solidFill>
              <a:ln w="9525" cap="flat">
                <a:solidFill>
                  <a:srgbClr val="00B0F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50</c:v>
                </c:pt>
                <c:pt idx="2">
                  <c:v>55</c:v>
                </c:pt>
                <c:pt idx="3">
                  <c:v>61</c:v>
                </c:pt>
                <c:pt idx="4">
                  <c:v>70</c:v>
                </c:pt>
                <c:pt idx="5">
                  <c:v>78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002060"/>
            </a:solidFill>
            <a:ln w="38100" cap="flat">
              <a:solidFill>
                <a:srgbClr val="00206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2060"/>
              </a:solidFill>
              <a:ln w="9525" cap="flat">
                <a:solidFill>
                  <a:srgbClr val="00206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60</c:v>
                </c:pt>
                <c:pt idx="1">
                  <c:v>68</c:v>
                </c:pt>
                <c:pt idx="2">
                  <c:v>75</c:v>
                </c:pt>
                <c:pt idx="3">
                  <c:v>88</c:v>
                </c:pt>
                <c:pt idx="4">
                  <c:v>96</c:v>
                </c:pt>
                <c:pt idx="5">
                  <c:v>105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206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8E0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F2A37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2060"/>
              </a:solidFill>
              <a:effectLst/>
            </c:spPr>
          </c:dPt>
          <c:dPt>
            <c:idx val="1"/>
            <c:bubble3D val="0"/>
            <c:spPr>
              <a:solidFill>
                <a:srgbClr val="00B0F0"/>
              </a:solidFill>
              <a:effectLst/>
            </c:spPr>
          </c:dPt>
          <c:dPt>
            <c:idx val="2"/>
            <c:bubble3D val="0"/>
            <c:spPr>
              <a:solidFill>
                <a:srgbClr val="0070C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entury Gothi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entury Gothi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entury Gothi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进口卸船</c:v>
                </c:pt>
                <c:pt idx="1">
                  <c:v>出口装船</c:v>
                </c:pt>
                <c:pt idx="2">
                  <c:v>堆场翻倒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45</c:v>
                </c:pt>
                <c:pt idx="1">
                  <c:v>35</c:v>
                </c:pt>
                <c:pt idx="2">
                  <c:v>20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10-1.png"/><Relationship Id="rId3" Type="http://schemas.openxmlformats.org/officeDocument/2006/relationships/image" Target="../media/image-10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11-1.png"/><Relationship Id="rId3" Type="http://schemas.openxmlformats.org/officeDocument/2006/relationships/image" Target="../media/image-1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甘特图 gantt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905" y="1054303"/>
            <a:ext cx="5143500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分阶段交付计划。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905" y="2000707"/>
            <a:ext cx="2286000" cy="355702"/>
          </a:xfrm>
          <a:prstGeom prst="rect">
            <a:avLst/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4205" y="2102206"/>
            <a:ext cx="2057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工作项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2895905" y="2000707"/>
            <a:ext cx="2171700" cy="3557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895905" y="2102206"/>
            <a:ext cx="21717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5067605" y="2000707"/>
            <a:ext cx="2171700" cy="355702"/>
          </a:xfrm>
          <a:prstGeom prst="rect">
            <a:avLst/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67605" y="2102206"/>
            <a:ext cx="21717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7239305" y="2000707"/>
            <a:ext cx="2171700" cy="3557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39305" y="2102206"/>
            <a:ext cx="21717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9411005" y="2000707"/>
            <a:ext cx="2171700" cy="355702"/>
          </a:xfrm>
          <a:prstGeom prst="rect">
            <a:avLst/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11005" y="2102206"/>
            <a:ext cx="21717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09905" y="2355494"/>
            <a:ext cx="2286000" cy="52029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4205" y="2355494"/>
            <a:ext cx="2095805" cy="5202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调研与方案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2895905" y="2355494"/>
            <a:ext cx="2171700" cy="520294"/>
          </a:xfrm>
          <a:prstGeom prst="rect">
            <a:avLst/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67605" y="2355494"/>
            <a:ext cx="2171700" cy="520294"/>
          </a:xfrm>
          <a:prstGeom prst="rect">
            <a:avLst/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239305" y="2355494"/>
            <a:ext cx="2171700" cy="520294"/>
          </a:xfrm>
          <a:prstGeom prst="rect">
            <a:avLst/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411005" y="2355494"/>
            <a:ext cx="2171700" cy="520294"/>
          </a:xfrm>
          <a:prstGeom prst="rect">
            <a:avLst/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946197" y="2527402"/>
            <a:ext cx="2070202" cy="177394"/>
          </a:xfrm>
          <a:prstGeom prst="roundRect">
            <a:avLst>
              <a:gd name="adj" fmla="val 28866"/>
            </a:avLst>
          </a:prstGeom>
          <a:solidFill>
            <a:srgbClr val="002060"/>
          </a:solidFill>
          <a:ln/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09905" y="2876702"/>
            <a:ext cx="2286000" cy="52029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24205" y="2876702"/>
            <a:ext cx="2095805" cy="5202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试点上线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2895905" y="2876702"/>
            <a:ext cx="2171700" cy="52029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067605" y="2876702"/>
            <a:ext cx="2171700" cy="52029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239305" y="2876702"/>
            <a:ext cx="2171700" cy="52029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411005" y="2876702"/>
            <a:ext cx="2171700" cy="52029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117897" y="3047695"/>
            <a:ext cx="2070202" cy="177394"/>
          </a:xfrm>
          <a:prstGeom prst="roundRect">
            <a:avLst>
              <a:gd name="adj" fmla="val 28866"/>
            </a:avLst>
          </a:prstGeom>
          <a:solidFill>
            <a:srgbClr val="002060"/>
          </a:solidFill>
          <a:ln/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156094" y="3054096"/>
            <a:ext cx="165506" cy="165506"/>
          </a:xfrm>
          <a:prstGeom prst="diamond">
            <a:avLst/>
          </a:prstGeom>
          <a:solidFill>
            <a:srgbClr val="C515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9905" y="3396996"/>
            <a:ext cx="2286000" cy="52029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24205" y="3396996"/>
            <a:ext cx="2095805" cy="5202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全场扩展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2895905" y="3396996"/>
            <a:ext cx="2171700" cy="520294"/>
          </a:xfrm>
          <a:prstGeom prst="rect">
            <a:avLst/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067605" y="3396996"/>
            <a:ext cx="2171700" cy="520294"/>
          </a:xfrm>
          <a:prstGeom prst="rect">
            <a:avLst/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239305" y="3396996"/>
            <a:ext cx="2171700" cy="520294"/>
          </a:xfrm>
          <a:prstGeom prst="rect">
            <a:avLst/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411005" y="3396996"/>
            <a:ext cx="2171700" cy="520294"/>
          </a:xfrm>
          <a:prstGeom prst="rect">
            <a:avLst/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117897" y="3568903"/>
            <a:ext cx="4241902" cy="177394"/>
          </a:xfrm>
          <a:prstGeom prst="roundRect">
            <a:avLst>
              <a:gd name="adj" fmla="val 28866"/>
            </a:avLst>
          </a:prstGeom>
          <a:solidFill>
            <a:srgbClr val="00B0F0"/>
          </a:solidFill>
          <a:ln/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09905" y="3918204"/>
            <a:ext cx="2286000" cy="52029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24205" y="3918204"/>
            <a:ext cx="2095805" cy="5202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无人自治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2895905" y="3918204"/>
            <a:ext cx="2171700" cy="52029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067605" y="3918204"/>
            <a:ext cx="2171700" cy="52029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239305" y="3918204"/>
            <a:ext cx="2171700" cy="52029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9411005" y="3918204"/>
            <a:ext cx="2171700" cy="52029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9461297" y="4089197"/>
            <a:ext cx="2070202" cy="177394"/>
          </a:xfrm>
          <a:prstGeom prst="roundRect">
            <a:avLst>
              <a:gd name="adj" fmla="val 28866"/>
            </a:avLst>
          </a:prstGeom>
          <a:solidFill>
            <a:srgbClr val="002060"/>
          </a:solidFill>
          <a:ln/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609905" y="4438498"/>
            <a:ext cx="2286000" cy="52029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24205" y="4438498"/>
            <a:ext cx="2095805" cy="5202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运营托管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2895905" y="4438498"/>
            <a:ext cx="2171700" cy="520294"/>
          </a:xfrm>
          <a:prstGeom prst="rect">
            <a:avLst/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067605" y="4438498"/>
            <a:ext cx="2171700" cy="520294"/>
          </a:xfrm>
          <a:prstGeom prst="rect">
            <a:avLst/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239305" y="4438498"/>
            <a:ext cx="2171700" cy="520294"/>
          </a:xfrm>
          <a:prstGeom prst="rect">
            <a:avLst/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9411005" y="4438498"/>
            <a:ext cx="2171700" cy="520294"/>
          </a:xfrm>
          <a:prstGeom prst="rect">
            <a:avLst/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289597" y="4610405"/>
            <a:ext cx="4241902" cy="177394"/>
          </a:xfrm>
          <a:prstGeom prst="roundRect">
            <a:avLst>
              <a:gd name="adj" fmla="val 28866"/>
            </a:avLst>
          </a:prstGeom>
          <a:solidFill>
            <a:srgbClr val="002060"/>
          </a:solidFill>
          <a:ln/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609905" y="5537606"/>
            <a:ext cx="10972800" cy="418795"/>
          </a:xfrm>
          <a:prstGeom prst="roundRect">
            <a:avLst>
              <a:gd name="adj" fmla="val 1222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12902" y="5651906"/>
            <a:ext cx="1056680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菱形=里程碑；焦点行=当期关键路径。</a:t>
            </a:r>
            <a:endParaRPr lang="en-US" sz="800" dirty="0"/>
          </a:p>
        </p:txBody>
      </p:sp>
      <p:pic>
        <p:nvPicPr>
          <p:cNvPr id="54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热力矩阵 heatmap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905" y="1054303"/>
            <a:ext cx="6858000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× 维度风险/优先级。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14600" y="2393899"/>
            <a:ext cx="2092147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606747" y="2393899"/>
            <a:ext cx="2092147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6698894" y="2393899"/>
            <a:ext cx="2092147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8791956" y="2393899"/>
            <a:ext cx="2092147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609905" y="2622499"/>
            <a:ext cx="1803197" cy="622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无人重卡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533802" y="2641702"/>
            <a:ext cx="2054657" cy="584302"/>
          </a:xfrm>
          <a:prstGeom prst="roundRect">
            <a:avLst>
              <a:gd name="adj" fmla="val 8764"/>
            </a:avLst>
          </a:prstGeom>
          <a:solidFill>
            <a:srgbClr val="30BEF2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14600" y="2857500"/>
            <a:ext cx="209214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80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4625950" y="2641702"/>
            <a:ext cx="2054657" cy="584302"/>
          </a:xfrm>
          <a:prstGeom prst="roundRect">
            <a:avLst>
              <a:gd name="adj" fmla="val 8764"/>
            </a:avLst>
          </a:prstGeom>
          <a:solidFill>
            <a:srgbClr val="61CCF4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06747" y="2857500"/>
            <a:ext cx="209214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60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6718097" y="2641702"/>
            <a:ext cx="2054657" cy="584302"/>
          </a:xfrm>
          <a:prstGeom prst="roundRect">
            <a:avLst>
              <a:gd name="adj" fmla="val 8764"/>
            </a:avLst>
          </a:prstGeom>
          <a:solidFill>
            <a:srgbClr val="49C5F3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98894" y="2857500"/>
            <a:ext cx="209214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70</a:t>
            </a:r>
            <a:endParaRPr lang="en-US" sz="650" dirty="0"/>
          </a:p>
        </p:txBody>
      </p:sp>
      <p:sp>
        <p:nvSpPr>
          <p:cNvPr id="17" name="Shape 14"/>
          <p:cNvSpPr/>
          <p:nvPr/>
        </p:nvSpPr>
        <p:spPr>
          <a:xfrm>
            <a:off x="8810244" y="2641702"/>
            <a:ext cx="2054657" cy="584302"/>
          </a:xfrm>
          <a:prstGeom prst="roundRect">
            <a:avLst>
              <a:gd name="adj" fmla="val 8764"/>
            </a:avLst>
          </a:prstGeom>
          <a:solidFill>
            <a:srgbClr val="18B7F1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791956" y="2857500"/>
            <a:ext cx="209214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90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609905" y="3245206"/>
            <a:ext cx="1803197" cy="622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岸桥自动化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2533802" y="3263494"/>
            <a:ext cx="2054657" cy="584302"/>
          </a:xfrm>
          <a:prstGeom prst="roundRect">
            <a:avLst>
              <a:gd name="adj" fmla="val 8764"/>
            </a:avLst>
          </a:prstGeom>
          <a:solidFill>
            <a:srgbClr val="61CCF4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514600" y="3480206"/>
            <a:ext cx="209214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60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4625950" y="3263494"/>
            <a:ext cx="2054657" cy="584302"/>
          </a:xfrm>
          <a:prstGeom prst="roundRect">
            <a:avLst>
              <a:gd name="adj" fmla="val 8764"/>
            </a:avLst>
          </a:prstGeom>
          <a:solidFill>
            <a:srgbClr val="30BEF2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06747" y="3480206"/>
            <a:ext cx="209214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80</a:t>
            </a:r>
            <a:endParaRPr lang="en-US" sz="650" dirty="0"/>
          </a:p>
        </p:txBody>
      </p:sp>
      <p:sp>
        <p:nvSpPr>
          <p:cNvPr id="24" name="Shape 21"/>
          <p:cNvSpPr/>
          <p:nvPr/>
        </p:nvSpPr>
        <p:spPr>
          <a:xfrm>
            <a:off x="6718097" y="3263494"/>
            <a:ext cx="2054657" cy="584302"/>
          </a:xfrm>
          <a:prstGeom prst="roundRect">
            <a:avLst>
              <a:gd name="adj" fmla="val 8764"/>
            </a:avLst>
          </a:prstGeom>
          <a:solidFill>
            <a:srgbClr val="79D3F6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98894" y="3480206"/>
            <a:ext cx="209214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50</a:t>
            </a:r>
            <a:endParaRPr lang="en-US" sz="650" dirty="0"/>
          </a:p>
        </p:txBody>
      </p:sp>
      <p:sp>
        <p:nvSpPr>
          <p:cNvPr id="26" name="Shape 23"/>
          <p:cNvSpPr/>
          <p:nvPr/>
        </p:nvSpPr>
        <p:spPr>
          <a:xfrm>
            <a:off x="8810244" y="3263494"/>
            <a:ext cx="2054657" cy="584302"/>
          </a:xfrm>
          <a:prstGeom prst="roundRect">
            <a:avLst>
              <a:gd name="adj" fmla="val 8764"/>
            </a:avLst>
          </a:prstGeom>
          <a:solidFill>
            <a:srgbClr val="49C5F3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791956" y="3480206"/>
            <a:ext cx="209214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70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609905" y="3866998"/>
            <a:ext cx="1803197" cy="622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堆场调度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2533802" y="3886200"/>
            <a:ext cx="2054657" cy="584302"/>
          </a:xfrm>
          <a:prstGeom prst="roundRect">
            <a:avLst>
              <a:gd name="adj" fmla="val 8764"/>
            </a:avLst>
          </a:prstGeom>
          <a:solidFill>
            <a:srgbClr val="91DAF7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514600" y="4101998"/>
            <a:ext cx="209214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40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4625950" y="3886200"/>
            <a:ext cx="2054657" cy="584302"/>
          </a:xfrm>
          <a:prstGeom prst="roundRect">
            <a:avLst>
              <a:gd name="adj" fmla="val 8764"/>
            </a:avLst>
          </a:prstGeom>
          <a:solidFill>
            <a:srgbClr val="A9E1F8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606747" y="4101998"/>
            <a:ext cx="209214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30</a:t>
            </a:r>
            <a:endParaRPr lang="en-US" sz="650" dirty="0"/>
          </a:p>
        </p:txBody>
      </p:sp>
      <p:sp>
        <p:nvSpPr>
          <p:cNvPr id="33" name="Shape 30"/>
          <p:cNvSpPr/>
          <p:nvPr/>
        </p:nvSpPr>
        <p:spPr>
          <a:xfrm>
            <a:off x="6718097" y="3886200"/>
            <a:ext cx="2054657" cy="584302"/>
          </a:xfrm>
          <a:prstGeom prst="roundRect">
            <a:avLst>
              <a:gd name="adj" fmla="val 8764"/>
            </a:avLst>
          </a:prstGeom>
          <a:solidFill>
            <a:srgbClr val="91DAF7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698894" y="4101998"/>
            <a:ext cx="209214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40</a:t>
            </a:r>
            <a:endParaRPr lang="en-US" sz="650" dirty="0"/>
          </a:p>
        </p:txBody>
      </p:sp>
      <p:sp>
        <p:nvSpPr>
          <p:cNvPr id="35" name="Shape 32"/>
          <p:cNvSpPr/>
          <p:nvPr/>
        </p:nvSpPr>
        <p:spPr>
          <a:xfrm>
            <a:off x="8810244" y="3886200"/>
            <a:ext cx="2054657" cy="584302"/>
          </a:xfrm>
          <a:prstGeom prst="roundRect">
            <a:avLst>
              <a:gd name="adj" fmla="val 8764"/>
            </a:avLst>
          </a:prstGeom>
          <a:solidFill>
            <a:srgbClr val="24BBF2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791956" y="4101998"/>
            <a:ext cx="209214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85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609905" y="4489704"/>
            <a:ext cx="1803197" cy="622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能源管理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2533802" y="4508906"/>
            <a:ext cx="2054657" cy="584302"/>
          </a:xfrm>
          <a:prstGeom prst="roundRect">
            <a:avLst>
              <a:gd name="adj" fmla="val 8764"/>
            </a:avLst>
          </a:prstGeom>
          <a:solidFill>
            <a:srgbClr val="A9E1F8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514600" y="4724705"/>
            <a:ext cx="209214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30</a:t>
            </a:r>
            <a:endParaRPr lang="en-US" sz="650" dirty="0"/>
          </a:p>
        </p:txBody>
      </p:sp>
      <p:sp>
        <p:nvSpPr>
          <p:cNvPr id="40" name="Shape 37"/>
          <p:cNvSpPr/>
          <p:nvPr/>
        </p:nvSpPr>
        <p:spPr>
          <a:xfrm>
            <a:off x="4625950" y="4508906"/>
            <a:ext cx="2054657" cy="584302"/>
          </a:xfrm>
          <a:prstGeom prst="roundRect">
            <a:avLst>
              <a:gd name="adj" fmla="val 8764"/>
            </a:avLst>
          </a:prstGeom>
          <a:solidFill>
            <a:srgbClr val="91DAF7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606747" y="4724705"/>
            <a:ext cx="209214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40</a:t>
            </a:r>
            <a:endParaRPr lang="en-US" sz="650" dirty="0"/>
          </a:p>
        </p:txBody>
      </p:sp>
      <p:sp>
        <p:nvSpPr>
          <p:cNvPr id="42" name="Shape 39"/>
          <p:cNvSpPr/>
          <p:nvPr/>
        </p:nvSpPr>
        <p:spPr>
          <a:xfrm>
            <a:off x="6718097" y="4508906"/>
            <a:ext cx="2054657" cy="584302"/>
          </a:xfrm>
          <a:prstGeom prst="roundRect">
            <a:avLst>
              <a:gd name="adj" fmla="val 8764"/>
            </a:avLst>
          </a:prstGeom>
          <a:solidFill>
            <a:srgbClr val="C2E8F9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698894" y="4724705"/>
            <a:ext cx="209214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</a:t>
            </a:r>
            <a:endParaRPr lang="en-US" sz="650" dirty="0"/>
          </a:p>
        </p:txBody>
      </p:sp>
      <p:sp>
        <p:nvSpPr>
          <p:cNvPr id="44" name="Shape 41"/>
          <p:cNvSpPr/>
          <p:nvPr/>
        </p:nvSpPr>
        <p:spPr>
          <a:xfrm>
            <a:off x="8810244" y="4508906"/>
            <a:ext cx="2054657" cy="584302"/>
          </a:xfrm>
          <a:prstGeom prst="roundRect">
            <a:avLst>
              <a:gd name="adj" fmla="val 8764"/>
            </a:avLst>
          </a:prstGeom>
          <a:solidFill>
            <a:srgbClr val="61CCF4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791956" y="4724705"/>
            <a:ext cx="209214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60</a:t>
            </a:r>
            <a:endParaRPr lang="en-US" sz="650" dirty="0"/>
          </a:p>
        </p:txBody>
      </p:sp>
      <p:sp>
        <p:nvSpPr>
          <p:cNvPr id="46" name="Shape 43"/>
          <p:cNvSpPr/>
          <p:nvPr/>
        </p:nvSpPr>
        <p:spPr>
          <a:xfrm>
            <a:off x="11061497" y="4903927"/>
            <a:ext cx="405994" cy="213970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47" name="Shape 44"/>
          <p:cNvSpPr/>
          <p:nvPr/>
        </p:nvSpPr>
        <p:spPr>
          <a:xfrm>
            <a:off x="11061497" y="4697273"/>
            <a:ext cx="405994" cy="213970"/>
          </a:xfrm>
          <a:prstGeom prst="rect">
            <a:avLst/>
          </a:prstGeom>
          <a:solidFill>
            <a:srgbClr val="DCF0FA"/>
          </a:solidFill>
          <a:ln/>
        </p:spPr>
      </p:sp>
      <p:sp>
        <p:nvSpPr>
          <p:cNvPr id="48" name="Shape 45"/>
          <p:cNvSpPr/>
          <p:nvPr/>
        </p:nvSpPr>
        <p:spPr>
          <a:xfrm>
            <a:off x="11061497" y="4489704"/>
            <a:ext cx="405994" cy="213970"/>
          </a:xfrm>
          <a:prstGeom prst="rect">
            <a:avLst/>
          </a:prstGeom>
          <a:solidFill>
            <a:srgbClr val="C6E9F9"/>
          </a:solidFill>
          <a:ln/>
        </p:spPr>
      </p:sp>
      <p:sp>
        <p:nvSpPr>
          <p:cNvPr id="49" name="Shape 46"/>
          <p:cNvSpPr/>
          <p:nvPr/>
        </p:nvSpPr>
        <p:spPr>
          <a:xfrm>
            <a:off x="11061497" y="4282135"/>
            <a:ext cx="405994" cy="213970"/>
          </a:xfrm>
          <a:prstGeom prst="rect">
            <a:avLst/>
          </a:prstGeom>
          <a:solidFill>
            <a:srgbClr val="B0E3F8"/>
          </a:solidFill>
          <a:ln/>
        </p:spPr>
      </p:sp>
      <p:sp>
        <p:nvSpPr>
          <p:cNvPr id="50" name="Shape 47"/>
          <p:cNvSpPr/>
          <p:nvPr/>
        </p:nvSpPr>
        <p:spPr>
          <a:xfrm>
            <a:off x="11061497" y="4074566"/>
            <a:ext cx="405994" cy="213970"/>
          </a:xfrm>
          <a:prstGeom prst="rect">
            <a:avLst/>
          </a:prstGeom>
          <a:solidFill>
            <a:srgbClr val="9ADDF7"/>
          </a:solidFill>
          <a:ln/>
        </p:spPr>
      </p:sp>
      <p:sp>
        <p:nvSpPr>
          <p:cNvPr id="51" name="Shape 48"/>
          <p:cNvSpPr/>
          <p:nvPr/>
        </p:nvSpPr>
        <p:spPr>
          <a:xfrm>
            <a:off x="11061497" y="3866998"/>
            <a:ext cx="405994" cy="213970"/>
          </a:xfrm>
          <a:prstGeom prst="rect">
            <a:avLst/>
          </a:prstGeom>
          <a:solidFill>
            <a:srgbClr val="84D6F6"/>
          </a:solidFill>
          <a:ln/>
        </p:spPr>
      </p:sp>
      <p:sp>
        <p:nvSpPr>
          <p:cNvPr id="52" name="Shape 49"/>
          <p:cNvSpPr/>
          <p:nvPr/>
        </p:nvSpPr>
        <p:spPr>
          <a:xfrm>
            <a:off x="11061497" y="3659429"/>
            <a:ext cx="405994" cy="213970"/>
          </a:xfrm>
          <a:prstGeom prst="rect">
            <a:avLst/>
          </a:prstGeom>
          <a:solidFill>
            <a:srgbClr val="6ED0F5"/>
          </a:solidFill>
          <a:ln/>
        </p:spPr>
      </p:sp>
      <p:sp>
        <p:nvSpPr>
          <p:cNvPr id="53" name="Shape 50"/>
          <p:cNvSpPr/>
          <p:nvPr/>
        </p:nvSpPr>
        <p:spPr>
          <a:xfrm>
            <a:off x="11061497" y="3451860"/>
            <a:ext cx="405994" cy="213970"/>
          </a:xfrm>
          <a:prstGeom prst="rect">
            <a:avLst/>
          </a:prstGeom>
          <a:solidFill>
            <a:srgbClr val="58C9F4"/>
          </a:solidFill>
          <a:ln/>
        </p:spPr>
      </p:sp>
      <p:sp>
        <p:nvSpPr>
          <p:cNvPr id="54" name="Shape 51"/>
          <p:cNvSpPr/>
          <p:nvPr/>
        </p:nvSpPr>
        <p:spPr>
          <a:xfrm>
            <a:off x="11061497" y="3245206"/>
            <a:ext cx="405994" cy="213970"/>
          </a:xfrm>
          <a:prstGeom prst="rect">
            <a:avLst/>
          </a:prstGeom>
          <a:solidFill>
            <a:srgbClr val="42C3F3"/>
          </a:solidFill>
          <a:ln/>
        </p:spPr>
      </p:sp>
      <p:sp>
        <p:nvSpPr>
          <p:cNvPr id="55" name="Shape 52"/>
          <p:cNvSpPr/>
          <p:nvPr/>
        </p:nvSpPr>
        <p:spPr>
          <a:xfrm>
            <a:off x="11061497" y="3037637"/>
            <a:ext cx="405994" cy="213970"/>
          </a:xfrm>
          <a:prstGeom prst="rect">
            <a:avLst/>
          </a:prstGeom>
          <a:solidFill>
            <a:srgbClr val="2CBDF2"/>
          </a:solidFill>
          <a:ln/>
        </p:spPr>
      </p:sp>
      <p:sp>
        <p:nvSpPr>
          <p:cNvPr id="56" name="Shape 53"/>
          <p:cNvSpPr/>
          <p:nvPr/>
        </p:nvSpPr>
        <p:spPr>
          <a:xfrm>
            <a:off x="11061497" y="2830068"/>
            <a:ext cx="405994" cy="213970"/>
          </a:xfrm>
          <a:prstGeom prst="rect">
            <a:avLst/>
          </a:prstGeom>
          <a:solidFill>
            <a:srgbClr val="16B6F1"/>
          </a:solidFill>
          <a:ln/>
        </p:spPr>
      </p:sp>
      <p:sp>
        <p:nvSpPr>
          <p:cNvPr id="57" name="Shape 54"/>
          <p:cNvSpPr/>
          <p:nvPr/>
        </p:nvSpPr>
        <p:spPr>
          <a:xfrm>
            <a:off x="11061497" y="2622499"/>
            <a:ext cx="405994" cy="213970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58" name="Text 55"/>
          <p:cNvSpPr/>
          <p:nvPr/>
        </p:nvSpPr>
        <p:spPr>
          <a:xfrm>
            <a:off x="10998403" y="2457907"/>
            <a:ext cx="53309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600" dirty="0"/>
          </a:p>
        </p:txBody>
      </p:sp>
      <p:sp>
        <p:nvSpPr>
          <p:cNvPr id="59" name="Text 56"/>
          <p:cNvSpPr/>
          <p:nvPr/>
        </p:nvSpPr>
        <p:spPr>
          <a:xfrm>
            <a:off x="10998403" y="5137099"/>
            <a:ext cx="53309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600" dirty="0"/>
          </a:p>
        </p:txBody>
      </p:sp>
      <p:pic>
        <p:nvPicPr>
          <p:cNvPr id="60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雷达图 radar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905" y="1054303"/>
            <a:ext cx="5143500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能力多维对比。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graphicFrame>
        <p:nvGraphicFramePr>
          <p:cNvPr id="6" name="Chart 0" descr=""/>
          <p:cNvGraphicFramePr/>
          <p:nvPr/>
        </p:nvGraphicFramePr>
        <p:xfrm>
          <a:off x="3340303" y="1505102"/>
          <a:ext cx="5518404" cy="441289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7" name="Image 1" descr="theme/assets/footer-westwe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价值链 valueChain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905" y="1054303"/>
            <a:ext cx="7492594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端到端价值环节。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905" y="2000707"/>
            <a:ext cx="2476195" cy="3429000"/>
          </a:xfrm>
          <a:prstGeom prst="roundRect">
            <a:avLst>
              <a:gd name="adj" fmla="val 206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9905" y="2000707"/>
            <a:ext cx="2476195" cy="394106"/>
          </a:xfrm>
          <a:prstGeom prst="roundRect">
            <a:avLst>
              <a:gd name="adj" fmla="val 12993"/>
            </a:avLst>
          </a:prstGeom>
          <a:solidFill>
            <a:srgbClr val="002060"/>
          </a:solidFill>
          <a:ln/>
        </p:spPr>
      </p:sp>
      <p:sp>
        <p:nvSpPr>
          <p:cNvPr id="8" name="Shape 5"/>
          <p:cNvSpPr/>
          <p:nvPr/>
        </p:nvSpPr>
        <p:spPr>
          <a:xfrm>
            <a:off x="609905" y="2253996"/>
            <a:ext cx="2476195" cy="139903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9" name="Text 6"/>
          <p:cNvSpPr/>
          <p:nvPr/>
        </p:nvSpPr>
        <p:spPr>
          <a:xfrm>
            <a:off x="698602" y="2102206"/>
            <a:ext cx="2298802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采购到厂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61695" y="2616098"/>
            <a:ext cx="57607" cy="57607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11" name="Text 8"/>
          <p:cNvSpPr/>
          <p:nvPr/>
        </p:nvSpPr>
        <p:spPr>
          <a:xfrm>
            <a:off x="888797" y="2572207"/>
            <a:ext cx="205740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原料计划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761695" y="2933395"/>
            <a:ext cx="57607" cy="57607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13" name="Text 10"/>
          <p:cNvSpPr/>
          <p:nvPr/>
        </p:nvSpPr>
        <p:spPr>
          <a:xfrm>
            <a:off x="888797" y="2889504"/>
            <a:ext cx="205740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到货管理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3124505" y="3549701"/>
            <a:ext cx="317297" cy="330098"/>
          </a:xfrm>
          <a:prstGeom prst="chevron">
            <a:avLst/>
          </a:prstGeom>
          <a:solidFill>
            <a:srgbClr val="9AA7B4"/>
          </a:solidFill>
          <a:ln/>
        </p:spPr>
      </p:sp>
      <p:sp>
        <p:nvSpPr>
          <p:cNvPr id="15" name="Shape 12"/>
          <p:cNvSpPr/>
          <p:nvPr/>
        </p:nvSpPr>
        <p:spPr>
          <a:xfrm>
            <a:off x="3441802" y="2000707"/>
            <a:ext cx="2476195" cy="3429000"/>
          </a:xfrm>
          <a:prstGeom prst="roundRect">
            <a:avLst>
              <a:gd name="adj" fmla="val 206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441802" y="2000707"/>
            <a:ext cx="2476195" cy="394106"/>
          </a:xfrm>
          <a:prstGeom prst="roundRect">
            <a:avLst>
              <a:gd name="adj" fmla="val 12993"/>
            </a:avLst>
          </a:prstGeom>
          <a:solidFill>
            <a:srgbClr val="002060"/>
          </a:solidFill>
          <a:ln/>
        </p:spPr>
      </p:sp>
      <p:sp>
        <p:nvSpPr>
          <p:cNvPr id="17" name="Shape 14"/>
          <p:cNvSpPr/>
          <p:nvPr/>
        </p:nvSpPr>
        <p:spPr>
          <a:xfrm>
            <a:off x="3441802" y="2253996"/>
            <a:ext cx="2476195" cy="139903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8" name="Text 15"/>
          <p:cNvSpPr/>
          <p:nvPr/>
        </p:nvSpPr>
        <p:spPr>
          <a:xfrm>
            <a:off x="3530498" y="2102206"/>
            <a:ext cx="2298802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生产作业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594506" y="2616098"/>
            <a:ext cx="57607" cy="57607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20" name="Text 17"/>
          <p:cNvSpPr/>
          <p:nvPr/>
        </p:nvSpPr>
        <p:spPr>
          <a:xfrm>
            <a:off x="3720694" y="2572207"/>
            <a:ext cx="205740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设备调度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3594506" y="2933395"/>
            <a:ext cx="57607" cy="57607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22" name="Text 19"/>
          <p:cNvSpPr/>
          <p:nvPr/>
        </p:nvSpPr>
        <p:spPr>
          <a:xfrm>
            <a:off x="3720694" y="2889504"/>
            <a:ext cx="205740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节拍管控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5956402" y="3549701"/>
            <a:ext cx="317297" cy="330098"/>
          </a:xfrm>
          <a:prstGeom prst="chevron">
            <a:avLst/>
          </a:prstGeom>
          <a:solidFill>
            <a:srgbClr val="00B0F0"/>
          </a:solidFill>
          <a:ln/>
        </p:spPr>
      </p:sp>
      <p:sp>
        <p:nvSpPr>
          <p:cNvPr id="24" name="Shape 21"/>
          <p:cNvSpPr/>
          <p:nvPr/>
        </p:nvSpPr>
        <p:spPr>
          <a:xfrm>
            <a:off x="6273698" y="2000707"/>
            <a:ext cx="2476195" cy="3429000"/>
          </a:xfrm>
          <a:prstGeom prst="roundRect">
            <a:avLst>
              <a:gd name="adj" fmla="val 2068"/>
            </a:avLst>
          </a:prstGeom>
          <a:solidFill>
            <a:srgbClr val="FFFFFF"/>
          </a:solidFill>
          <a:ln w="22860">
            <a:solidFill>
              <a:srgbClr val="00B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273698" y="2000707"/>
            <a:ext cx="2476195" cy="394106"/>
          </a:xfrm>
          <a:prstGeom prst="roundRect">
            <a:avLst>
              <a:gd name="adj" fmla="val 12993"/>
            </a:avLst>
          </a:prstGeom>
          <a:solidFill>
            <a:srgbClr val="00B0F0"/>
          </a:solidFill>
          <a:ln/>
        </p:spPr>
      </p:sp>
      <p:sp>
        <p:nvSpPr>
          <p:cNvPr id="26" name="Shape 23"/>
          <p:cNvSpPr/>
          <p:nvPr/>
        </p:nvSpPr>
        <p:spPr>
          <a:xfrm>
            <a:off x="6273698" y="2253996"/>
            <a:ext cx="2476195" cy="139903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27" name="Text 24"/>
          <p:cNvSpPr/>
          <p:nvPr/>
        </p:nvSpPr>
        <p:spPr>
          <a:xfrm>
            <a:off x="6362395" y="2102206"/>
            <a:ext cx="2298802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仓储倒运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426403" y="2616098"/>
            <a:ext cx="57607" cy="57607"/>
          </a:xfrm>
          <a:prstGeom prst="ellipse">
            <a:avLst/>
          </a:prstGeom>
          <a:solidFill>
            <a:srgbClr val="00B0F0"/>
          </a:solidFill>
          <a:ln/>
        </p:spPr>
      </p:sp>
      <p:sp>
        <p:nvSpPr>
          <p:cNvPr id="29" name="Text 26"/>
          <p:cNvSpPr/>
          <p:nvPr/>
        </p:nvSpPr>
        <p:spPr>
          <a:xfrm>
            <a:off x="6553505" y="2572207"/>
            <a:ext cx="205740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库位管理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6426403" y="2933395"/>
            <a:ext cx="57607" cy="57607"/>
          </a:xfrm>
          <a:prstGeom prst="ellipse">
            <a:avLst/>
          </a:prstGeom>
          <a:solidFill>
            <a:srgbClr val="00B0F0"/>
          </a:solidFill>
          <a:ln/>
        </p:spPr>
      </p:sp>
      <p:sp>
        <p:nvSpPr>
          <p:cNvPr id="31" name="Text 28"/>
          <p:cNvSpPr/>
          <p:nvPr/>
        </p:nvSpPr>
        <p:spPr>
          <a:xfrm>
            <a:off x="6553505" y="2889504"/>
            <a:ext cx="205740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无人运输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8788298" y="3549701"/>
            <a:ext cx="317297" cy="330098"/>
          </a:xfrm>
          <a:prstGeom prst="chevron">
            <a:avLst/>
          </a:prstGeom>
          <a:solidFill>
            <a:srgbClr val="00B0F0"/>
          </a:solidFill>
          <a:ln/>
        </p:spPr>
      </p:sp>
      <p:sp>
        <p:nvSpPr>
          <p:cNvPr id="33" name="Shape 30"/>
          <p:cNvSpPr/>
          <p:nvPr/>
        </p:nvSpPr>
        <p:spPr>
          <a:xfrm>
            <a:off x="9105595" y="2000707"/>
            <a:ext cx="2476195" cy="3429000"/>
          </a:xfrm>
          <a:prstGeom prst="roundRect">
            <a:avLst>
              <a:gd name="adj" fmla="val 206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9105595" y="2000707"/>
            <a:ext cx="2476195" cy="394106"/>
          </a:xfrm>
          <a:prstGeom prst="roundRect">
            <a:avLst>
              <a:gd name="adj" fmla="val 12993"/>
            </a:avLst>
          </a:prstGeom>
          <a:solidFill>
            <a:srgbClr val="002060"/>
          </a:solidFill>
          <a:ln/>
        </p:spPr>
      </p:sp>
      <p:sp>
        <p:nvSpPr>
          <p:cNvPr id="35" name="Shape 32"/>
          <p:cNvSpPr/>
          <p:nvPr/>
        </p:nvSpPr>
        <p:spPr>
          <a:xfrm>
            <a:off x="9105595" y="2253996"/>
            <a:ext cx="2476195" cy="139903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6" name="Text 33"/>
          <p:cNvSpPr/>
          <p:nvPr/>
        </p:nvSpPr>
        <p:spPr>
          <a:xfrm>
            <a:off x="9195206" y="2102206"/>
            <a:ext cx="2298802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成品发运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9258300" y="2616098"/>
            <a:ext cx="57607" cy="57607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38" name="Text 35"/>
          <p:cNvSpPr/>
          <p:nvPr/>
        </p:nvSpPr>
        <p:spPr>
          <a:xfrm>
            <a:off x="9385402" y="2572207"/>
            <a:ext cx="205740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装车计划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9258300" y="2933395"/>
            <a:ext cx="57607" cy="57607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40" name="Text 37"/>
          <p:cNvSpPr/>
          <p:nvPr/>
        </p:nvSpPr>
        <p:spPr>
          <a:xfrm>
            <a:off x="9385402" y="2889504"/>
            <a:ext cx="205740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跨境物流</a:t>
            </a:r>
            <a:endParaRPr lang="en-US" sz="750" dirty="0"/>
          </a:p>
        </p:txBody>
      </p:sp>
      <p:pic>
        <p:nvPicPr>
          <p:cNvPr id="41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瀑布 / 价值桥 waterfall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905" y="1054303"/>
            <a:ext cx="7492594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效率提升来源拆解。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902" y="2800807"/>
            <a:ext cx="952805" cy="2875788"/>
          </a:xfrm>
          <a:prstGeom prst="roundRect">
            <a:avLst>
              <a:gd name="adj" fmla="val 5374"/>
            </a:avLst>
          </a:prstGeom>
          <a:solidFill>
            <a:srgbClr val="002060"/>
          </a:solidFill>
          <a:ln/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09905" y="2610612"/>
            <a:ext cx="18288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609905" y="5753405"/>
            <a:ext cx="182880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7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2000707" y="2800807"/>
            <a:ext cx="875995" cy="0"/>
          </a:xfrm>
          <a:prstGeom prst="line">
            <a:avLst/>
          </a:prstGeom>
          <a:noFill/>
          <a:ln w="15240">
            <a:solidFill>
              <a:srgbClr val="9AA7B4"/>
            </a:solidFill>
            <a:prstDash val="sysDash"/>
          </a:ln>
        </p:spPr>
      </p:sp>
      <p:sp>
        <p:nvSpPr>
          <p:cNvPr id="10" name="Shape 7"/>
          <p:cNvSpPr/>
          <p:nvPr/>
        </p:nvSpPr>
        <p:spPr>
          <a:xfrm>
            <a:off x="2876702" y="2398471"/>
            <a:ext cx="952805" cy="402336"/>
          </a:xfrm>
          <a:prstGeom prst="roundRect">
            <a:avLst>
              <a:gd name="adj" fmla="val 12727"/>
            </a:avLst>
          </a:prstGeom>
          <a:solidFill>
            <a:srgbClr val="2F8A5B"/>
          </a:solidFill>
          <a:ln/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438705" y="2208276"/>
            <a:ext cx="18288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2F8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+14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2438705" y="5753405"/>
            <a:ext cx="182880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7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统一调度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3829507" y="2398471"/>
            <a:ext cx="875995" cy="0"/>
          </a:xfrm>
          <a:prstGeom prst="line">
            <a:avLst/>
          </a:prstGeom>
          <a:noFill/>
          <a:ln w="15240">
            <a:solidFill>
              <a:srgbClr val="9AA7B4"/>
            </a:solidFill>
            <a:prstDash val="sysDash"/>
          </a:ln>
        </p:spPr>
      </p:sp>
      <p:sp>
        <p:nvSpPr>
          <p:cNvPr id="14" name="Shape 11"/>
          <p:cNvSpPr/>
          <p:nvPr/>
        </p:nvSpPr>
        <p:spPr>
          <a:xfrm>
            <a:off x="4705502" y="2139696"/>
            <a:ext cx="952805" cy="258775"/>
          </a:xfrm>
          <a:prstGeom prst="roundRect">
            <a:avLst>
              <a:gd name="adj" fmla="val 19788"/>
            </a:avLst>
          </a:prstGeom>
          <a:solidFill>
            <a:srgbClr val="2F8A5B"/>
          </a:solidFill>
          <a:ln/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267505" y="1949501"/>
            <a:ext cx="18288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2F8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+9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4267505" y="5753405"/>
            <a:ext cx="182880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7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仿真预演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5658307" y="2139696"/>
            <a:ext cx="875995" cy="0"/>
          </a:xfrm>
          <a:prstGeom prst="line">
            <a:avLst/>
          </a:prstGeom>
          <a:noFill/>
          <a:ln w="15240">
            <a:solidFill>
              <a:srgbClr val="9AA7B4"/>
            </a:solidFill>
            <a:prstDash val="sysDash"/>
          </a:ln>
        </p:spPr>
      </p:sp>
      <p:sp>
        <p:nvSpPr>
          <p:cNvPr id="18" name="Shape 15"/>
          <p:cNvSpPr/>
          <p:nvPr/>
        </p:nvSpPr>
        <p:spPr>
          <a:xfrm>
            <a:off x="6534302" y="2139696"/>
            <a:ext cx="952805" cy="172822"/>
          </a:xfrm>
          <a:prstGeom prst="roundRect">
            <a:avLst>
              <a:gd name="adj" fmla="val 29630"/>
            </a:avLst>
          </a:prstGeom>
          <a:solidFill>
            <a:srgbClr val="C51516"/>
          </a:solidFill>
          <a:ln/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096305" y="1949501"/>
            <a:ext cx="18288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C5151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-6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6096305" y="5753405"/>
            <a:ext cx="182880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7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等待损耗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7487107" y="2312518"/>
            <a:ext cx="875995" cy="0"/>
          </a:xfrm>
          <a:prstGeom prst="line">
            <a:avLst/>
          </a:prstGeom>
          <a:noFill/>
          <a:ln w="15240">
            <a:solidFill>
              <a:srgbClr val="9AA7B4"/>
            </a:solidFill>
            <a:prstDash val="sysDash"/>
          </a:ln>
        </p:spPr>
      </p:sp>
      <p:sp>
        <p:nvSpPr>
          <p:cNvPr id="22" name="Shape 19"/>
          <p:cNvSpPr/>
          <p:nvPr/>
        </p:nvSpPr>
        <p:spPr>
          <a:xfrm>
            <a:off x="8363102" y="2168957"/>
            <a:ext cx="952805" cy="143561"/>
          </a:xfrm>
          <a:prstGeom prst="roundRect">
            <a:avLst>
              <a:gd name="adj" fmla="val 35669"/>
            </a:avLst>
          </a:prstGeom>
          <a:solidFill>
            <a:srgbClr val="2F8A5B"/>
          </a:solidFill>
          <a:ln/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925105" y="1977847"/>
            <a:ext cx="18288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2F8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+5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7925105" y="5753405"/>
            <a:ext cx="182880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7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能源优化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9315907" y="2168957"/>
            <a:ext cx="875995" cy="0"/>
          </a:xfrm>
          <a:prstGeom prst="line">
            <a:avLst/>
          </a:prstGeom>
          <a:noFill/>
          <a:ln w="15240">
            <a:solidFill>
              <a:srgbClr val="9AA7B4"/>
            </a:solidFill>
            <a:prstDash val="sysDash"/>
          </a:ln>
        </p:spPr>
      </p:sp>
      <p:sp>
        <p:nvSpPr>
          <p:cNvPr id="26" name="Shape 23"/>
          <p:cNvSpPr/>
          <p:nvPr/>
        </p:nvSpPr>
        <p:spPr>
          <a:xfrm>
            <a:off x="10191902" y="2168957"/>
            <a:ext cx="952805" cy="3508553"/>
          </a:xfrm>
          <a:prstGeom prst="roundRect">
            <a:avLst>
              <a:gd name="adj" fmla="val 5374"/>
            </a:avLst>
          </a:prstGeom>
          <a:solidFill>
            <a:srgbClr val="00B0F0"/>
          </a:solidFill>
          <a:ln/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9753905" y="1977847"/>
            <a:ext cx="18288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0B0F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122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9753905" y="5753405"/>
            <a:ext cx="182880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7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700" dirty="0"/>
          </a:p>
        </p:txBody>
      </p:sp>
      <p:pic>
        <p:nvPicPr>
          <p:cNvPr id="29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角色泳道流程 swimlaneProcess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905" y="1054303"/>
            <a:ext cx="7492594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跨角色协同。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06194" y="2158898"/>
            <a:ext cx="2393899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9AA7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4401007" y="2158898"/>
            <a:ext cx="2393899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9AA7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6794906" y="2158898"/>
            <a:ext cx="2393899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9AA7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88806" y="2158898"/>
            <a:ext cx="2393899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9AA7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609905" y="2438705"/>
            <a:ext cx="1308506" cy="825703"/>
          </a:xfrm>
          <a:prstGeom prst="roundRect">
            <a:avLst>
              <a:gd name="adj" fmla="val 6202"/>
            </a:avLst>
          </a:prstGeom>
          <a:solidFill>
            <a:srgbClr val="E5F5FD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2998" y="2438705"/>
            <a:ext cx="1181405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调度中心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083003" y="2488997"/>
            <a:ext cx="2241194" cy="724205"/>
          </a:xfrm>
          <a:prstGeom prst="roundRect">
            <a:avLst>
              <a:gd name="adj" fmla="val 707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083003" y="2488997"/>
            <a:ext cx="38405" cy="72420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4" name="Text 11"/>
          <p:cNvSpPr/>
          <p:nvPr/>
        </p:nvSpPr>
        <p:spPr>
          <a:xfrm>
            <a:off x="2197303" y="2488997"/>
            <a:ext cx="2115007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生成计划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4324198" y="2889504"/>
            <a:ext cx="152705" cy="0"/>
          </a:xfrm>
          <a:prstGeom prst="line">
            <a:avLst/>
          </a:prstGeom>
          <a:noFill/>
          <a:ln w="20320">
            <a:solidFill>
              <a:srgbClr val="9AA7B4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4476902" y="2488997"/>
            <a:ext cx="2241194" cy="724205"/>
          </a:xfrm>
          <a:prstGeom prst="roundRect">
            <a:avLst>
              <a:gd name="adj" fmla="val 7071"/>
            </a:avLst>
          </a:prstGeom>
          <a:solidFill>
            <a:srgbClr val="FFFFFF"/>
          </a:solidFill>
          <a:ln w="20320">
            <a:solidFill>
              <a:srgbClr val="00B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476902" y="2488997"/>
            <a:ext cx="38405" cy="724205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18" name="Text 15"/>
          <p:cNvSpPr/>
          <p:nvPr/>
        </p:nvSpPr>
        <p:spPr>
          <a:xfrm>
            <a:off x="4591202" y="2488997"/>
            <a:ext cx="2115007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下发指令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6718097" y="2889504"/>
            <a:ext cx="152705" cy="0"/>
          </a:xfrm>
          <a:prstGeom prst="line">
            <a:avLst/>
          </a:prstGeom>
          <a:noFill/>
          <a:ln w="20320">
            <a:solidFill>
              <a:srgbClr val="9AA7B4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870802" y="2488997"/>
            <a:ext cx="2241194" cy="724205"/>
          </a:xfrm>
          <a:prstGeom prst="roundRect">
            <a:avLst>
              <a:gd name="adj" fmla="val 707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70802" y="2488997"/>
            <a:ext cx="38405" cy="72420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2" name="Text 19"/>
          <p:cNvSpPr/>
          <p:nvPr/>
        </p:nvSpPr>
        <p:spPr>
          <a:xfrm>
            <a:off x="6985102" y="2488997"/>
            <a:ext cx="2115007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实时监控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9111996" y="2889504"/>
            <a:ext cx="152705" cy="0"/>
          </a:xfrm>
          <a:prstGeom prst="line">
            <a:avLst/>
          </a:prstGeom>
          <a:noFill/>
          <a:ln w="20320">
            <a:solidFill>
              <a:srgbClr val="9AA7B4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9264701" y="2488997"/>
            <a:ext cx="2241194" cy="724205"/>
          </a:xfrm>
          <a:prstGeom prst="roundRect">
            <a:avLst>
              <a:gd name="adj" fmla="val 707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264701" y="2488997"/>
            <a:ext cx="38405" cy="72420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6" name="Text 23"/>
          <p:cNvSpPr/>
          <p:nvPr/>
        </p:nvSpPr>
        <p:spPr>
          <a:xfrm>
            <a:off x="9379001" y="2488997"/>
            <a:ext cx="2115007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复盘优化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609905" y="3416198"/>
            <a:ext cx="1308506" cy="825703"/>
          </a:xfrm>
          <a:prstGeom prst="roundRect">
            <a:avLst>
              <a:gd name="adj" fmla="val 6202"/>
            </a:avLst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72998" y="3416198"/>
            <a:ext cx="1181405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现场设备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4476902" y="3467405"/>
            <a:ext cx="2241194" cy="724205"/>
          </a:xfrm>
          <a:prstGeom prst="roundRect">
            <a:avLst>
              <a:gd name="adj" fmla="val 707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476902" y="3467405"/>
            <a:ext cx="38405" cy="72420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1" name="Text 28"/>
          <p:cNvSpPr/>
          <p:nvPr/>
        </p:nvSpPr>
        <p:spPr>
          <a:xfrm>
            <a:off x="4591202" y="3467405"/>
            <a:ext cx="2115007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执行作业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6718097" y="3866998"/>
            <a:ext cx="152705" cy="0"/>
          </a:xfrm>
          <a:prstGeom prst="line">
            <a:avLst/>
          </a:prstGeom>
          <a:noFill/>
          <a:ln w="20320">
            <a:solidFill>
              <a:srgbClr val="9AA7B4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6870802" y="3467405"/>
            <a:ext cx="2241194" cy="724205"/>
          </a:xfrm>
          <a:prstGeom prst="roundRect">
            <a:avLst>
              <a:gd name="adj" fmla="val 707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870802" y="3467405"/>
            <a:ext cx="38405" cy="72420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5" name="Text 32"/>
          <p:cNvSpPr/>
          <p:nvPr/>
        </p:nvSpPr>
        <p:spPr>
          <a:xfrm>
            <a:off x="6985102" y="3467405"/>
            <a:ext cx="2115007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状态上报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609905" y="4394606"/>
            <a:ext cx="1308506" cy="825703"/>
          </a:xfrm>
          <a:prstGeom prst="roundRect">
            <a:avLst>
              <a:gd name="adj" fmla="val 6202"/>
            </a:avLst>
          </a:prstGeom>
          <a:solidFill>
            <a:srgbClr val="E5F5FD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72998" y="4394606"/>
            <a:ext cx="1181405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运营管理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2083003" y="4444898"/>
            <a:ext cx="2241194" cy="724205"/>
          </a:xfrm>
          <a:prstGeom prst="roundRect">
            <a:avLst>
              <a:gd name="adj" fmla="val 707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2083003" y="4444898"/>
            <a:ext cx="38405" cy="72420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40" name="Text 37"/>
          <p:cNvSpPr/>
          <p:nvPr/>
        </p:nvSpPr>
        <p:spPr>
          <a:xfrm>
            <a:off x="2197303" y="4444898"/>
            <a:ext cx="2115007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目标设定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6870802" y="4444898"/>
            <a:ext cx="2241194" cy="724205"/>
          </a:xfrm>
          <a:prstGeom prst="roundRect">
            <a:avLst>
              <a:gd name="adj" fmla="val 707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870802" y="4444898"/>
            <a:ext cx="38405" cy="72420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43" name="Text 40"/>
          <p:cNvSpPr/>
          <p:nvPr/>
        </p:nvSpPr>
        <p:spPr>
          <a:xfrm>
            <a:off x="6985102" y="4444898"/>
            <a:ext cx="2115007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异常处理</a:t>
            </a:r>
            <a:endParaRPr lang="en-US" sz="700" dirty="0"/>
          </a:p>
        </p:txBody>
      </p:sp>
      <p:sp>
        <p:nvSpPr>
          <p:cNvPr id="44" name="Shape 41"/>
          <p:cNvSpPr/>
          <p:nvPr/>
        </p:nvSpPr>
        <p:spPr>
          <a:xfrm>
            <a:off x="9111996" y="4845406"/>
            <a:ext cx="152705" cy="0"/>
          </a:xfrm>
          <a:prstGeom prst="line">
            <a:avLst/>
          </a:prstGeom>
          <a:noFill/>
          <a:ln w="20320">
            <a:solidFill>
              <a:srgbClr val="9AA7B4"/>
            </a:solidFill>
            <a:prstDash val="solid"/>
            <a:tailEnd type="triangle"/>
          </a:ln>
        </p:spPr>
      </p:sp>
      <p:sp>
        <p:nvSpPr>
          <p:cNvPr id="45" name="Shape 42"/>
          <p:cNvSpPr/>
          <p:nvPr/>
        </p:nvSpPr>
        <p:spPr>
          <a:xfrm>
            <a:off x="9264701" y="4444898"/>
            <a:ext cx="2241194" cy="724205"/>
          </a:xfrm>
          <a:prstGeom prst="roundRect">
            <a:avLst>
              <a:gd name="adj" fmla="val 707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9264701" y="4444898"/>
            <a:ext cx="38405" cy="72420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47" name="Text 44"/>
          <p:cNvSpPr/>
          <p:nvPr/>
        </p:nvSpPr>
        <p:spPr>
          <a:xfrm>
            <a:off x="9379001" y="4444898"/>
            <a:ext cx="2115007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报表分析</a:t>
            </a:r>
            <a:endParaRPr lang="en-US" sz="700" dirty="0"/>
          </a:p>
        </p:txBody>
      </p:sp>
      <p:pic>
        <p:nvPicPr>
          <p:cNvPr id="48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韦恩图 venn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905" y="1054303"/>
            <a:ext cx="4572000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交集即差异化。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031797" y="2298802"/>
            <a:ext cx="2794406" cy="2794406"/>
          </a:xfrm>
          <a:prstGeom prst="ellipse">
            <a:avLst/>
          </a:prstGeom>
          <a:solidFill>
            <a:srgbClr val="002060">
              <a:alpha val="60000"/>
            </a:srgbClr>
          </a:solidFill>
          <a:ln w="31750">
            <a:solidFill>
              <a:srgbClr val="00206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27602" y="2298802"/>
            <a:ext cx="2794406" cy="2794406"/>
          </a:xfrm>
          <a:prstGeom prst="ellipse">
            <a:avLst/>
          </a:prstGeom>
          <a:solidFill>
            <a:srgbClr val="0070C0">
              <a:alpha val="60000"/>
            </a:srgbClr>
          </a:solidFill>
          <a:ln w="31750">
            <a:solidFill>
              <a:srgbClr val="0070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31797" y="1994306"/>
            <a:ext cx="2794406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调度能力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27602" y="1994306"/>
            <a:ext cx="2794406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7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仿真能力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19295" y="2361895"/>
            <a:ext cx="114300" cy="114300"/>
          </a:xfrm>
          <a:prstGeom prst="ellipse">
            <a:avLst/>
          </a:prstGeom>
          <a:solidFill>
            <a:srgbClr val="00B0F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95598" y="2260397"/>
            <a:ext cx="76169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交集 ∩</a:t>
            </a:r>
            <a:endParaRPr lang="en-US" sz="600" dirty="0"/>
          </a:p>
        </p:txBody>
      </p:sp>
      <p:sp>
        <p:nvSpPr>
          <p:cNvPr id="12" name="Shape 9"/>
          <p:cNvSpPr/>
          <p:nvPr/>
        </p:nvSpPr>
        <p:spPr>
          <a:xfrm>
            <a:off x="7276795" y="2743200"/>
            <a:ext cx="4304995" cy="1904695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7780">
            <a:solidFill>
              <a:srgbClr val="00B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276795" y="2743200"/>
            <a:ext cx="4304995" cy="38405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14" name="Text 11"/>
          <p:cNvSpPr/>
          <p:nvPr/>
        </p:nvSpPr>
        <p:spPr>
          <a:xfrm>
            <a:off x="7442302" y="2883103"/>
            <a:ext cx="3974897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仿真驱动的智能调度</a:t>
            </a:r>
            <a:endParaRPr lang="en-US" sz="1000" dirty="0"/>
          </a:p>
        </p:txBody>
      </p:sp>
      <p:pic>
        <p:nvPicPr>
          <p:cNvPr id="15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标注图 annotatedDiagram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905" y="1054303"/>
            <a:ext cx="7492594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产品界面/系统示意 + 标注。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905" y="1505102"/>
            <a:ext cx="6985102" cy="4438498"/>
          </a:xfrm>
          <a:prstGeom prst="roundRect">
            <a:avLst>
              <a:gd name="adj" fmla="val 1154"/>
            </a:avLst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911803" y="3431743"/>
            <a:ext cx="381305" cy="38130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206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962095" y="3482950"/>
            <a:ext cx="279806" cy="279806"/>
          </a:xfrm>
          <a:prstGeom prst="ellipse">
            <a:avLst/>
          </a:prstGeom>
          <a:ln w="17780">
            <a:solidFill>
              <a:srgbClr val="00206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V="1">
            <a:off x="4101998" y="3546043"/>
            <a:ext cx="75895" cy="75895"/>
          </a:xfrm>
          <a:prstGeom prst="line">
            <a:avLst/>
          </a:prstGeom>
          <a:noFill/>
          <a:ln w="17780">
            <a:solidFill>
              <a:srgbClr val="002060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076395" y="3597250"/>
            <a:ext cx="51206" cy="51206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11" name="Text 8"/>
          <p:cNvSpPr/>
          <p:nvPr/>
        </p:nvSpPr>
        <p:spPr>
          <a:xfrm>
            <a:off x="609905" y="3901745"/>
            <a:ext cx="6985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9AA7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调度驾驶舱界面占位</a:t>
            </a:r>
            <a:endParaRPr lang="en-US" sz="650" dirty="0"/>
          </a:p>
        </p:txBody>
      </p:sp>
      <p:sp>
        <p:nvSpPr>
          <p:cNvPr id="12" name="Shape 9"/>
          <p:cNvSpPr/>
          <p:nvPr/>
        </p:nvSpPr>
        <p:spPr>
          <a:xfrm>
            <a:off x="2247595" y="2728570"/>
            <a:ext cx="215798" cy="215798"/>
          </a:xfrm>
          <a:prstGeom prst="ellipse">
            <a:avLst/>
          </a:prstGeom>
          <a:solidFill>
            <a:srgbClr val="00B0F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1A203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247595" y="2734970"/>
            <a:ext cx="215798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391302" y="2950769"/>
            <a:ext cx="215798" cy="215798"/>
          </a:xfrm>
          <a:prstGeom prst="ellipse">
            <a:avLst/>
          </a:prstGeom>
          <a:solidFill>
            <a:srgbClr val="00B0F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1A203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391302" y="2957170"/>
            <a:ext cx="215798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994099" y="4504334"/>
            <a:ext cx="215798" cy="215798"/>
          </a:xfrm>
          <a:prstGeom prst="ellipse">
            <a:avLst/>
          </a:prstGeom>
          <a:solidFill>
            <a:srgbClr val="00B0F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1A203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994099" y="4510735"/>
            <a:ext cx="215798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785202" y="1505102"/>
            <a:ext cx="3797503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标注说明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785202" y="1835201"/>
            <a:ext cx="190195" cy="190195"/>
          </a:xfrm>
          <a:prstGeom prst="ellipse">
            <a:avLst/>
          </a:prstGeom>
          <a:solidFill>
            <a:srgbClr val="00B0F0"/>
          </a:solidFill>
          <a:ln/>
        </p:spPr>
      </p:sp>
      <p:sp>
        <p:nvSpPr>
          <p:cNvPr id="20" name="Text 17"/>
          <p:cNvSpPr/>
          <p:nvPr/>
        </p:nvSpPr>
        <p:spPr>
          <a:xfrm>
            <a:off x="7785202" y="1822399"/>
            <a:ext cx="1901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8064094" y="1828800"/>
            <a:ext cx="3492094" cy="558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全场态势总览：设备/车辆实时位置。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785202" y="2457907"/>
            <a:ext cx="190195" cy="190195"/>
          </a:xfrm>
          <a:prstGeom prst="ellipse">
            <a:avLst/>
          </a:prstGeom>
          <a:solidFill>
            <a:srgbClr val="00B0F0"/>
          </a:solidFill>
          <a:ln/>
        </p:spPr>
      </p:sp>
      <p:sp>
        <p:nvSpPr>
          <p:cNvPr id="23" name="Text 20"/>
          <p:cNvSpPr/>
          <p:nvPr/>
        </p:nvSpPr>
        <p:spPr>
          <a:xfrm>
            <a:off x="7785202" y="2445106"/>
            <a:ext cx="1901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8064094" y="2451506"/>
            <a:ext cx="3492094" cy="558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任务队列：进行中与待分配任务。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7785202" y="3079699"/>
            <a:ext cx="190195" cy="190195"/>
          </a:xfrm>
          <a:prstGeom prst="ellipse">
            <a:avLst/>
          </a:prstGeom>
          <a:solidFill>
            <a:srgbClr val="00B0F0"/>
          </a:solidFill>
          <a:ln/>
        </p:spPr>
      </p:sp>
      <p:sp>
        <p:nvSpPr>
          <p:cNvPr id="26" name="Text 23"/>
          <p:cNvSpPr/>
          <p:nvPr/>
        </p:nvSpPr>
        <p:spPr>
          <a:xfrm>
            <a:off x="7785202" y="3066898"/>
            <a:ext cx="1901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8064094" y="3073298"/>
            <a:ext cx="3492094" cy="558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 看板：节拍、能耗、完成率。</a:t>
            </a:r>
            <a:endParaRPr lang="en-US" sz="750" dirty="0"/>
          </a:p>
        </p:txBody>
      </p:sp>
      <p:pic>
        <p:nvPicPr>
          <p:cNvPr id="28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柱状图 barChart（原生）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905" y="1054303"/>
            <a:ext cx="7492594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各站点效率提升对比。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graphicFrame>
        <p:nvGraphicFramePr>
          <p:cNvPr id="6" name="Chart 0" descr=""/>
          <p:cNvGraphicFramePr/>
          <p:nvPr/>
        </p:nvGraphicFramePr>
        <p:xfrm>
          <a:off x="761695" y="1505102"/>
          <a:ext cx="10668305" cy="441289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7" name="Image 1" descr="theme/assets/footer-westwe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折线图 lineChart（原生）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905" y="1054303"/>
            <a:ext cx="7492594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月度作业量趋势。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graphicFrame>
        <p:nvGraphicFramePr>
          <p:cNvPr id="6" name="Chart 0" descr=""/>
          <p:cNvGraphicFramePr/>
          <p:nvPr/>
        </p:nvGraphicFramePr>
        <p:xfrm>
          <a:off x="761695" y="1505102"/>
          <a:ext cx="10668305" cy="441289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7" name="Image 1" descr="theme/assets/footer-westwe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占比环图 pieBreakdown（原生）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905" y="1054303"/>
            <a:ext cx="7492594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任务类型构成。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graphicFrame>
        <p:nvGraphicFramePr>
          <p:cNvPr id="6" name="Chart 0" descr=""/>
          <p:cNvGraphicFramePr/>
          <p:nvPr/>
        </p:nvGraphicFramePr>
        <p:xfrm>
          <a:off x="952805" y="1517904"/>
          <a:ext cx="5206594" cy="440100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6730898" y="1568196"/>
            <a:ext cx="4851806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构成占比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730898" y="1891894"/>
            <a:ext cx="114300" cy="11430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9" name="Text 5"/>
          <p:cNvSpPr/>
          <p:nvPr/>
        </p:nvSpPr>
        <p:spPr>
          <a:xfrm>
            <a:off x="6933895" y="1860804"/>
            <a:ext cx="3899002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进口卸船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10757002" y="1860804"/>
            <a:ext cx="825703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B0F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45%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6730898" y="2413102"/>
            <a:ext cx="114300" cy="114300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12" name="Text 8"/>
          <p:cNvSpPr/>
          <p:nvPr/>
        </p:nvSpPr>
        <p:spPr>
          <a:xfrm>
            <a:off x="6933895" y="2381098"/>
            <a:ext cx="3899002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出口装船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0757002" y="2381098"/>
            <a:ext cx="825703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B0F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35%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6730898" y="2933395"/>
            <a:ext cx="114300" cy="11430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5" name="Text 11"/>
          <p:cNvSpPr/>
          <p:nvPr/>
        </p:nvSpPr>
        <p:spPr>
          <a:xfrm>
            <a:off x="6933895" y="2902306"/>
            <a:ext cx="3899002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堆场翻倒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10757002" y="2902306"/>
            <a:ext cx="825703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B0F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20%</a:t>
            </a:r>
            <a:endParaRPr lang="en-US" sz="850" dirty="0"/>
          </a:p>
        </p:txBody>
      </p:sp>
      <p:pic>
        <p:nvPicPr>
          <p:cNvPr id="17" name="Image 1" descr="theme/assets/footer-westwe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2026-06-24T06:16:46Z</dcterms:created>
  <dcterms:modified xsi:type="dcterms:W3CDTF">2026-06-24T06:16:46Z</dcterms:modified>
</cp:coreProperties>
</file>