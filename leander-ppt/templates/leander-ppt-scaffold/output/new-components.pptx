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能力对比 · 为什么选 ReeWell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同类方案横向对比，焦点列高亮。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708099"/>
            <a:ext cx="2413102" cy="431597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4205" y="1848002"/>
            <a:ext cx="2184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能力维度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023006" y="1708099"/>
            <a:ext cx="2852928" cy="431597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9" name="Text 6"/>
          <p:cNvSpPr/>
          <p:nvPr/>
        </p:nvSpPr>
        <p:spPr>
          <a:xfrm>
            <a:off x="3073298" y="1828800"/>
            <a:ext cx="275143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75934" y="1708099"/>
            <a:ext cx="2852928" cy="431597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5926226" y="1828800"/>
            <a:ext cx="275143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单点自动化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728862" y="1708099"/>
            <a:ext cx="2852928" cy="4315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3" name="Text 10"/>
          <p:cNvSpPr/>
          <p:nvPr/>
        </p:nvSpPr>
        <p:spPr>
          <a:xfrm>
            <a:off x="8780069" y="1828800"/>
            <a:ext cx="275143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ReeWell 平台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9905" y="2139696"/>
            <a:ext cx="2413102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5" y="2355494"/>
            <a:ext cx="21845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多品牌车队统一接入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23006" y="2139696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23006" y="2349094"/>
            <a:ext cx="28529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75934" y="2139696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05802" y="2400300"/>
            <a:ext cx="101498" cy="10149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0" name="Shape 17"/>
          <p:cNvSpPr/>
          <p:nvPr/>
        </p:nvSpPr>
        <p:spPr>
          <a:xfrm>
            <a:off x="7252106" y="2400300"/>
            <a:ext cx="101498" cy="101498"/>
          </a:xfrm>
          <a:prstGeom prst="ellipse">
            <a:avLst/>
          </a:prstGeom>
          <a:solidFill>
            <a:srgbClr val="D8E0E8"/>
          </a:solidFill>
          <a:ln/>
        </p:spPr>
      </p:sp>
      <p:sp>
        <p:nvSpPr>
          <p:cNvPr id="21" name="Shape 18"/>
          <p:cNvSpPr/>
          <p:nvPr/>
        </p:nvSpPr>
        <p:spPr>
          <a:xfrm>
            <a:off x="7397496" y="2400300"/>
            <a:ext cx="101498" cy="101498"/>
          </a:xfrm>
          <a:prstGeom prst="ellipse">
            <a:avLst/>
          </a:prstGeom>
          <a:solidFill>
            <a:srgbClr val="D8E0E8"/>
          </a:solidFill>
          <a:ln/>
        </p:spPr>
      </p:sp>
      <p:sp>
        <p:nvSpPr>
          <p:cNvPr id="22" name="Shape 19"/>
          <p:cNvSpPr/>
          <p:nvPr/>
        </p:nvSpPr>
        <p:spPr>
          <a:xfrm>
            <a:off x="8728862" y="2139696"/>
            <a:ext cx="2852928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28862" y="2343607"/>
            <a:ext cx="285292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09905" y="2762402"/>
            <a:ext cx="2413102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4205" y="2978201"/>
            <a:ext cx="21845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实时动态调度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023006" y="2762402"/>
            <a:ext cx="2852928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23006" y="2971800"/>
            <a:ext cx="28529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75934" y="2762402"/>
            <a:ext cx="2852928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05802" y="3023006"/>
            <a:ext cx="101498" cy="10149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0" name="Shape 27"/>
          <p:cNvSpPr/>
          <p:nvPr/>
        </p:nvSpPr>
        <p:spPr>
          <a:xfrm>
            <a:off x="7252106" y="3023006"/>
            <a:ext cx="101498" cy="101498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1" name="Shape 28"/>
          <p:cNvSpPr/>
          <p:nvPr/>
        </p:nvSpPr>
        <p:spPr>
          <a:xfrm>
            <a:off x="7397496" y="3023006"/>
            <a:ext cx="101498" cy="101498"/>
          </a:xfrm>
          <a:prstGeom prst="ellipse">
            <a:avLst/>
          </a:prstGeom>
          <a:solidFill>
            <a:srgbClr val="D8E0E8"/>
          </a:solidFill>
          <a:ln/>
        </p:spPr>
      </p:sp>
      <p:sp>
        <p:nvSpPr>
          <p:cNvPr id="32" name="Shape 29"/>
          <p:cNvSpPr/>
          <p:nvPr/>
        </p:nvSpPr>
        <p:spPr>
          <a:xfrm>
            <a:off x="8728862" y="2762402"/>
            <a:ext cx="2852928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28862" y="2965399"/>
            <a:ext cx="285292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9905" y="3384194"/>
            <a:ext cx="2413102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4205" y="3600907"/>
            <a:ext cx="21845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仿真预演与验证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023006" y="3384194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23006" y="3594506"/>
            <a:ext cx="28529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875934" y="3384194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39028" y="3581705"/>
            <a:ext cx="2725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8728862" y="3384194"/>
            <a:ext cx="2852928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28862" y="3588106"/>
            <a:ext cx="285292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09905" y="4006901"/>
            <a:ext cx="2413102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24205" y="4222699"/>
            <a:ext cx="21845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能耗与碳可视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023006" y="4006901"/>
            <a:ext cx="2852928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023006" y="4216298"/>
            <a:ext cx="28529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875934" y="4006901"/>
            <a:ext cx="2852928" cy="62270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75934" y="4216298"/>
            <a:ext cx="28529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728862" y="4006901"/>
            <a:ext cx="2852928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28862" y="4209898"/>
            <a:ext cx="285292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09905" y="4629607"/>
            <a:ext cx="2413102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24205" y="4845406"/>
            <a:ext cx="21845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落地周期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023006" y="4629607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086100" y="4826203"/>
            <a:ext cx="2725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数月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5875934" y="4629607"/>
            <a:ext cx="2852928" cy="622706"/>
          </a:xfrm>
          <a:prstGeom prst="rect">
            <a:avLst/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39028" y="4826203"/>
            <a:ext cx="2725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数周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8728862" y="4629607"/>
            <a:ext cx="2852928" cy="622706"/>
          </a:xfrm>
          <a:prstGeom prst="rect">
            <a:avLst/>
          </a:prstGeom>
          <a:solidFill>
            <a:srgbClr val="E5F5FD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92870" y="4826203"/>
            <a:ext cx="2725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分阶段上线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609905" y="1708099"/>
            <a:ext cx="10972800" cy="3543300"/>
          </a:xfrm>
          <a:prstGeom prst="rect">
            <a:avLst/>
          </a:prstGeom>
          <a:ln w="16510">
            <a:solidFill>
              <a:srgbClr val="D8E0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09905" y="5549494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2902" y="5663794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焦点列即为本方案；同级能力统一藏蓝，差异用语义色（绿=具备 / 灰=缺失）。</a:t>
            </a:r>
            <a:endParaRPr lang="en-US" sz="800" dirty="0"/>
          </a:p>
        </p:txBody>
      </p:sp>
      <p:pic>
        <p:nvPicPr>
          <p:cNvPr id="61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平台六大核心能力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45720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 + 标题 + 说明，铺满正文。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714500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714500"/>
            <a:ext cx="3538728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930298"/>
            <a:ext cx="418795" cy="418795"/>
          </a:xfrm>
          <a:prstGeom prst="ellipse">
            <a:avLst/>
          </a:prstGeom>
          <a:solidFill>
            <a:srgbClr val="E5F5FD"/>
          </a:solidFill>
          <a:ln/>
        </p:spPr>
      </p:sp>
      <p:sp>
        <p:nvSpPr>
          <p:cNvPr id="9" name="Shape 6"/>
          <p:cNvSpPr/>
          <p:nvPr/>
        </p:nvSpPr>
        <p:spPr>
          <a:xfrm>
            <a:off x="907999" y="2038198"/>
            <a:ext cx="202997" cy="20299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743407" y="1936699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2201" y="1886407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009498" y="1936699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25296" y="1886407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743407" y="2139696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2201" y="2292401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9498" y="2139696"/>
            <a:ext cx="267005" cy="20299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25296" y="2292401"/>
            <a:ext cx="101498" cy="101498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45997" y="2031797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0100" y="2476195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全场有人/无人设备实时协同调度。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326026" y="1714500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26026" y="1714500"/>
            <a:ext cx="353872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2" name="Shape 19"/>
          <p:cNvSpPr/>
          <p:nvPr/>
        </p:nvSpPr>
        <p:spPr>
          <a:xfrm>
            <a:off x="4517136" y="1930298"/>
            <a:ext cx="418795" cy="418795"/>
          </a:xfrm>
          <a:prstGeom prst="ellipse">
            <a:avLst/>
          </a:prstGeom>
          <a:solidFill>
            <a:srgbClr val="F2F6FB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1027" y="2178101"/>
            <a:ext cx="75895" cy="114300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88129" y="2089404"/>
            <a:ext cx="75895" cy="202997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15230" y="2000707"/>
            <a:ext cx="75895" cy="291694"/>
          </a:xfrm>
          <a:prstGeom prst="rect">
            <a:avLst/>
          </a:prstGeom>
          <a:solidFill>
            <a:srgbClr val="002060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10735" y="2292401"/>
            <a:ext cx="431597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3033" y="2031797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仿真预测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17136" y="2476195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高精度数字孪生，先验证后落地。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8043062" y="1714500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043062" y="1714500"/>
            <a:ext cx="353872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1" name="Shape 28"/>
          <p:cNvSpPr/>
          <p:nvPr/>
        </p:nvSpPr>
        <p:spPr>
          <a:xfrm>
            <a:off x="8234172" y="1930298"/>
            <a:ext cx="418795" cy="418795"/>
          </a:xfrm>
          <a:prstGeom prst="ellipse">
            <a:avLst/>
          </a:prstGeom>
          <a:solidFill>
            <a:srgbClr val="F2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8284464" y="1981505"/>
            <a:ext cx="317297" cy="317297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8443570" y="2050999"/>
            <a:ext cx="0" cy="886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43570" y="2139696"/>
            <a:ext cx="82296" cy="51206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80069" y="2031797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节拍管控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234172" y="2476195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作业节拍可视，异常实时预警。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09905" y="3823106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9905" y="3823106"/>
            <a:ext cx="353872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Shape 36"/>
          <p:cNvSpPr/>
          <p:nvPr/>
        </p:nvSpPr>
        <p:spPr>
          <a:xfrm>
            <a:off x="800100" y="4038905"/>
            <a:ext cx="418795" cy="418795"/>
          </a:xfrm>
          <a:prstGeom prst="ellipse">
            <a:avLst/>
          </a:prstGeom>
          <a:solidFill>
            <a:srgbClr val="F2F6FB"/>
          </a:solidFill>
          <a:ln/>
        </p:spPr>
      </p:sp>
      <p:sp>
        <p:nvSpPr>
          <p:cNvPr id="40" name="Shape 37"/>
          <p:cNvSpPr/>
          <p:nvPr/>
        </p:nvSpPr>
        <p:spPr>
          <a:xfrm>
            <a:off x="863194" y="4101998"/>
            <a:ext cx="291694" cy="291694"/>
          </a:xfrm>
          <a:prstGeom prst="roundRect">
            <a:avLst>
              <a:gd name="adj" fmla="val 21630"/>
            </a:avLst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95198" y="4177894"/>
            <a:ext cx="22860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OK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345997" y="4140403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0100" y="4584802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全流程安全策略与权限合规。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4326026" y="3823106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326026" y="3823106"/>
            <a:ext cx="353872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6" name="Shape 43"/>
          <p:cNvSpPr/>
          <p:nvPr/>
        </p:nvSpPr>
        <p:spPr>
          <a:xfrm>
            <a:off x="4517136" y="4038905"/>
            <a:ext cx="418795" cy="418795"/>
          </a:xfrm>
          <a:prstGeom prst="ellipse">
            <a:avLst/>
          </a:prstGeom>
          <a:solidFill>
            <a:srgbClr val="F2F6FB"/>
          </a:solidFill>
          <a:ln/>
        </p:spPr>
      </p:sp>
      <p:sp>
        <p:nvSpPr>
          <p:cNvPr id="47" name="Shape 44"/>
          <p:cNvSpPr/>
          <p:nvPr/>
        </p:nvSpPr>
        <p:spPr>
          <a:xfrm>
            <a:off x="4586630" y="4082796"/>
            <a:ext cx="279806" cy="330098"/>
          </a:xfrm>
          <a:prstGeom prst="roundRect">
            <a:avLst>
              <a:gd name="adj" fmla="val 11438"/>
            </a:avLst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650638" y="4203497"/>
            <a:ext cx="152705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650638" y="4286707"/>
            <a:ext cx="152705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63033" y="4140403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517136" y="4584802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作业数据沉淀为可复用资产。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8043062" y="3823106"/>
            <a:ext cx="3538728" cy="1930298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043062" y="3823106"/>
            <a:ext cx="353872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4" name="Shape 51"/>
          <p:cNvSpPr/>
          <p:nvPr/>
        </p:nvSpPr>
        <p:spPr>
          <a:xfrm>
            <a:off x="8234172" y="4038905"/>
            <a:ext cx="418795" cy="418795"/>
          </a:xfrm>
          <a:prstGeom prst="ellipse">
            <a:avLst/>
          </a:prstGeom>
          <a:solidFill>
            <a:srgbClr val="F2F6FB"/>
          </a:solidFill>
          <a:ln/>
        </p:spPr>
      </p:sp>
      <p:sp>
        <p:nvSpPr>
          <p:cNvPr id="55" name="Shape 52"/>
          <p:cNvSpPr/>
          <p:nvPr/>
        </p:nvSpPr>
        <p:spPr>
          <a:xfrm>
            <a:off x="8373161" y="4089197"/>
            <a:ext cx="139903" cy="139903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7266" y="4261104"/>
            <a:ext cx="291694" cy="177394"/>
          </a:xfrm>
          <a:prstGeom prst="roundRect">
            <a:avLst>
              <a:gd name="adj" fmla="val 46392"/>
            </a:avLst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80069" y="4140403"/>
            <a:ext cx="262432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少人无人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8234172" y="4584802"/>
            <a:ext cx="3158338" cy="1041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关键岗位减员，7×24 连续作业。</a:t>
            </a:r>
            <a:endParaRPr lang="en-US" sz="750" dirty="0"/>
          </a:p>
        </p:txBody>
      </p:sp>
      <p:pic>
        <p:nvPicPr>
          <p:cNvPr id="59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 · 边 · 云 三层方案架构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自上而下的部署分层与组件构成。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911096"/>
            <a:ext cx="1904695" cy="990295"/>
          </a:xfrm>
          <a:prstGeom prst="roundRect">
            <a:avLst>
              <a:gd name="adj" fmla="val 5171"/>
            </a:avLst>
          </a:prstGeom>
          <a:solidFill>
            <a:srgbClr val="00B0F0"/>
          </a:solidFill>
          <a:ln/>
        </p:spPr>
      </p:sp>
      <p:sp>
        <p:nvSpPr>
          <p:cNvPr id="7" name="Text 4"/>
          <p:cNvSpPr/>
          <p:nvPr/>
        </p:nvSpPr>
        <p:spPr>
          <a:xfrm>
            <a:off x="748894" y="2229307"/>
            <a:ext cx="162580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· 平台层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8894" y="2457907"/>
            <a:ext cx="16258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7DE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2628900" y="1911096"/>
            <a:ext cx="8953805" cy="990295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30398" y="2184502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1605" y="2311603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调度算法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940503" y="2184502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0795" y="2311603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149694" y="2184502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00900" y="2311603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数据中台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9359798" y="2184502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1005" y="2311603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能源管理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561795" y="2902306"/>
            <a:ext cx="0" cy="101498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09905" y="3003804"/>
            <a:ext cx="1904695" cy="990295"/>
          </a:xfrm>
          <a:prstGeom prst="roundRect">
            <a:avLst>
              <a:gd name="adj" fmla="val 5171"/>
            </a:avLst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748894" y="3321101"/>
            <a:ext cx="162580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 · 边缘层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48894" y="3549701"/>
            <a:ext cx="16258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7DE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628900" y="3003804"/>
            <a:ext cx="8953805" cy="990295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30398" y="3276295"/>
            <a:ext cx="2857500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81605" y="3403397"/>
            <a:ext cx="2756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边缘计算盒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76595" y="3276295"/>
            <a:ext cx="2857500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27802" y="3403397"/>
            <a:ext cx="2756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实时定位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8623706" y="3276295"/>
            <a:ext cx="2857500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73998" y="3403397"/>
            <a:ext cx="27560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视频结构化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1561795" y="3994099"/>
            <a:ext cx="0" cy="101498"/>
          </a:xfrm>
          <a:prstGeom prst="line">
            <a:avLst/>
          </a:prstGeom>
          <a:noFill/>
          <a:ln w="25400">
            <a:solidFill>
              <a:srgbClr val="9AA7B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09905" y="4095598"/>
            <a:ext cx="1904695" cy="990295"/>
          </a:xfrm>
          <a:prstGeom prst="roundRect">
            <a:avLst>
              <a:gd name="adj" fmla="val 5171"/>
            </a:avLst>
          </a:prstGeom>
          <a:solidFill>
            <a:srgbClr val="002060"/>
          </a:solidFill>
          <a:ln/>
        </p:spPr>
      </p:sp>
      <p:sp>
        <p:nvSpPr>
          <p:cNvPr id="31" name="Text 28"/>
          <p:cNvSpPr/>
          <p:nvPr/>
        </p:nvSpPr>
        <p:spPr>
          <a:xfrm>
            <a:off x="748894" y="4412894"/>
            <a:ext cx="1625803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 · 设备层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48894" y="4641494"/>
            <a:ext cx="16258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D7DE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Device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628900" y="4095598"/>
            <a:ext cx="8953805" cy="990295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30398" y="4369003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81605" y="4496105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无人重卡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940503" y="4369003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90795" y="4496105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有人车队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149694" y="4369003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0900" y="4496105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岸桥/堆场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9359798" y="4369003"/>
            <a:ext cx="2120494" cy="444398"/>
          </a:xfrm>
          <a:prstGeom prst="roundRect">
            <a:avLst>
              <a:gd name="adj" fmla="val 1152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11005" y="4496105"/>
            <a:ext cx="20189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传感器网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09905" y="5562295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2902" y="567659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焦点层（平台层）为差异化所在；层间为部署依赖关系。</a:t>
            </a:r>
            <a:endParaRPr lang="en-US" sz="800" dirty="0"/>
          </a:p>
        </p:txBody>
      </p:sp>
      <p:pic>
        <p:nvPicPr>
          <p:cNvPr id="44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规模化落地成效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4000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来自多个港口/厂区的真实部署。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609698"/>
            <a:ext cx="10972800" cy="1663294"/>
          </a:xfrm>
          <a:prstGeom prst="roundRect">
            <a:avLst>
              <a:gd name="adj" fmla="val 307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9905" y="2939796"/>
            <a:ext cx="27432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11403" y="3562502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作业效率提升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1695" y="3803904"/>
            <a:ext cx="24387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混合车队岸桥-堆场节拍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3353105" y="2876702"/>
            <a:ext cx="0" cy="1130198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3105" y="2939796"/>
            <a:ext cx="27432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24/7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3454603" y="3562502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连续无人作业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04895" y="3803904"/>
            <a:ext cx="24387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实时调度下不间断运行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6096305" y="2876702"/>
            <a:ext cx="0" cy="1130198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96305" y="2939796"/>
            <a:ext cx="27432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6197803" y="3562502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落地站点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48095" y="3803904"/>
            <a:ext cx="24387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覆盖三大洲并持续扩展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8839505" y="2876702"/>
            <a:ext cx="0" cy="1130198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39505" y="2939796"/>
            <a:ext cx="274320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-25%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8941003" y="3562502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综合能耗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991295" y="3803904"/>
            <a:ext cx="24387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能源调度与碳可视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609905" y="4401007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902" y="4515307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数字为部署占位；正式材料须标注口径与来源。</a:t>
            </a:r>
            <a:endParaRPr lang="en-US" sz="800" dirty="0"/>
          </a:p>
        </p:txBody>
      </p:sp>
      <p:pic>
        <p:nvPicPr>
          <p:cNvPr id="24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现状调研 · 三类核心痛点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29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分类枚举，配底部结论带。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492301"/>
            <a:ext cx="3556102" cy="368503"/>
          </a:xfrm>
          <a:prstGeom prst="roundRect">
            <a:avLst>
              <a:gd name="adj" fmla="val 13896"/>
            </a:avLst>
          </a:prstGeom>
          <a:solidFill>
            <a:srgbClr val="002060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" y="1587398"/>
            <a:ext cx="33531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· 成本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09905" y="1923898"/>
            <a:ext cx="3556102" cy="3486607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4497" y="2120494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07660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关键岗位用工紧张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74497" y="2916022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872130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夜班连续作业难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74497" y="3711550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66744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经验依赖、培养周期长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774497" y="450707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46227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安全责任压力大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317797" y="1492301"/>
            <a:ext cx="3556102" cy="368503"/>
          </a:xfrm>
          <a:prstGeom prst="roundRect">
            <a:avLst>
              <a:gd name="adj" fmla="val 13896"/>
            </a:avLst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4419295" y="1587398"/>
            <a:ext cx="33531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 · 设备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17797" y="1923898"/>
            <a:ext cx="3556102" cy="3486607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83303" y="2120494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1" name="Text 18"/>
          <p:cNvSpPr/>
          <p:nvPr/>
        </p:nvSpPr>
        <p:spPr>
          <a:xfrm>
            <a:off x="4623206" y="207660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多品牌车队各自为政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483303" y="2916022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3" name="Text 20"/>
          <p:cNvSpPr/>
          <p:nvPr/>
        </p:nvSpPr>
        <p:spPr>
          <a:xfrm>
            <a:off x="4623206" y="2872130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设备利用率不均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83303" y="3711550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5" name="Text 22"/>
          <p:cNvSpPr/>
          <p:nvPr/>
        </p:nvSpPr>
        <p:spPr>
          <a:xfrm>
            <a:off x="4623206" y="3666744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调度靠人工经验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483303" y="450707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/>
          <p:nvPr/>
        </p:nvSpPr>
        <p:spPr>
          <a:xfrm>
            <a:off x="4623206" y="446227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故障被动响应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026603" y="1492301"/>
            <a:ext cx="3556102" cy="368503"/>
          </a:xfrm>
          <a:prstGeom prst="roundRect">
            <a:avLst>
              <a:gd name="adj" fmla="val 13896"/>
            </a:avLst>
          </a:prstGeom>
          <a:solidFill>
            <a:srgbClr val="00B0F0"/>
          </a:solidFill>
          <a:ln/>
        </p:spPr>
      </p:sp>
      <p:sp>
        <p:nvSpPr>
          <p:cNvPr id="29" name="Text 26"/>
          <p:cNvSpPr/>
          <p:nvPr/>
        </p:nvSpPr>
        <p:spPr>
          <a:xfrm>
            <a:off x="8128102" y="1587398"/>
            <a:ext cx="33531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 · 管理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026603" y="1923898"/>
            <a:ext cx="3556102" cy="3486607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191195" y="2120494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2" name="Text 29"/>
          <p:cNvSpPr/>
          <p:nvPr/>
        </p:nvSpPr>
        <p:spPr>
          <a:xfrm>
            <a:off x="8331098" y="207660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数据散落难沉淀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8191195" y="2916022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4" name="Text 31"/>
          <p:cNvSpPr/>
          <p:nvPr/>
        </p:nvSpPr>
        <p:spPr>
          <a:xfrm>
            <a:off x="8331098" y="2872130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缺乏预演手段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191195" y="3711550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6" name="Text 33"/>
          <p:cNvSpPr/>
          <p:nvPr/>
        </p:nvSpPr>
        <p:spPr>
          <a:xfrm>
            <a:off x="8331098" y="3666744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节拍不可视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8191195" y="4507078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8" name="Text 35"/>
          <p:cNvSpPr/>
          <p:nvPr/>
        </p:nvSpPr>
        <p:spPr>
          <a:xfrm>
            <a:off x="8331098" y="4462272"/>
            <a:ext cx="3111703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决策滞后于现场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09905" y="5524805"/>
            <a:ext cx="10972800" cy="457200"/>
          </a:xfrm>
          <a:prstGeom prst="roundRect">
            <a:avLst>
              <a:gd name="adj" fmla="val 11200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0100" y="5658307"/>
            <a:ext cx="105914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三类痛点共同指向：缺一个统一、可预演、自学习的调度运营平台</a:t>
            </a:r>
            <a:endParaRPr lang="en-US" sz="900" dirty="0"/>
          </a:p>
        </p:txBody>
      </p:sp>
      <p:pic>
        <p:nvPicPr>
          <p:cNvPr id="41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三大产品支柱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34290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厂内厂外一体化的产品矩阵。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880006"/>
            <a:ext cx="3504895" cy="3746297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880006"/>
            <a:ext cx="3504895" cy="5120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8" name="Shape 5"/>
          <p:cNvSpPr/>
          <p:nvPr/>
        </p:nvSpPr>
        <p:spPr>
          <a:xfrm>
            <a:off x="2018995" y="2158898"/>
            <a:ext cx="685800" cy="685800"/>
          </a:xfrm>
          <a:prstGeom prst="ellipse">
            <a:avLst/>
          </a:prstGeom>
          <a:solidFill>
            <a:srgbClr val="F2F6FB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60397" y="2400300"/>
            <a:ext cx="202997" cy="2029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0" name="Shape 7"/>
          <p:cNvSpPr/>
          <p:nvPr/>
        </p:nvSpPr>
        <p:spPr>
          <a:xfrm flipH="1" flipV="1">
            <a:off x="2095805" y="2298802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44598" y="2247595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2361895" y="2298802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77694" y="2247595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2095805" y="2501798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44598" y="2654503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61895" y="2501798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77694" y="2654503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" y="2984602"/>
            <a:ext cx="32004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ReeWell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1695" y="3251606"/>
            <a:ext cx="32004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场内生产运营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63194" y="3480206"/>
            <a:ext cx="29974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0100" y="3594506"/>
            <a:ext cx="31245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全场设备统一调度与运营管控的核心平台。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25703" y="4324198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3" name="Text 20"/>
          <p:cNvSpPr/>
          <p:nvPr/>
        </p:nvSpPr>
        <p:spPr>
          <a:xfrm>
            <a:off x="940003" y="4280306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25703" y="4616806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5" name="Text 22"/>
          <p:cNvSpPr/>
          <p:nvPr/>
        </p:nvSpPr>
        <p:spPr>
          <a:xfrm>
            <a:off x="940003" y="4572000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实时调度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25703" y="4908499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/>
          <p:nvPr/>
        </p:nvSpPr>
        <p:spPr>
          <a:xfrm>
            <a:off x="940003" y="4863694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仿真预演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343400" y="1880006"/>
            <a:ext cx="3504895" cy="3746297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2286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343400" y="1880006"/>
            <a:ext cx="3504895" cy="51206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0" name="Shape 27"/>
          <p:cNvSpPr/>
          <p:nvPr/>
        </p:nvSpPr>
        <p:spPr>
          <a:xfrm>
            <a:off x="5753405" y="2158898"/>
            <a:ext cx="685800" cy="685800"/>
          </a:xfrm>
          <a:prstGeom prst="ellipse">
            <a:avLst/>
          </a:prstGeom>
          <a:solidFill>
            <a:srgbClr val="E5F5FD"/>
          </a:solidFill>
          <a:ln w="25400">
            <a:solidFill>
              <a:srgbClr val="00B0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62802" y="2368296"/>
            <a:ext cx="267005" cy="267005"/>
          </a:xfrm>
          <a:prstGeom prst="ellipse">
            <a:avLst/>
          </a:prstGeom>
          <a:ln w="17780">
            <a:solidFill>
              <a:srgbClr val="00B0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45098" y="2451506"/>
            <a:ext cx="101498" cy="101498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3" name="Shape 30"/>
          <p:cNvSpPr/>
          <p:nvPr/>
        </p:nvSpPr>
        <p:spPr>
          <a:xfrm>
            <a:off x="6229807" y="2501798"/>
            <a:ext cx="57607" cy="0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90488" y="2595982"/>
            <a:ext cx="40234" cy="40234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96305" y="2635301"/>
            <a:ext cx="0" cy="5760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H="1">
            <a:off x="5960974" y="2595982"/>
            <a:ext cx="40234" cy="40234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5905195" y="2501798"/>
            <a:ext cx="57607" cy="0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H="1" flipV="1">
            <a:off x="5960974" y="2367382"/>
            <a:ext cx="40234" cy="40234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6096305" y="2311603"/>
            <a:ext cx="0" cy="57607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6190488" y="2367382"/>
            <a:ext cx="40234" cy="40234"/>
          </a:xfrm>
          <a:prstGeom prst="line">
            <a:avLst/>
          </a:prstGeom>
          <a:noFill/>
          <a:ln w="17780">
            <a:solidFill>
              <a:srgbClr val="00B0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96105" y="2984602"/>
            <a:ext cx="32004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WellSmart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496105" y="3251606"/>
            <a:ext cx="32004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调度底座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4597603" y="3480206"/>
            <a:ext cx="29974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33595" y="3594506"/>
            <a:ext cx="31245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全要素智能调度算法，平台的智能内核。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59198" y="4324198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46" name="Text 43"/>
          <p:cNvSpPr/>
          <p:nvPr/>
        </p:nvSpPr>
        <p:spPr>
          <a:xfrm>
            <a:off x="4673498" y="4280306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全局优化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4559198" y="4616806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48" name="Text 45"/>
          <p:cNvSpPr/>
          <p:nvPr/>
        </p:nvSpPr>
        <p:spPr>
          <a:xfrm>
            <a:off x="4673498" y="4572000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自学习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4559198" y="4908499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50" name="Text 47"/>
          <p:cNvSpPr/>
          <p:nvPr/>
        </p:nvSpPr>
        <p:spPr>
          <a:xfrm>
            <a:off x="4673498" y="4863694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076895" y="1880006"/>
            <a:ext cx="3504895" cy="3746297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076895" y="1880006"/>
            <a:ext cx="3504895" cy="51206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3" name="Shape 50"/>
          <p:cNvSpPr/>
          <p:nvPr/>
        </p:nvSpPr>
        <p:spPr>
          <a:xfrm>
            <a:off x="9486900" y="2158898"/>
            <a:ext cx="685800" cy="685800"/>
          </a:xfrm>
          <a:prstGeom prst="ellipse">
            <a:avLst/>
          </a:prstGeom>
          <a:solidFill>
            <a:srgbClr val="F2F6FB"/>
          </a:solidFill>
          <a:ln w="25400">
            <a:solidFill>
              <a:srgbClr val="00206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664294" y="2540203"/>
            <a:ext cx="75895" cy="114300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791395" y="2451506"/>
            <a:ext cx="75895" cy="202997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918497" y="2361895"/>
            <a:ext cx="75895" cy="291694"/>
          </a:xfrm>
          <a:prstGeom prst="rect">
            <a:avLst/>
          </a:prstGeom>
          <a:solidFill>
            <a:srgbClr val="002060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614002" y="2654503"/>
            <a:ext cx="431597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229600" y="2984602"/>
            <a:ext cx="32004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PowerDash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8229600" y="3251606"/>
            <a:ext cx="320040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数据驾驶舱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8331098" y="3480206"/>
            <a:ext cx="2997403" cy="0"/>
          </a:xfrm>
          <a:prstGeom prst="line">
            <a:avLst/>
          </a:prstGeom>
          <a:noFill/>
          <a:ln w="12700">
            <a:solidFill>
              <a:srgbClr val="D8E0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268005" y="3594506"/>
            <a:ext cx="31245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全场运营数据可视化与决策支持。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8292694" y="4324198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63" name="Text 60"/>
          <p:cNvSpPr/>
          <p:nvPr/>
        </p:nvSpPr>
        <p:spPr>
          <a:xfrm>
            <a:off x="8406994" y="4280306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8292694" y="4616806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65" name="Text 62"/>
          <p:cNvSpPr/>
          <p:nvPr/>
        </p:nvSpPr>
        <p:spPr>
          <a:xfrm>
            <a:off x="8406994" y="4572000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8292694" y="4908499"/>
            <a:ext cx="51206" cy="5120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67" name="Text 64"/>
          <p:cNvSpPr/>
          <p:nvPr/>
        </p:nvSpPr>
        <p:spPr>
          <a:xfrm>
            <a:off x="8406994" y="4863694"/>
            <a:ext cx="29718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一屏总览</a:t>
            </a:r>
            <a:endParaRPr lang="en-US" sz="700" dirty="0"/>
          </a:p>
        </p:txBody>
      </p:sp>
      <p:pic>
        <p:nvPicPr>
          <p:cNvPr id="68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2026-06-24T03:54:34Z</dcterms:created>
  <dcterms:modified xsi:type="dcterms:W3CDTF">2026-06-24T03:54:34Z</dcterms:modified>
</cp:coreProperties>
</file>