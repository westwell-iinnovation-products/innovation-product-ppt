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0197" y="2286000"/>
            <a:ext cx="10414102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ReeWell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685800" y="3187598"/>
            <a:ext cx="5842102" cy="0"/>
          </a:xfrm>
          <a:prstGeom prst="line">
            <a:avLst/>
          </a:prstGeom>
          <a:noFill/>
          <a:ln w="9525">
            <a:solidFill>
              <a:srgbClr val="0070C0"/>
            </a:solidFill>
            <a:prstDash val="lgDash"/>
          </a:ln>
        </p:spPr>
      </p:sp>
      <p:sp>
        <p:nvSpPr>
          <p:cNvPr id="5" name="Text 2"/>
          <p:cNvSpPr/>
          <p:nvPr/>
        </p:nvSpPr>
        <p:spPr>
          <a:xfrm>
            <a:off x="685800" y="3327502"/>
            <a:ext cx="9525305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39E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Multi-modular Intelligent Dispatch &amp; Management Platform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39E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 Smart, Green and Autonomous Ports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85800" y="5702198"/>
            <a:ext cx="5715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B0F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Make a Well Change.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34594" y="6032297"/>
            <a:ext cx="4444898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June 2026</a:t>
            </a:r>
            <a:endParaRPr lang="en-US" sz="700" dirty="0"/>
          </a:p>
        </p:txBody>
      </p:sp>
      <p:pic>
        <p:nvPicPr>
          <p:cNvPr id="8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Today's Agenda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905" y="1054303"/>
            <a:ext cx="4623206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From the operational challenge to measurable, deployable value.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95551" y="2876702"/>
            <a:ext cx="8401507" cy="0"/>
          </a:xfrm>
          <a:prstGeom prst="line">
            <a:avLst/>
          </a:prstGeom>
          <a:noFill/>
          <a:ln w="25400">
            <a:solidFill>
              <a:srgbClr val="D8E0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174443" y="2876702"/>
            <a:ext cx="2012594" cy="0"/>
          </a:xfrm>
          <a:prstGeom prst="line">
            <a:avLst/>
          </a:prstGeom>
          <a:noFill/>
          <a:ln w="20320">
            <a:solidFill>
              <a:srgbClr val="9AA7B4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1692554" y="2673706"/>
            <a:ext cx="405994" cy="405994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/>
        </p:spPr>
      </p:sp>
      <p:sp>
        <p:nvSpPr>
          <p:cNvPr id="9" name="Text 6"/>
          <p:cNvSpPr/>
          <p:nvPr/>
        </p:nvSpPr>
        <p:spPr>
          <a:xfrm>
            <a:off x="1692554" y="2743200"/>
            <a:ext cx="40599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9905" y="3295498"/>
            <a:ext cx="2572207" cy="158739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20320">
            <a:solidFill>
              <a:srgbClr val="00B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09905" y="3295498"/>
            <a:ext cx="2572207" cy="38405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12" name="Text 9"/>
          <p:cNvSpPr/>
          <p:nvPr/>
        </p:nvSpPr>
        <p:spPr>
          <a:xfrm>
            <a:off x="787298" y="3473806"/>
            <a:ext cx="2216506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Challenge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87298" y="3778301"/>
            <a:ext cx="221650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today's port operations hit a ceiling.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800100" y="4254703"/>
            <a:ext cx="44806" cy="44806"/>
          </a:xfrm>
          <a:prstGeom prst="roundRect">
            <a:avLst>
              <a:gd name="adj" fmla="val 42857"/>
            </a:avLst>
          </a:prstGeom>
          <a:solidFill>
            <a:srgbClr val="00B0F0"/>
          </a:solidFill>
          <a:ln/>
        </p:spPr>
      </p:sp>
      <p:sp>
        <p:nvSpPr>
          <p:cNvPr id="15" name="Text 12"/>
          <p:cNvSpPr/>
          <p:nvPr/>
        </p:nvSpPr>
        <p:spPr>
          <a:xfrm>
            <a:off x="927202" y="4197096"/>
            <a:ext cx="2050999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Fragmented fleets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800100" y="4520794"/>
            <a:ext cx="44806" cy="44806"/>
          </a:xfrm>
          <a:prstGeom prst="roundRect">
            <a:avLst>
              <a:gd name="adj" fmla="val 42857"/>
            </a:avLst>
          </a:prstGeom>
          <a:solidFill>
            <a:srgbClr val="00B0F0"/>
          </a:solidFill>
          <a:ln/>
        </p:spPr>
      </p:sp>
      <p:sp>
        <p:nvSpPr>
          <p:cNvPr id="17" name="Text 14"/>
          <p:cNvSpPr/>
          <p:nvPr/>
        </p:nvSpPr>
        <p:spPr>
          <a:xfrm>
            <a:off x="927202" y="4464101"/>
            <a:ext cx="2050999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Manual scheduling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4975250" y="2876702"/>
            <a:ext cx="2012594" cy="0"/>
          </a:xfrm>
          <a:prstGeom prst="line">
            <a:avLst/>
          </a:prstGeom>
          <a:noFill/>
          <a:ln w="20320">
            <a:solidFill>
              <a:srgbClr val="9AA7B4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4492447" y="2673706"/>
            <a:ext cx="405994" cy="405994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/>
        </p:spPr>
      </p:sp>
      <p:sp>
        <p:nvSpPr>
          <p:cNvPr id="20" name="Text 17"/>
          <p:cNvSpPr/>
          <p:nvPr/>
        </p:nvSpPr>
        <p:spPr>
          <a:xfrm>
            <a:off x="4492447" y="2743200"/>
            <a:ext cx="40599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409798" y="3295498"/>
            <a:ext cx="2572207" cy="158739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409798" y="3295498"/>
            <a:ext cx="2572207" cy="3840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3" name="Text 20"/>
          <p:cNvSpPr/>
          <p:nvPr/>
        </p:nvSpPr>
        <p:spPr>
          <a:xfrm>
            <a:off x="3588106" y="3473806"/>
            <a:ext cx="2216506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Platform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3588106" y="3778301"/>
            <a:ext cx="221650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 AI platform across the whole yard.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3600907" y="4254703"/>
            <a:ext cx="44806" cy="44806"/>
          </a:xfrm>
          <a:prstGeom prst="roundRect">
            <a:avLst>
              <a:gd name="adj" fmla="val 42857"/>
            </a:avLst>
          </a:prstGeom>
          <a:solidFill>
            <a:srgbClr val="002060"/>
          </a:solidFill>
          <a:ln/>
        </p:spPr>
      </p:sp>
      <p:sp>
        <p:nvSpPr>
          <p:cNvPr id="26" name="Text 23"/>
          <p:cNvSpPr/>
          <p:nvPr/>
        </p:nvSpPr>
        <p:spPr>
          <a:xfrm>
            <a:off x="3727094" y="4197096"/>
            <a:ext cx="2050999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Unified control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3600907" y="4520794"/>
            <a:ext cx="44806" cy="44806"/>
          </a:xfrm>
          <a:prstGeom prst="roundRect">
            <a:avLst>
              <a:gd name="adj" fmla="val 42857"/>
            </a:avLst>
          </a:prstGeom>
          <a:solidFill>
            <a:srgbClr val="002060"/>
          </a:solidFill>
          <a:ln/>
        </p:spPr>
      </p:sp>
      <p:sp>
        <p:nvSpPr>
          <p:cNvPr id="28" name="Text 25"/>
          <p:cNvSpPr/>
          <p:nvPr/>
        </p:nvSpPr>
        <p:spPr>
          <a:xfrm>
            <a:off x="3727094" y="4464101"/>
            <a:ext cx="2050999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World-model AI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7775143" y="2876702"/>
            <a:ext cx="2012594" cy="0"/>
          </a:xfrm>
          <a:prstGeom prst="line">
            <a:avLst/>
          </a:prstGeom>
          <a:noFill/>
          <a:ln w="20320">
            <a:solidFill>
              <a:srgbClr val="9AA7B4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7293254" y="2673706"/>
            <a:ext cx="405994" cy="405994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/>
        </p:spPr>
      </p:sp>
      <p:sp>
        <p:nvSpPr>
          <p:cNvPr id="31" name="Text 28"/>
          <p:cNvSpPr/>
          <p:nvPr/>
        </p:nvSpPr>
        <p:spPr>
          <a:xfrm>
            <a:off x="7293254" y="2743200"/>
            <a:ext cx="40599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210605" y="3295498"/>
            <a:ext cx="2572207" cy="158739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210605" y="3295498"/>
            <a:ext cx="2572207" cy="3840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4" name="Text 31"/>
          <p:cNvSpPr/>
          <p:nvPr/>
        </p:nvSpPr>
        <p:spPr>
          <a:xfrm>
            <a:off x="6387998" y="3473806"/>
            <a:ext cx="2216506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6387998" y="3778301"/>
            <a:ext cx="221650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layers and scenario engines.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6400800" y="4254703"/>
            <a:ext cx="44806" cy="44806"/>
          </a:xfrm>
          <a:prstGeom prst="roundRect">
            <a:avLst>
              <a:gd name="adj" fmla="val 42857"/>
            </a:avLst>
          </a:prstGeom>
          <a:solidFill>
            <a:srgbClr val="002060"/>
          </a:solidFill>
          <a:ln/>
        </p:spPr>
      </p:sp>
      <p:sp>
        <p:nvSpPr>
          <p:cNvPr id="37" name="Text 34"/>
          <p:cNvSpPr/>
          <p:nvPr/>
        </p:nvSpPr>
        <p:spPr>
          <a:xfrm>
            <a:off x="6527902" y="4197096"/>
            <a:ext cx="2050999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Modular base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6400800" y="4520794"/>
            <a:ext cx="44806" cy="44806"/>
          </a:xfrm>
          <a:prstGeom prst="roundRect">
            <a:avLst>
              <a:gd name="adj" fmla="val 42857"/>
            </a:avLst>
          </a:prstGeom>
          <a:solidFill>
            <a:srgbClr val="002060"/>
          </a:solidFill>
          <a:ln/>
        </p:spPr>
      </p:sp>
      <p:sp>
        <p:nvSpPr>
          <p:cNvPr id="39" name="Text 36"/>
          <p:cNvSpPr/>
          <p:nvPr/>
        </p:nvSpPr>
        <p:spPr>
          <a:xfrm>
            <a:off x="6527902" y="4464101"/>
            <a:ext cx="2050999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Dual-engine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10093147" y="2673706"/>
            <a:ext cx="405994" cy="405994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/>
        </p:spPr>
      </p:sp>
      <p:sp>
        <p:nvSpPr>
          <p:cNvPr id="41" name="Text 38"/>
          <p:cNvSpPr/>
          <p:nvPr/>
        </p:nvSpPr>
        <p:spPr>
          <a:xfrm>
            <a:off x="10093147" y="2743200"/>
            <a:ext cx="40599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9010498" y="3295498"/>
            <a:ext cx="2572207" cy="158739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9010498" y="3295498"/>
            <a:ext cx="2572207" cy="3840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44" name="Text 41"/>
          <p:cNvSpPr/>
          <p:nvPr/>
        </p:nvSpPr>
        <p:spPr>
          <a:xfrm>
            <a:off x="9188806" y="3473806"/>
            <a:ext cx="2216506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Value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9188806" y="3778301"/>
            <a:ext cx="221650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Proven, quantified, low-risk to deploy.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9201607" y="4254703"/>
            <a:ext cx="44806" cy="44806"/>
          </a:xfrm>
          <a:prstGeom prst="roundRect">
            <a:avLst>
              <a:gd name="adj" fmla="val 42857"/>
            </a:avLst>
          </a:prstGeom>
          <a:solidFill>
            <a:srgbClr val="002060"/>
          </a:solidFill>
          <a:ln/>
        </p:spPr>
      </p:sp>
      <p:sp>
        <p:nvSpPr>
          <p:cNvPr id="47" name="Text 44"/>
          <p:cNvSpPr/>
          <p:nvPr/>
        </p:nvSpPr>
        <p:spPr>
          <a:xfrm>
            <a:off x="9327794" y="4197096"/>
            <a:ext cx="2050999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Throughput lift</a:t>
            </a:r>
            <a:endParaRPr lang="en-US" sz="700" dirty="0"/>
          </a:p>
        </p:txBody>
      </p:sp>
      <p:sp>
        <p:nvSpPr>
          <p:cNvPr id="48" name="Shape 45"/>
          <p:cNvSpPr/>
          <p:nvPr/>
        </p:nvSpPr>
        <p:spPr>
          <a:xfrm>
            <a:off x="9201607" y="4520794"/>
            <a:ext cx="44806" cy="44806"/>
          </a:xfrm>
          <a:prstGeom prst="roundRect">
            <a:avLst>
              <a:gd name="adj" fmla="val 42857"/>
            </a:avLst>
          </a:prstGeom>
          <a:solidFill>
            <a:srgbClr val="002060"/>
          </a:solidFill>
          <a:ln/>
        </p:spPr>
      </p:sp>
      <p:sp>
        <p:nvSpPr>
          <p:cNvPr id="49" name="Text 46"/>
          <p:cNvSpPr/>
          <p:nvPr/>
        </p:nvSpPr>
        <p:spPr>
          <a:xfrm>
            <a:off x="9327794" y="4464101"/>
            <a:ext cx="2050999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24/7 autonomy</a:t>
            </a:r>
            <a:endParaRPr lang="en-US" sz="700" dirty="0"/>
          </a:p>
        </p:txBody>
      </p:sp>
      <p:pic>
        <p:nvPicPr>
          <p:cNvPr id="50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695" y="2463394"/>
            <a:ext cx="6349594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spc="300" kern="0" dirty="0">
                <a:solidFill>
                  <a:srgbClr val="9AA7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SECTION 01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61695" y="2831897"/>
            <a:ext cx="9905695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Challenge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74497" y="3568903"/>
            <a:ext cx="3314700" cy="25603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6" name="Text 3"/>
          <p:cNvSpPr/>
          <p:nvPr/>
        </p:nvSpPr>
        <p:spPr>
          <a:xfrm>
            <a:off x="774497" y="3746297"/>
            <a:ext cx="8889797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70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Why today's port operations hit a ceiling.</a:t>
            </a:r>
            <a:endParaRPr lang="en-US" sz="1400" dirty="0"/>
          </a:p>
        </p:txBody>
      </p:sp>
      <p:pic>
        <p:nvPicPr>
          <p:cNvPr id="7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Port Operations Hit a Ceiling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905" y="1054303"/>
            <a:ext cx="7492594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Three structural gaps that cap throughput today.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905" y="2488997"/>
            <a:ext cx="3488436" cy="2565806"/>
          </a:xfrm>
          <a:prstGeom prst="roundRect">
            <a:avLst>
              <a:gd name="adj" fmla="val 199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9905" y="2488997"/>
            <a:ext cx="3488436" cy="38405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8" name="Shape 5"/>
          <p:cNvSpPr/>
          <p:nvPr/>
        </p:nvSpPr>
        <p:spPr>
          <a:xfrm>
            <a:off x="927202" y="2920594"/>
            <a:ext cx="202997" cy="202997"/>
          </a:xfrm>
          <a:prstGeom prst="ellipse">
            <a:avLst/>
          </a:prstGeom>
          <a:solidFill>
            <a:srgbClr val="00B0F0"/>
          </a:solidFill>
          <a:ln/>
        </p:spPr>
      </p:sp>
      <p:sp>
        <p:nvSpPr>
          <p:cNvPr id="9" name="Shape 6"/>
          <p:cNvSpPr/>
          <p:nvPr/>
        </p:nvSpPr>
        <p:spPr>
          <a:xfrm flipH="1" flipV="1">
            <a:off x="761695" y="2819095"/>
            <a:ext cx="267005" cy="202997"/>
          </a:xfrm>
          <a:prstGeom prst="line">
            <a:avLst/>
          </a:prstGeom>
          <a:noFill/>
          <a:ln w="17780">
            <a:solidFill>
              <a:srgbClr val="00B0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1403" y="2768803"/>
            <a:ext cx="101498" cy="101498"/>
          </a:xfrm>
          <a:prstGeom prst="ellipse">
            <a:avLst/>
          </a:prstGeom>
          <a:solidFill>
            <a:srgbClr val="E5F5FD"/>
          </a:solidFill>
          <a:ln w="17780">
            <a:solidFill>
              <a:srgbClr val="00B0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flipV="1">
            <a:off x="1028700" y="2819095"/>
            <a:ext cx="267005" cy="202997"/>
          </a:xfrm>
          <a:prstGeom prst="line">
            <a:avLst/>
          </a:prstGeom>
          <a:noFill/>
          <a:ln w="17780">
            <a:solidFill>
              <a:srgbClr val="00B0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44498" y="2768803"/>
            <a:ext cx="101498" cy="101498"/>
          </a:xfrm>
          <a:prstGeom prst="ellipse">
            <a:avLst/>
          </a:prstGeom>
          <a:solidFill>
            <a:srgbClr val="E5F5FD"/>
          </a:solidFill>
          <a:ln w="17780">
            <a:solidFill>
              <a:srgbClr val="00B0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H="1">
            <a:off x="761695" y="3023006"/>
            <a:ext cx="267005" cy="202997"/>
          </a:xfrm>
          <a:prstGeom prst="line">
            <a:avLst/>
          </a:prstGeom>
          <a:noFill/>
          <a:ln w="17780">
            <a:solidFill>
              <a:srgbClr val="00B0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1403" y="3174797"/>
            <a:ext cx="101498" cy="101498"/>
          </a:xfrm>
          <a:prstGeom prst="ellipse">
            <a:avLst/>
          </a:prstGeom>
          <a:solidFill>
            <a:srgbClr val="E5F5FD"/>
          </a:solidFill>
          <a:ln w="17780">
            <a:solidFill>
              <a:srgbClr val="00B0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28700" y="3023006"/>
            <a:ext cx="267005" cy="202997"/>
          </a:xfrm>
          <a:prstGeom prst="line">
            <a:avLst/>
          </a:prstGeom>
          <a:noFill/>
          <a:ln w="17780">
            <a:solidFill>
              <a:srgbClr val="00B0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244498" y="3174797"/>
            <a:ext cx="101498" cy="101498"/>
          </a:xfrm>
          <a:prstGeom prst="ellipse">
            <a:avLst/>
          </a:prstGeom>
          <a:solidFill>
            <a:srgbClr val="E5F5FD"/>
          </a:solidFill>
          <a:ln w="17780">
            <a:solidFill>
              <a:srgbClr val="00B0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71600" y="2831897"/>
            <a:ext cx="2522830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AA7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371600" y="3023006"/>
            <a:ext cx="25228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Mixed Fleets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12902" y="3467405"/>
            <a:ext cx="3081528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8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Manned and unmanned trucks from many brands run on separate systems that do not talk to each other.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761695" y="4546397"/>
            <a:ext cx="3183026" cy="355702"/>
          </a:xfrm>
          <a:prstGeom prst="roundRect">
            <a:avLst>
              <a:gd name="adj" fmla="val 14396"/>
            </a:avLst>
          </a:prstGeom>
          <a:solidFill>
            <a:srgbClr val="E5F5FD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88797" y="4635094"/>
            <a:ext cx="292973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Idle equipment &amp; blind spots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351630" y="2488997"/>
            <a:ext cx="3488436" cy="2565806"/>
          </a:xfrm>
          <a:prstGeom prst="roundRect">
            <a:avLst>
              <a:gd name="adj" fmla="val 199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351630" y="2488997"/>
            <a:ext cx="3488436" cy="38405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24" name="Shape 21"/>
          <p:cNvSpPr/>
          <p:nvPr/>
        </p:nvSpPr>
        <p:spPr>
          <a:xfrm>
            <a:off x="4612234" y="2863901"/>
            <a:ext cx="317297" cy="317297"/>
          </a:xfrm>
          <a:prstGeom prst="ellipse">
            <a:avLst/>
          </a:prstGeom>
          <a:solidFill>
            <a:srgbClr val="E5F5FD"/>
          </a:solidFill>
          <a:ln w="17780">
            <a:solidFill>
              <a:srgbClr val="00B0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 flipV="1">
            <a:off x="4771339" y="2933395"/>
            <a:ext cx="0" cy="88697"/>
          </a:xfrm>
          <a:prstGeom prst="line">
            <a:avLst/>
          </a:prstGeom>
          <a:noFill/>
          <a:ln w="17780">
            <a:solidFill>
              <a:srgbClr val="00B0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71339" y="3023006"/>
            <a:ext cx="82296" cy="51206"/>
          </a:xfrm>
          <a:prstGeom prst="line">
            <a:avLst/>
          </a:prstGeom>
          <a:noFill/>
          <a:ln w="17780">
            <a:solidFill>
              <a:srgbClr val="00B0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14239" y="2831897"/>
            <a:ext cx="2522830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AA7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114239" y="3023006"/>
            <a:ext cx="25228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Manual Scheduling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554626" y="3467405"/>
            <a:ext cx="3081528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8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Dispatchers plan by experience; plans cannot adapt in real time to congestion or breakdowns.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04334" y="4546397"/>
            <a:ext cx="3183026" cy="355702"/>
          </a:xfrm>
          <a:prstGeom prst="roundRect">
            <a:avLst>
              <a:gd name="adj" fmla="val 14396"/>
            </a:avLst>
          </a:prstGeom>
          <a:solidFill>
            <a:srgbClr val="E5F5FD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631436" y="4635094"/>
            <a:ext cx="292973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Lost throughput at peaks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8094269" y="2488997"/>
            <a:ext cx="3488436" cy="2565806"/>
          </a:xfrm>
          <a:prstGeom prst="roundRect">
            <a:avLst>
              <a:gd name="adj" fmla="val 199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8094269" y="2488997"/>
            <a:ext cx="3488436" cy="38405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34" name="Shape 31"/>
          <p:cNvSpPr/>
          <p:nvPr/>
        </p:nvSpPr>
        <p:spPr>
          <a:xfrm>
            <a:off x="8348472" y="3060497"/>
            <a:ext cx="75895" cy="114300"/>
          </a:xfrm>
          <a:prstGeom prst="rect">
            <a:avLst/>
          </a:prstGeom>
          <a:solidFill>
            <a:srgbClr val="E5F5FD"/>
          </a:solidFill>
          <a:ln w="17780">
            <a:solidFill>
              <a:srgbClr val="00B0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475574" y="2971800"/>
            <a:ext cx="75895" cy="202997"/>
          </a:xfrm>
          <a:prstGeom prst="rect">
            <a:avLst/>
          </a:prstGeom>
          <a:solidFill>
            <a:srgbClr val="E5F5FD"/>
          </a:solidFill>
          <a:ln w="17780">
            <a:solidFill>
              <a:srgbClr val="00B0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601761" y="2883103"/>
            <a:ext cx="75895" cy="291694"/>
          </a:xfrm>
          <a:prstGeom prst="rect">
            <a:avLst/>
          </a:prstGeom>
          <a:solidFill>
            <a:srgbClr val="00B0F0"/>
          </a:solidFill>
          <a:ln w="17780">
            <a:solidFill>
              <a:srgbClr val="00B0F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297266" y="3174797"/>
            <a:ext cx="431597" cy="0"/>
          </a:xfrm>
          <a:prstGeom prst="line">
            <a:avLst/>
          </a:prstGeom>
          <a:noFill/>
          <a:ln w="17780">
            <a:solidFill>
              <a:srgbClr val="00B0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855964" y="2831897"/>
            <a:ext cx="2522830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AA7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8855964" y="3023006"/>
            <a:ext cx="25228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 Foresight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8297266" y="3467405"/>
            <a:ext cx="3081528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8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Teams react after problems happen, with no way to test a plan before it hits the ground.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8246974" y="4546397"/>
            <a:ext cx="3183026" cy="355702"/>
          </a:xfrm>
          <a:prstGeom prst="roundRect">
            <a:avLst>
              <a:gd name="adj" fmla="val 14396"/>
            </a:avLst>
          </a:prstGeom>
          <a:solidFill>
            <a:srgbClr val="E5F5FD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373161" y="4635094"/>
            <a:ext cx="292973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Costly trial-and-error</a:t>
            </a:r>
            <a:endParaRPr lang="en-US" sz="800" dirty="0"/>
          </a:p>
        </p:txBody>
      </p:sp>
      <p:pic>
        <p:nvPicPr>
          <p:cNvPr id="43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Platform Architecture · System View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905" y="1054303"/>
            <a:ext cx="7492594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modular base; an AI tool-chain across the full operating flow.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905" y="2120494"/>
            <a:ext cx="10972800" cy="304495"/>
          </a:xfrm>
          <a:prstGeom prst="roundRect">
            <a:avLst>
              <a:gd name="adj" fmla="val 16817"/>
            </a:avLst>
          </a:prstGeom>
          <a:solidFill>
            <a:srgbClr val="002060"/>
          </a:solidFill>
          <a:ln/>
        </p:spPr>
      </p:sp>
      <p:sp>
        <p:nvSpPr>
          <p:cNvPr id="7" name="Text 4"/>
          <p:cNvSpPr/>
          <p:nvPr/>
        </p:nvSpPr>
        <p:spPr>
          <a:xfrm>
            <a:off x="761695" y="2190902"/>
            <a:ext cx="10668305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ReeWell Platform · AI tool-chain optimizing the full port operating flow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09905" y="2501798"/>
            <a:ext cx="1733702" cy="1244498"/>
          </a:xfrm>
          <a:prstGeom prst="roundRect">
            <a:avLst>
              <a:gd name="adj" fmla="val 411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09905" y="2501798"/>
            <a:ext cx="1733702" cy="3200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0" name="Text 7"/>
          <p:cNvSpPr/>
          <p:nvPr/>
        </p:nvSpPr>
        <p:spPr>
          <a:xfrm>
            <a:off x="724205" y="2616098"/>
            <a:ext cx="1505102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WellFMS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24205" y="2844698"/>
            <a:ext cx="1505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Fleet Management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724205" y="3034894"/>
            <a:ext cx="15051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Standard onboarding of manned/unmanned, multi-brand vehicles under one control.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2457907" y="2501798"/>
            <a:ext cx="1733702" cy="1244498"/>
          </a:xfrm>
          <a:prstGeom prst="roundRect">
            <a:avLst>
              <a:gd name="adj" fmla="val 411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457907" y="2501798"/>
            <a:ext cx="1733702" cy="3200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5" name="Text 12"/>
          <p:cNvSpPr/>
          <p:nvPr/>
        </p:nvSpPr>
        <p:spPr>
          <a:xfrm>
            <a:off x="2572207" y="2616098"/>
            <a:ext cx="1505102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WellYMS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572207" y="2844698"/>
            <a:ext cx="1505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Yard Management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2572207" y="3034894"/>
            <a:ext cx="15051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Storage, stacking and slotting managed down to the vehicle and location.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4304995" y="2501798"/>
            <a:ext cx="1733702" cy="1244498"/>
          </a:xfrm>
          <a:prstGeom prst="roundRect">
            <a:avLst>
              <a:gd name="adj" fmla="val 4115"/>
            </a:avLst>
          </a:prstGeom>
          <a:solidFill>
            <a:srgbClr val="FFFFFF"/>
          </a:solidFill>
          <a:ln w="20320">
            <a:solidFill>
              <a:srgbClr val="00B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304995" y="2501798"/>
            <a:ext cx="1733702" cy="32004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20" name="Text 17"/>
          <p:cNvSpPr/>
          <p:nvPr/>
        </p:nvSpPr>
        <p:spPr>
          <a:xfrm>
            <a:off x="4419295" y="2616098"/>
            <a:ext cx="1505102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B0F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WellSmart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419295" y="2844698"/>
            <a:ext cx="1505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Scheduling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4419295" y="3034894"/>
            <a:ext cx="15051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Real-time, dynamic whole-yard scheduling — the platform core.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6152998" y="2501798"/>
            <a:ext cx="1733702" cy="1244498"/>
          </a:xfrm>
          <a:prstGeom prst="roundRect">
            <a:avLst>
              <a:gd name="adj" fmla="val 411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152998" y="2501798"/>
            <a:ext cx="1733702" cy="3200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5" name="Text 22"/>
          <p:cNvSpPr/>
          <p:nvPr/>
        </p:nvSpPr>
        <p:spPr>
          <a:xfrm>
            <a:off x="6267298" y="2616098"/>
            <a:ext cx="1505102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WellSimtec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267298" y="2844698"/>
            <a:ext cx="1505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Simulation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6267298" y="3034894"/>
            <a:ext cx="15051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High-fidelity digital twin to validate plans before execution.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8001000" y="2501798"/>
            <a:ext cx="1733702" cy="1244498"/>
          </a:xfrm>
          <a:prstGeom prst="roundRect">
            <a:avLst>
              <a:gd name="adj" fmla="val 411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8001000" y="2501798"/>
            <a:ext cx="1733702" cy="3200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0" name="Text 27"/>
          <p:cNvSpPr/>
          <p:nvPr/>
        </p:nvSpPr>
        <p:spPr>
          <a:xfrm>
            <a:off x="8115300" y="2616098"/>
            <a:ext cx="1505102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WellEMS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115300" y="2844698"/>
            <a:ext cx="1505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Energy Mgmt</a:t>
            </a:r>
            <a:endParaRPr lang="en-US" sz="650" dirty="0"/>
          </a:p>
        </p:txBody>
      </p:sp>
      <p:sp>
        <p:nvSpPr>
          <p:cNvPr id="32" name="Text 29"/>
          <p:cNvSpPr/>
          <p:nvPr/>
        </p:nvSpPr>
        <p:spPr>
          <a:xfrm>
            <a:off x="8115300" y="3034894"/>
            <a:ext cx="15051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Energy and carbon visibility turned into measurable savings.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9849002" y="2501798"/>
            <a:ext cx="1733702" cy="1244498"/>
          </a:xfrm>
          <a:prstGeom prst="roundRect">
            <a:avLst>
              <a:gd name="adj" fmla="val 411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9849002" y="2501798"/>
            <a:ext cx="1733702" cy="3200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5" name="Text 32"/>
          <p:cNvSpPr/>
          <p:nvPr/>
        </p:nvSpPr>
        <p:spPr>
          <a:xfrm>
            <a:off x="9963302" y="2616098"/>
            <a:ext cx="1505102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Digital Brain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9963302" y="2844698"/>
            <a:ext cx="1505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 Twin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9963302" y="3034894"/>
            <a:ext cx="15051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 monitoring, real-time alerts and history replay.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609905" y="3834994"/>
            <a:ext cx="10972800" cy="304495"/>
          </a:xfrm>
          <a:prstGeom prst="roundRect">
            <a:avLst>
              <a:gd name="adj" fmla="val 16817"/>
            </a:avLst>
          </a:prstGeom>
          <a:solidFill>
            <a:srgbClr val="002060"/>
          </a:solidFill>
          <a:ln/>
        </p:spPr>
      </p:sp>
      <p:sp>
        <p:nvSpPr>
          <p:cNvPr id="39" name="Text 36"/>
          <p:cNvSpPr/>
          <p:nvPr/>
        </p:nvSpPr>
        <p:spPr>
          <a:xfrm>
            <a:off x="761695" y="3905402"/>
            <a:ext cx="10668305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Algorithms &amp; Models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609905" y="4216298"/>
            <a:ext cx="5429707" cy="584302"/>
          </a:xfrm>
          <a:prstGeom prst="roundRect">
            <a:avLst>
              <a:gd name="adj" fmla="val 876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609905" y="4216298"/>
            <a:ext cx="5429707" cy="3200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42" name="Text 39"/>
          <p:cNvSpPr/>
          <p:nvPr/>
        </p:nvSpPr>
        <p:spPr>
          <a:xfrm>
            <a:off x="724205" y="4330598"/>
            <a:ext cx="5201107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Unified Scheduling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724205" y="4559198"/>
            <a:ext cx="5201107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Global coordination of horizontal &amp; vertical, manned &amp; unmanned transport.</a:t>
            </a:r>
            <a:endParaRPr lang="en-US" sz="700" dirty="0"/>
          </a:p>
        </p:txBody>
      </p:sp>
      <p:sp>
        <p:nvSpPr>
          <p:cNvPr id="44" name="Shape 41"/>
          <p:cNvSpPr/>
          <p:nvPr/>
        </p:nvSpPr>
        <p:spPr>
          <a:xfrm>
            <a:off x="6152998" y="4216298"/>
            <a:ext cx="5429707" cy="584302"/>
          </a:xfrm>
          <a:prstGeom prst="roundRect">
            <a:avLst>
              <a:gd name="adj" fmla="val 876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6152998" y="4216298"/>
            <a:ext cx="5429707" cy="3200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46" name="Text 43"/>
          <p:cNvSpPr/>
          <p:nvPr/>
        </p:nvSpPr>
        <p:spPr>
          <a:xfrm>
            <a:off x="6267298" y="4330598"/>
            <a:ext cx="5201107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Path Planning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6267298" y="4559198"/>
            <a:ext cx="5201107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Space-time consistent global and local path planning.</a:t>
            </a:r>
            <a:endParaRPr lang="en-US" sz="700" dirty="0"/>
          </a:p>
        </p:txBody>
      </p:sp>
      <p:sp>
        <p:nvSpPr>
          <p:cNvPr id="48" name="Shape 45"/>
          <p:cNvSpPr/>
          <p:nvPr/>
        </p:nvSpPr>
        <p:spPr>
          <a:xfrm>
            <a:off x="609905" y="4889297"/>
            <a:ext cx="10972800" cy="381305"/>
          </a:xfrm>
          <a:prstGeom prst="roundRect">
            <a:avLst>
              <a:gd name="adj" fmla="val 13429"/>
            </a:avLst>
          </a:prstGeom>
          <a:solidFill>
            <a:srgbClr val="002060"/>
          </a:solidFill>
          <a:ln/>
        </p:spPr>
      </p:sp>
      <p:sp>
        <p:nvSpPr>
          <p:cNvPr id="49" name="Text 46"/>
          <p:cNvSpPr/>
          <p:nvPr/>
        </p:nvSpPr>
        <p:spPr>
          <a:xfrm>
            <a:off x="761695" y="4940503"/>
            <a:ext cx="10668305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Hymala Logistics Large-Model Matrix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609905" y="5117897"/>
            <a:ext cx="10972800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D7DE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Foundation models underpinning whole-yard coordination across all transport types</a:t>
            </a:r>
            <a:endParaRPr lang="en-US" sz="650" dirty="0"/>
          </a:p>
        </p:txBody>
      </p:sp>
      <p:pic>
        <p:nvPicPr>
          <p:cNvPr id="51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Scenario Architecture · Dual Engines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905" y="1054303"/>
            <a:ext cx="7492594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In-port operations × cross-border supply chain, in one closed loop.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984602" y="1416406"/>
            <a:ext cx="6223406" cy="317297"/>
          </a:xfrm>
          <a:prstGeom prst="roundRect">
            <a:avLst>
              <a:gd name="adj" fmla="val 16138"/>
            </a:avLst>
          </a:prstGeom>
          <a:solidFill>
            <a:srgbClr val="E5F5FD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984602" y="1492301"/>
            <a:ext cx="6223406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End-to-end production, transport and supply-chain management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309006" y="1809598"/>
            <a:ext cx="1574597" cy="755294"/>
          </a:xfrm>
          <a:prstGeom prst="upArrow">
            <a:avLst/>
          </a:prstGeom>
          <a:solidFill>
            <a:srgbClr val="E5F5FD"/>
          </a:solidFill>
          <a:ln w="17780">
            <a:solidFill>
              <a:srgbClr val="00B0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35194" y="1984248"/>
            <a:ext cx="1320394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7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Joint output: plans · supply · adjustments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952805" y="1891894"/>
            <a:ext cx="1904695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Production · Input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952805" y="2197303"/>
            <a:ext cx="1904695" cy="609905"/>
          </a:xfrm>
          <a:prstGeom prst="roundRect">
            <a:avLst>
              <a:gd name="adj" fmla="val 839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52805" y="2197303"/>
            <a:ext cx="38405" cy="60990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3" name="Shape 10"/>
          <p:cNvSpPr/>
          <p:nvPr/>
        </p:nvSpPr>
        <p:spPr>
          <a:xfrm>
            <a:off x="1136599" y="2381098"/>
            <a:ext cx="190195" cy="241402"/>
          </a:xfrm>
          <a:prstGeom prst="roundRect">
            <a:avLst>
              <a:gd name="adj" fmla="val 13462"/>
            </a:avLst>
          </a:prstGeom>
          <a:solidFill>
            <a:srgbClr val="002060"/>
          </a:solidFill>
          <a:ln/>
        </p:spPr>
      </p:sp>
      <p:sp>
        <p:nvSpPr>
          <p:cNvPr id="14" name="Shape 11"/>
          <p:cNvSpPr/>
          <p:nvPr/>
        </p:nvSpPr>
        <p:spPr>
          <a:xfrm>
            <a:off x="1181405" y="2463394"/>
            <a:ext cx="10149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81405" y="2521001"/>
            <a:ext cx="10149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485900" y="2324405"/>
            <a:ext cx="1270102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Production Plan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485900" y="2527402"/>
            <a:ext cx="1270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tempo &amp; exceptions</a:t>
            </a:r>
            <a:endParaRPr lang="en-US" sz="600" dirty="0"/>
          </a:p>
        </p:txBody>
      </p:sp>
      <p:sp>
        <p:nvSpPr>
          <p:cNvPr id="18" name="Shape 15"/>
          <p:cNvSpPr/>
          <p:nvPr/>
        </p:nvSpPr>
        <p:spPr>
          <a:xfrm>
            <a:off x="952805" y="2946197"/>
            <a:ext cx="1904695" cy="609905"/>
          </a:xfrm>
          <a:prstGeom prst="roundRect">
            <a:avLst>
              <a:gd name="adj" fmla="val 839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952805" y="2946197"/>
            <a:ext cx="38405" cy="60990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0" name="Shape 17"/>
          <p:cNvSpPr/>
          <p:nvPr/>
        </p:nvSpPr>
        <p:spPr>
          <a:xfrm>
            <a:off x="1110996" y="3130906"/>
            <a:ext cx="241402" cy="241402"/>
          </a:xfrm>
          <a:prstGeom prst="donut">
            <a:avLst/>
          </a:prstGeom>
          <a:solidFill>
            <a:srgbClr val="002060"/>
          </a:solidFill>
          <a:ln/>
        </p:spPr>
      </p:sp>
      <p:sp>
        <p:nvSpPr>
          <p:cNvPr id="21" name="Text 18"/>
          <p:cNvSpPr/>
          <p:nvPr/>
        </p:nvSpPr>
        <p:spPr>
          <a:xfrm>
            <a:off x="1485900" y="3073298"/>
            <a:ext cx="1270102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Resource Dispatch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485900" y="3276295"/>
            <a:ext cx="1270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equipment · vehicles</a:t>
            </a:r>
            <a:endParaRPr lang="en-US" sz="600" dirty="0"/>
          </a:p>
        </p:txBody>
      </p:sp>
      <p:sp>
        <p:nvSpPr>
          <p:cNvPr id="23" name="Shape 20"/>
          <p:cNvSpPr/>
          <p:nvPr/>
        </p:nvSpPr>
        <p:spPr>
          <a:xfrm>
            <a:off x="952805" y="3696005"/>
            <a:ext cx="1904695" cy="609905"/>
          </a:xfrm>
          <a:prstGeom prst="roundRect">
            <a:avLst>
              <a:gd name="adj" fmla="val 839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952805" y="3696005"/>
            <a:ext cx="38405" cy="60990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5" name="Shape 22"/>
          <p:cNvSpPr/>
          <p:nvPr/>
        </p:nvSpPr>
        <p:spPr>
          <a:xfrm>
            <a:off x="1123798" y="3905402"/>
            <a:ext cx="215798" cy="190195"/>
          </a:xfrm>
          <a:prstGeom prst="cube">
            <a:avLst/>
          </a:prstGeom>
          <a:solidFill>
            <a:srgbClr val="002060"/>
          </a:solidFill>
          <a:ln/>
        </p:spPr>
      </p:sp>
      <p:sp>
        <p:nvSpPr>
          <p:cNvPr id="26" name="Text 23"/>
          <p:cNvSpPr/>
          <p:nvPr/>
        </p:nvSpPr>
        <p:spPr>
          <a:xfrm>
            <a:off x="1485900" y="3823106"/>
            <a:ext cx="1270102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Inventory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1485900" y="4026103"/>
            <a:ext cx="1270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 · finished · yard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9334195" y="1891894"/>
            <a:ext cx="1904695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7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Supply-chain · Output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9334195" y="2197303"/>
            <a:ext cx="1904695" cy="609905"/>
          </a:xfrm>
          <a:prstGeom prst="roundRect">
            <a:avLst>
              <a:gd name="adj" fmla="val 839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9334195" y="2197303"/>
            <a:ext cx="38405" cy="609905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31" name="Shape 28"/>
          <p:cNvSpPr/>
          <p:nvPr/>
        </p:nvSpPr>
        <p:spPr>
          <a:xfrm>
            <a:off x="9499702" y="2387498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32" name="Shape 29"/>
          <p:cNvSpPr/>
          <p:nvPr/>
        </p:nvSpPr>
        <p:spPr>
          <a:xfrm>
            <a:off x="9499702" y="2501798"/>
            <a:ext cx="2286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562795" y="2387498"/>
            <a:ext cx="101498" cy="228600"/>
          </a:xfrm>
          <a:prstGeom prst="ellipse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868205" y="2324405"/>
            <a:ext cx="1270102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7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Cross-border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9868205" y="2527402"/>
            <a:ext cx="1270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customs · trade</a:t>
            </a:r>
            <a:endParaRPr lang="en-US" sz="600" dirty="0"/>
          </a:p>
        </p:txBody>
      </p:sp>
      <p:sp>
        <p:nvSpPr>
          <p:cNvPr id="36" name="Shape 33"/>
          <p:cNvSpPr/>
          <p:nvPr/>
        </p:nvSpPr>
        <p:spPr>
          <a:xfrm>
            <a:off x="9334195" y="2946197"/>
            <a:ext cx="1904695" cy="609905"/>
          </a:xfrm>
          <a:prstGeom prst="roundRect">
            <a:avLst>
              <a:gd name="adj" fmla="val 839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9334195" y="2946197"/>
            <a:ext cx="38405" cy="609905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38" name="Shape 35"/>
          <p:cNvSpPr/>
          <p:nvPr/>
        </p:nvSpPr>
        <p:spPr>
          <a:xfrm>
            <a:off x="9499702" y="3137306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39" name="Text 36"/>
          <p:cNvSpPr/>
          <p:nvPr/>
        </p:nvSpPr>
        <p:spPr>
          <a:xfrm>
            <a:off x="9499702" y="313090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9868205" y="3073298"/>
            <a:ext cx="1270102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7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 Finance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9868205" y="3276295"/>
            <a:ext cx="1270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credit · factoring</a:t>
            </a:r>
            <a:endParaRPr lang="en-US" sz="600" dirty="0"/>
          </a:p>
        </p:txBody>
      </p:sp>
      <p:sp>
        <p:nvSpPr>
          <p:cNvPr id="42" name="Shape 39"/>
          <p:cNvSpPr/>
          <p:nvPr/>
        </p:nvSpPr>
        <p:spPr>
          <a:xfrm>
            <a:off x="9334195" y="3696005"/>
            <a:ext cx="1904695" cy="609905"/>
          </a:xfrm>
          <a:prstGeom prst="roundRect">
            <a:avLst>
              <a:gd name="adj" fmla="val 839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9334195" y="3696005"/>
            <a:ext cx="38405" cy="609905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44" name="Shape 41"/>
          <p:cNvSpPr/>
          <p:nvPr/>
        </p:nvSpPr>
        <p:spPr>
          <a:xfrm>
            <a:off x="9499702" y="4013302"/>
            <a:ext cx="63094" cy="75895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45" name="Shape 42"/>
          <p:cNvSpPr/>
          <p:nvPr/>
        </p:nvSpPr>
        <p:spPr>
          <a:xfrm>
            <a:off x="9581998" y="3968496"/>
            <a:ext cx="63094" cy="120701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46" name="Shape 43"/>
          <p:cNvSpPr/>
          <p:nvPr/>
        </p:nvSpPr>
        <p:spPr>
          <a:xfrm>
            <a:off x="9664294" y="3924605"/>
            <a:ext cx="63094" cy="165506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47" name="Text 44"/>
          <p:cNvSpPr/>
          <p:nvPr/>
        </p:nvSpPr>
        <p:spPr>
          <a:xfrm>
            <a:off x="9868205" y="3823106"/>
            <a:ext cx="1270102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7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Risk &amp; Data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9868205" y="4026103"/>
            <a:ext cx="1270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control · insight</a:t>
            </a:r>
            <a:endParaRPr lang="en-US" sz="600" dirty="0"/>
          </a:p>
        </p:txBody>
      </p:sp>
      <p:sp>
        <p:nvSpPr>
          <p:cNvPr id="49" name="Shape 46"/>
          <p:cNvSpPr/>
          <p:nvPr/>
        </p:nvSpPr>
        <p:spPr>
          <a:xfrm>
            <a:off x="2984602" y="2984602"/>
            <a:ext cx="1345997" cy="533095"/>
          </a:xfrm>
          <a:prstGeom prst="rightArrow">
            <a:avLst/>
          </a:prstGeom>
          <a:solidFill>
            <a:srgbClr val="E5F5FD"/>
          </a:solidFill>
          <a:ln w="17780">
            <a:solidFill>
              <a:srgbClr val="00B0F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984602" y="3149194"/>
            <a:ext cx="1282903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in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7861097" y="2984602"/>
            <a:ext cx="1345997" cy="533095"/>
          </a:xfrm>
          <a:prstGeom prst="rightArrow">
            <a:avLst/>
          </a:prstGeom>
          <a:solidFill>
            <a:srgbClr val="E5F5FD"/>
          </a:solidFill>
          <a:ln w="17780">
            <a:solidFill>
              <a:srgbClr val="00B0F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861097" y="3149194"/>
            <a:ext cx="1282903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 out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4401007" y="2533802"/>
            <a:ext cx="1434694" cy="1434694"/>
          </a:xfrm>
          <a:prstGeom prst="ellipse">
            <a:avLst/>
          </a:prstGeom>
          <a:solidFill>
            <a:srgbClr val="36468F"/>
          </a:solidFill>
          <a:ln/>
        </p:spPr>
      </p:sp>
      <p:sp>
        <p:nvSpPr>
          <p:cNvPr id="54" name="Shape 51"/>
          <p:cNvSpPr/>
          <p:nvPr/>
        </p:nvSpPr>
        <p:spPr>
          <a:xfrm>
            <a:off x="4483303" y="2616098"/>
            <a:ext cx="1270102" cy="1270102"/>
          </a:xfrm>
          <a:prstGeom prst="ellipse">
            <a:avLst/>
          </a:prstGeom>
          <a:solidFill>
            <a:srgbClr val="002060"/>
          </a:solidFill>
          <a:ln/>
          <a:effectLst>
            <a:outerShdw sx="100000" sy="100000" kx="0" ky="0" algn="bl" rotWithShape="0" blurRad="114300" dist="38100" dir="5400000">
              <a:srgbClr val="1A2030">
                <a:alpha val="18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4997196" y="2851099"/>
            <a:ext cx="241402" cy="241402"/>
          </a:xfrm>
          <a:prstGeom prst="donut">
            <a:avLst/>
          </a:prstGeom>
          <a:solidFill>
            <a:srgbClr val="FFFFFF"/>
          </a:solidFill>
          <a:ln/>
        </p:spPr>
      </p:sp>
      <p:sp>
        <p:nvSpPr>
          <p:cNvPr id="56" name="Shape 53"/>
          <p:cNvSpPr/>
          <p:nvPr/>
        </p:nvSpPr>
        <p:spPr>
          <a:xfrm>
            <a:off x="5080406" y="2933395"/>
            <a:ext cx="75895" cy="7589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7" name="Text 54"/>
          <p:cNvSpPr/>
          <p:nvPr/>
        </p:nvSpPr>
        <p:spPr>
          <a:xfrm>
            <a:off x="4483303" y="3213202"/>
            <a:ext cx="1270102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ReeWell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4546397" y="3441802"/>
            <a:ext cx="114300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630" dirty="0">
                <a:solidFill>
                  <a:srgbClr val="EAF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In-port operations control</a:t>
            </a:r>
            <a:endParaRPr lang="en-US" sz="630" dirty="0"/>
          </a:p>
        </p:txBody>
      </p:sp>
      <p:sp>
        <p:nvSpPr>
          <p:cNvPr id="59" name="Shape 56"/>
          <p:cNvSpPr/>
          <p:nvPr/>
        </p:nvSpPr>
        <p:spPr>
          <a:xfrm>
            <a:off x="6355994" y="2533802"/>
            <a:ext cx="1434694" cy="1434694"/>
          </a:xfrm>
          <a:prstGeom prst="ellipse">
            <a:avLst/>
          </a:prstGeom>
          <a:solidFill>
            <a:srgbClr val="5E97B6"/>
          </a:solidFill>
          <a:ln/>
        </p:spPr>
      </p:sp>
      <p:sp>
        <p:nvSpPr>
          <p:cNvPr id="60" name="Shape 57"/>
          <p:cNvSpPr/>
          <p:nvPr/>
        </p:nvSpPr>
        <p:spPr>
          <a:xfrm>
            <a:off x="6439205" y="2616098"/>
            <a:ext cx="1270102" cy="1270102"/>
          </a:xfrm>
          <a:prstGeom prst="ellipse">
            <a:avLst/>
          </a:prstGeom>
          <a:solidFill>
            <a:srgbClr val="0070C0"/>
          </a:solidFill>
          <a:ln/>
          <a:effectLst>
            <a:outerShdw sx="100000" sy="100000" kx="0" ky="0" algn="bl" rotWithShape="0" blurRad="114300" dist="38100" dir="5400000">
              <a:srgbClr val="1A2030">
                <a:alpha val="18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 flipV="1">
            <a:off x="6965899" y="2902306"/>
            <a:ext cx="95098" cy="152705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7060997" y="2902306"/>
            <a:ext cx="120701" cy="127102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63" name="Text 60"/>
          <p:cNvSpPr/>
          <p:nvPr/>
        </p:nvSpPr>
        <p:spPr>
          <a:xfrm>
            <a:off x="6439205" y="3213202"/>
            <a:ext cx="1270102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LOOPO</a:t>
            </a:r>
            <a:endParaRPr lang="en-US" sz="1000" dirty="0"/>
          </a:p>
        </p:txBody>
      </p:sp>
      <p:sp>
        <p:nvSpPr>
          <p:cNvPr id="64" name="Text 61"/>
          <p:cNvSpPr/>
          <p:nvPr/>
        </p:nvSpPr>
        <p:spPr>
          <a:xfrm>
            <a:off x="6502298" y="3441802"/>
            <a:ext cx="114300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630" dirty="0">
                <a:solidFill>
                  <a:srgbClr val="EAF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Cross-border transport mgmt</a:t>
            </a:r>
            <a:endParaRPr lang="en-US" sz="630" dirty="0"/>
          </a:p>
        </p:txBody>
      </p:sp>
      <p:sp>
        <p:nvSpPr>
          <p:cNvPr id="65" name="Shape 62"/>
          <p:cNvSpPr/>
          <p:nvPr/>
        </p:nvSpPr>
        <p:spPr>
          <a:xfrm>
            <a:off x="5790895" y="3034894"/>
            <a:ext cx="609905" cy="431597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B0F0"/>
            </a:solidFill>
            <a:prstDash val="solid"/>
          </a:ln>
          <a:effectLst>
            <a:outerShdw sx="100000" sy="100000" kx="0" ky="0" algn="bl" rotWithShape="0" blurRad="114300" dist="38100" dir="5400000">
              <a:srgbClr val="1A2030">
                <a:alpha val="18000"/>
              </a:srgbClr>
            </a:outerShdw>
          </a:effectLst>
        </p:spPr>
      </p:sp>
      <p:sp>
        <p:nvSpPr>
          <p:cNvPr id="66" name="Shape 63"/>
          <p:cNvSpPr/>
          <p:nvPr/>
        </p:nvSpPr>
        <p:spPr>
          <a:xfrm>
            <a:off x="5905195" y="3174797"/>
            <a:ext cx="381305" cy="0"/>
          </a:xfrm>
          <a:prstGeom prst="line">
            <a:avLst/>
          </a:prstGeom>
          <a:noFill/>
          <a:ln w="25400">
            <a:solidFill>
              <a:srgbClr val="00B0F0"/>
            </a:solidFill>
            <a:prstDash val="solid"/>
            <a:tailEnd type="triangle"/>
          </a:ln>
        </p:spPr>
      </p:sp>
      <p:sp>
        <p:nvSpPr>
          <p:cNvPr id="67" name="Shape 64"/>
          <p:cNvSpPr/>
          <p:nvPr/>
        </p:nvSpPr>
        <p:spPr>
          <a:xfrm flipH="1">
            <a:off x="5905195" y="3263494"/>
            <a:ext cx="381305" cy="0"/>
          </a:xfrm>
          <a:prstGeom prst="line">
            <a:avLst/>
          </a:prstGeom>
          <a:noFill/>
          <a:ln w="25400">
            <a:solidFill>
              <a:srgbClr val="00B0F0"/>
            </a:solidFill>
            <a:prstDash val="solid"/>
            <a:tailEnd type="triangle"/>
          </a:ln>
        </p:spPr>
      </p:sp>
      <p:sp>
        <p:nvSpPr>
          <p:cNvPr id="68" name="Text 65"/>
          <p:cNvSpPr/>
          <p:nvPr/>
        </p:nvSpPr>
        <p:spPr>
          <a:xfrm>
            <a:off x="5790895" y="3301898"/>
            <a:ext cx="60990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Link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4826203" y="3987698"/>
            <a:ext cx="2540203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Information &amp; command linkage</a:t>
            </a:r>
            <a:endParaRPr lang="en-US" sz="700" dirty="0"/>
          </a:p>
        </p:txBody>
      </p:sp>
      <p:sp>
        <p:nvSpPr>
          <p:cNvPr id="70" name="Shape 67"/>
          <p:cNvSpPr/>
          <p:nvPr/>
        </p:nvSpPr>
        <p:spPr>
          <a:xfrm>
            <a:off x="5003597" y="4026103"/>
            <a:ext cx="228600" cy="1218895"/>
          </a:xfrm>
          <a:prstGeom prst="upArrow">
            <a:avLst/>
          </a:prstGeom>
          <a:solidFill>
            <a:srgbClr val="DBEBF8"/>
          </a:solidFill>
          <a:ln w="17780">
            <a:solidFill>
              <a:srgbClr val="0070C0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6959498" y="4026103"/>
            <a:ext cx="228600" cy="1218895"/>
          </a:xfrm>
          <a:prstGeom prst="upArrow">
            <a:avLst/>
          </a:prstGeom>
          <a:solidFill>
            <a:srgbClr val="DBEBF8"/>
          </a:solidFill>
          <a:ln w="17780">
            <a:solidFill>
              <a:srgbClr val="0070C0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651906" y="4546397"/>
            <a:ext cx="888797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07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boost</a:t>
            </a:r>
            <a:endParaRPr lang="en-US" sz="700" dirty="0"/>
          </a:p>
        </p:txBody>
      </p:sp>
      <p:sp>
        <p:nvSpPr>
          <p:cNvPr id="73" name="Shape 70"/>
          <p:cNvSpPr/>
          <p:nvPr/>
        </p:nvSpPr>
        <p:spPr>
          <a:xfrm>
            <a:off x="3047695" y="5283403"/>
            <a:ext cx="6096305" cy="711403"/>
          </a:xfrm>
          <a:prstGeom prst="roundRect">
            <a:avLst>
              <a:gd name="adj" fmla="val 7198"/>
            </a:avLst>
          </a:prstGeom>
          <a:solidFill>
            <a:srgbClr val="002060"/>
          </a:solidFill>
          <a:ln/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74" name="Shape 71"/>
          <p:cNvSpPr/>
          <p:nvPr/>
        </p:nvSpPr>
        <p:spPr>
          <a:xfrm>
            <a:off x="3213202" y="5384902"/>
            <a:ext cx="368503" cy="279806"/>
          </a:xfrm>
          <a:prstGeom prst="can">
            <a:avLst/>
          </a:prstGeom>
          <a:solidFill>
            <a:srgbClr val="0070C0"/>
          </a:solidFill>
          <a:ln/>
        </p:spPr>
      </p:sp>
      <p:sp>
        <p:nvSpPr>
          <p:cNvPr id="75" name="Text 72"/>
          <p:cNvSpPr/>
          <p:nvPr/>
        </p:nvSpPr>
        <p:spPr>
          <a:xfrm>
            <a:off x="3683203" y="5423306"/>
            <a:ext cx="5270602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WellSmart · Full-element AI scheduling base</a:t>
            </a:r>
            <a:endParaRPr lang="en-US" sz="900" dirty="0"/>
          </a:p>
        </p:txBody>
      </p:sp>
      <p:sp>
        <p:nvSpPr>
          <p:cNvPr id="76" name="Shape 73"/>
          <p:cNvSpPr/>
          <p:nvPr/>
        </p:nvSpPr>
        <p:spPr>
          <a:xfrm>
            <a:off x="3295498" y="5689397"/>
            <a:ext cx="1333195" cy="228600"/>
          </a:xfrm>
          <a:prstGeom prst="roundRect">
            <a:avLst>
              <a:gd name="adj" fmla="val 22400"/>
            </a:avLst>
          </a:prstGeom>
          <a:solidFill>
            <a:srgbClr val="24347A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3295498" y="5734202"/>
            <a:ext cx="133319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DCEA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Big Data</a:t>
            </a:r>
            <a:endParaRPr lang="en-US" sz="650" dirty="0"/>
          </a:p>
        </p:txBody>
      </p:sp>
      <p:sp>
        <p:nvSpPr>
          <p:cNvPr id="78" name="Shape 75"/>
          <p:cNvSpPr/>
          <p:nvPr/>
        </p:nvSpPr>
        <p:spPr>
          <a:xfrm>
            <a:off x="4718304" y="5689397"/>
            <a:ext cx="1333195" cy="228600"/>
          </a:xfrm>
          <a:prstGeom prst="roundRect">
            <a:avLst>
              <a:gd name="adj" fmla="val 22400"/>
            </a:avLst>
          </a:prstGeom>
          <a:solidFill>
            <a:srgbClr val="24347A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4718304" y="5734202"/>
            <a:ext cx="133319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DCEA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Simulation</a:t>
            </a:r>
            <a:endParaRPr lang="en-US" sz="650" dirty="0"/>
          </a:p>
        </p:txBody>
      </p:sp>
      <p:sp>
        <p:nvSpPr>
          <p:cNvPr id="80" name="Shape 77"/>
          <p:cNvSpPr/>
          <p:nvPr/>
        </p:nvSpPr>
        <p:spPr>
          <a:xfrm>
            <a:off x="6140196" y="5689397"/>
            <a:ext cx="1333195" cy="228600"/>
          </a:xfrm>
          <a:prstGeom prst="roundRect">
            <a:avLst>
              <a:gd name="adj" fmla="val 22400"/>
            </a:avLst>
          </a:prstGeom>
          <a:solidFill>
            <a:srgbClr val="24347A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6140196" y="5734202"/>
            <a:ext cx="133319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DCEA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Agents</a:t>
            </a:r>
            <a:endParaRPr lang="en-US" sz="650" dirty="0"/>
          </a:p>
        </p:txBody>
      </p:sp>
      <p:sp>
        <p:nvSpPr>
          <p:cNvPr id="82" name="Shape 79"/>
          <p:cNvSpPr/>
          <p:nvPr/>
        </p:nvSpPr>
        <p:spPr>
          <a:xfrm>
            <a:off x="7563002" y="5689397"/>
            <a:ext cx="1333195" cy="228600"/>
          </a:xfrm>
          <a:prstGeom prst="roundRect">
            <a:avLst>
              <a:gd name="adj" fmla="val 22400"/>
            </a:avLst>
          </a:prstGeom>
          <a:solidFill>
            <a:srgbClr val="24347A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7563002" y="5734202"/>
            <a:ext cx="133319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DCEA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Tempo Scheduling</a:t>
            </a:r>
            <a:endParaRPr lang="en-US" sz="650" dirty="0"/>
          </a:p>
        </p:txBody>
      </p:sp>
      <p:pic>
        <p:nvPicPr>
          <p:cNvPr id="84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Proven, Quantified Value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905" y="1054303"/>
            <a:ext cx="7492594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Outcomes from live international deployments.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905" y="1714500"/>
            <a:ext cx="3416198" cy="1714500"/>
          </a:xfrm>
          <a:prstGeom prst="roundRect">
            <a:avLst>
              <a:gd name="adj" fmla="val 298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9905" y="1714500"/>
            <a:ext cx="3416198" cy="38405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8" name="Text 5"/>
          <p:cNvSpPr/>
          <p:nvPr/>
        </p:nvSpPr>
        <p:spPr>
          <a:xfrm>
            <a:off x="800100" y="1981505"/>
            <a:ext cx="165140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0B0F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30%</a:t>
            </a:r>
            <a:endParaRPr lang="en-US" sz="2900" dirty="0"/>
          </a:p>
        </p:txBody>
      </p:sp>
      <p:sp>
        <p:nvSpPr>
          <p:cNvPr id="9" name="Text 6"/>
          <p:cNvSpPr/>
          <p:nvPr/>
        </p:nvSpPr>
        <p:spPr>
          <a:xfrm>
            <a:off x="800100" y="2514600"/>
            <a:ext cx="3034894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Throughput Lift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0100" y="2831897"/>
            <a:ext cx="3034894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Crane-to-yard cycle efficiency in mixed manned/unmanned fleets.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267505" y="1714500"/>
            <a:ext cx="3416198" cy="1714500"/>
          </a:xfrm>
          <a:prstGeom prst="roundRect">
            <a:avLst>
              <a:gd name="adj" fmla="val 298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67505" y="1714500"/>
            <a:ext cx="3416198" cy="3840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3" name="Text 10"/>
          <p:cNvSpPr/>
          <p:nvPr/>
        </p:nvSpPr>
        <p:spPr>
          <a:xfrm>
            <a:off x="4457700" y="1981505"/>
            <a:ext cx="165140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24/7</a:t>
            </a:r>
            <a:endParaRPr lang="en-US" sz="2900" dirty="0"/>
          </a:p>
        </p:txBody>
      </p:sp>
      <p:sp>
        <p:nvSpPr>
          <p:cNvPr id="14" name="Text 11"/>
          <p:cNvSpPr/>
          <p:nvPr/>
        </p:nvSpPr>
        <p:spPr>
          <a:xfrm>
            <a:off x="4457700" y="2514600"/>
            <a:ext cx="3034894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Autonomy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457700" y="2831897"/>
            <a:ext cx="3034894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Continuous unmanned operation under live AI scheduling.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925105" y="1714500"/>
            <a:ext cx="3416198" cy="1714500"/>
          </a:xfrm>
          <a:prstGeom prst="roundRect">
            <a:avLst>
              <a:gd name="adj" fmla="val 298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925105" y="1714500"/>
            <a:ext cx="3416198" cy="3840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8" name="Text 15"/>
          <p:cNvSpPr/>
          <p:nvPr/>
        </p:nvSpPr>
        <p:spPr>
          <a:xfrm>
            <a:off x="8115300" y="1981505"/>
            <a:ext cx="165140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</a:t>
            </a:r>
            <a:endParaRPr lang="en-US" sz="2900" dirty="0"/>
          </a:p>
        </p:txBody>
      </p:sp>
      <p:sp>
        <p:nvSpPr>
          <p:cNvPr id="19" name="Text 16"/>
          <p:cNvSpPr/>
          <p:nvPr/>
        </p:nvSpPr>
        <p:spPr>
          <a:xfrm>
            <a:off x="8115300" y="2514600"/>
            <a:ext cx="3034894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 Ports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115300" y="2831897"/>
            <a:ext cx="3034894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Deployments across three continents, and counting.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09905" y="4101998"/>
            <a:ext cx="10972800" cy="418795"/>
          </a:xfrm>
          <a:prstGeom prst="roundRect">
            <a:avLst>
              <a:gd name="adj" fmla="val 1222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2902" y="4216298"/>
            <a:ext cx="1056680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Figures are deployment placeholders; production decks must cite source and boundary.</a:t>
            </a:r>
            <a:endParaRPr lang="en-US" sz="800" dirty="0"/>
          </a:p>
        </p:txBody>
      </p:sp>
      <p:pic>
        <p:nvPicPr>
          <p:cNvPr id="23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From Pilot to Full Autonomy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905" y="1054303"/>
            <a:ext cx="7492594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staged, low-risk deployment path.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981505" y="3187598"/>
            <a:ext cx="8229600" cy="0"/>
          </a:xfrm>
          <a:prstGeom prst="line">
            <a:avLst/>
          </a:prstGeom>
          <a:noFill/>
          <a:ln w="25400">
            <a:solidFill>
              <a:srgbClr val="D8E0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171700" y="3187598"/>
            <a:ext cx="2361895" cy="0"/>
          </a:xfrm>
          <a:prstGeom prst="line">
            <a:avLst/>
          </a:prstGeom>
          <a:noFill/>
          <a:ln w="17780">
            <a:solidFill>
              <a:srgbClr val="9AA7B4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711403" y="1891894"/>
            <a:ext cx="2540203" cy="1003097"/>
          </a:xfrm>
          <a:prstGeom prst="roundRect">
            <a:avLst>
              <a:gd name="adj" fmla="val 510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1403" y="1891894"/>
            <a:ext cx="2540203" cy="3200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0" name="Text 7"/>
          <p:cNvSpPr/>
          <p:nvPr/>
        </p:nvSpPr>
        <p:spPr>
          <a:xfrm>
            <a:off x="812902" y="2018995"/>
            <a:ext cx="233720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Assess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12902" y="2247595"/>
            <a:ext cx="2337206" cy="545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Survey yard, fleet and integration points.</a:t>
            </a:r>
            <a:endParaRPr lang="en-US" sz="650" dirty="0"/>
          </a:p>
        </p:txBody>
      </p:sp>
      <p:sp>
        <p:nvSpPr>
          <p:cNvPr id="12" name="Shape 9"/>
          <p:cNvSpPr/>
          <p:nvPr/>
        </p:nvSpPr>
        <p:spPr>
          <a:xfrm>
            <a:off x="1981505" y="2895905"/>
            <a:ext cx="0" cy="291694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841602" y="3047695"/>
            <a:ext cx="279806" cy="279806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/>
        </p:spPr>
      </p:sp>
      <p:sp>
        <p:nvSpPr>
          <p:cNvPr id="14" name="Text 11"/>
          <p:cNvSpPr/>
          <p:nvPr/>
        </p:nvSpPr>
        <p:spPr>
          <a:xfrm>
            <a:off x="1841602" y="3105302"/>
            <a:ext cx="279806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914900" y="3187598"/>
            <a:ext cx="2361895" cy="0"/>
          </a:xfrm>
          <a:prstGeom prst="line">
            <a:avLst/>
          </a:prstGeom>
          <a:noFill/>
          <a:ln w="17780">
            <a:solidFill>
              <a:srgbClr val="9AA7B4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454603" y="3480206"/>
            <a:ext cx="2540203" cy="1003097"/>
          </a:xfrm>
          <a:prstGeom prst="roundRect">
            <a:avLst>
              <a:gd name="adj" fmla="val 510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454603" y="3480206"/>
            <a:ext cx="2540203" cy="3200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8" name="Text 15"/>
          <p:cNvSpPr/>
          <p:nvPr/>
        </p:nvSpPr>
        <p:spPr>
          <a:xfrm>
            <a:off x="3556102" y="3606394"/>
            <a:ext cx="233720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Pilot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556102" y="3834994"/>
            <a:ext cx="2337206" cy="545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Deploy on one lane with humans in the loop.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4724705" y="3187598"/>
            <a:ext cx="0" cy="291694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84802" y="3047695"/>
            <a:ext cx="279806" cy="279806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/>
        </p:spPr>
      </p:sp>
      <p:sp>
        <p:nvSpPr>
          <p:cNvPr id="22" name="Text 19"/>
          <p:cNvSpPr/>
          <p:nvPr/>
        </p:nvSpPr>
        <p:spPr>
          <a:xfrm>
            <a:off x="4584802" y="3105302"/>
            <a:ext cx="279806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658100" y="3187598"/>
            <a:ext cx="2361895" cy="0"/>
          </a:xfrm>
          <a:prstGeom prst="line">
            <a:avLst/>
          </a:prstGeom>
          <a:noFill/>
          <a:ln w="17780">
            <a:solidFill>
              <a:srgbClr val="9AA7B4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6197803" y="1891894"/>
            <a:ext cx="2540203" cy="1003097"/>
          </a:xfrm>
          <a:prstGeom prst="roundRect">
            <a:avLst>
              <a:gd name="adj" fmla="val 5105"/>
            </a:avLst>
          </a:prstGeom>
          <a:solidFill>
            <a:srgbClr val="FFFFFF"/>
          </a:solidFill>
          <a:ln w="20320">
            <a:solidFill>
              <a:srgbClr val="00B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197803" y="1891894"/>
            <a:ext cx="2540203" cy="32004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26" name="Text 23"/>
          <p:cNvSpPr/>
          <p:nvPr/>
        </p:nvSpPr>
        <p:spPr>
          <a:xfrm>
            <a:off x="6299302" y="2018995"/>
            <a:ext cx="233720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Scale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299302" y="2247595"/>
            <a:ext cx="2337206" cy="545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Expand to the full yard under unified scheduling.</a:t>
            </a:r>
            <a:endParaRPr lang="en-US" sz="650" dirty="0"/>
          </a:p>
        </p:txBody>
      </p:sp>
      <p:sp>
        <p:nvSpPr>
          <p:cNvPr id="28" name="Shape 25"/>
          <p:cNvSpPr/>
          <p:nvPr/>
        </p:nvSpPr>
        <p:spPr>
          <a:xfrm>
            <a:off x="7467905" y="2895905"/>
            <a:ext cx="0" cy="291694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328002" y="3047695"/>
            <a:ext cx="279806" cy="279806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28002" y="3105302"/>
            <a:ext cx="279806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8941003" y="3480206"/>
            <a:ext cx="2540203" cy="1003097"/>
          </a:xfrm>
          <a:prstGeom prst="roundRect">
            <a:avLst>
              <a:gd name="adj" fmla="val 510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941003" y="3480206"/>
            <a:ext cx="2540203" cy="3200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3" name="Text 30"/>
          <p:cNvSpPr/>
          <p:nvPr/>
        </p:nvSpPr>
        <p:spPr>
          <a:xfrm>
            <a:off x="9042502" y="3606394"/>
            <a:ext cx="233720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Autonomy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9042502" y="3834994"/>
            <a:ext cx="2337206" cy="545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24/7 unmanned operation with AI foresight.</a:t>
            </a:r>
            <a:endParaRPr lang="en-US" sz="650" dirty="0"/>
          </a:p>
        </p:txBody>
      </p:sp>
      <p:sp>
        <p:nvSpPr>
          <p:cNvPr id="35" name="Shape 32"/>
          <p:cNvSpPr/>
          <p:nvPr/>
        </p:nvSpPr>
        <p:spPr>
          <a:xfrm>
            <a:off x="10211105" y="3187598"/>
            <a:ext cx="0" cy="291694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0071202" y="3047695"/>
            <a:ext cx="279806" cy="279806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/>
        </p:spPr>
      </p:sp>
      <p:sp>
        <p:nvSpPr>
          <p:cNvPr id="37" name="Text 34"/>
          <p:cNvSpPr/>
          <p:nvPr/>
        </p:nvSpPr>
        <p:spPr>
          <a:xfrm>
            <a:off x="10071202" y="3105302"/>
            <a:ext cx="279806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609905" y="5613502"/>
            <a:ext cx="10972800" cy="418795"/>
          </a:xfrm>
          <a:prstGeom prst="roundRect">
            <a:avLst>
              <a:gd name="adj" fmla="val 1222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12902" y="5727802"/>
            <a:ext cx="1056680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Each stage delivers value on its own — no big-bang cutover required.</a:t>
            </a:r>
            <a:endParaRPr lang="en-US" sz="800" dirty="0"/>
          </a:p>
        </p:txBody>
      </p:sp>
      <p:pic>
        <p:nvPicPr>
          <p:cNvPr id="40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51406" y="2553005"/>
            <a:ext cx="8889797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Smarter, Greener, </a:t>
            </a:r>
            <a:pPr algn="ctr" indent="0" marL="0">
              <a:buNone/>
            </a:pPr>
            <a:r>
              <a:rPr lang="en-US" sz="27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Autonomous Ports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826203" y="3429000"/>
            <a:ext cx="2540203" cy="0"/>
          </a:xfrm>
          <a:prstGeom prst="line">
            <a:avLst/>
          </a:prstGeom>
          <a:noFill/>
          <a:ln w="9525">
            <a:solidFill>
              <a:srgbClr val="0070C0"/>
            </a:solidFill>
            <a:prstDash val="lgDash"/>
          </a:ln>
        </p:spPr>
      </p:sp>
      <p:sp>
        <p:nvSpPr>
          <p:cNvPr id="5" name="Text 2"/>
          <p:cNvSpPr/>
          <p:nvPr/>
        </p:nvSpPr>
        <p:spPr>
          <a:xfrm>
            <a:off x="2286000" y="3594506"/>
            <a:ext cx="7619695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F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Make a Well Change.</a:t>
            </a:r>
            <a:endParaRPr lang="en-US" sz="1300" dirty="0"/>
          </a:p>
        </p:txBody>
      </p:sp>
      <p:pic>
        <p:nvPicPr>
          <p:cNvPr id="6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2026-06-23T08:17:53Z</dcterms:created>
  <dcterms:modified xsi:type="dcterms:W3CDTF">2026-06-23T08:17:53Z</dcterms:modified>
</cp:coreProperties>
</file>