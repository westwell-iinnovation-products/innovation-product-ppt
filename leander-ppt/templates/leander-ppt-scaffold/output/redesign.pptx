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效率提升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0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F6F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</c:ser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设备利用率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06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F6F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92</c:v>
                </c:pt>
                <c:pt idx="1">
                  <c:v>8</c:v>
                </c:pt>
              </c:numCache>
            </c:numRef>
          </c:val>
        </c:ser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研发占比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06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F6F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系统可用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06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F6F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99.9</c:v>
                </c:pt>
                <c:pt idx="1">
                  <c:v>0.09999999999999432</c:v>
                </c:pt>
              </c:numCache>
            </c:numRef>
          </c:val>
        </c:ser>
        <c:firstSliceAng val="0"/>
        <c:holeSize val="7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4" Type="http://schemas.openxmlformats.org/officeDocument/2006/relationships/chart" Target="/ppt/charts/chart3.xml"/><Relationship Id="rId5" Type="http://schemas.openxmlformats.org/officeDocument/2006/relationships/chart" Target="/ppt/charts/chart4.xml"/><Relationship Id="rId1" Type="http://schemas.openxmlformats.org/officeDocument/2006/relationships/image" Target="../media/image-5-1.png"/><Relationship Id="rId6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优先级金字塔 priorityPyramid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顶层最重要（真锥形 + 右侧标签）。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58107" y="1854403"/>
            <a:ext cx="778154" cy="927202"/>
          </a:xfrm>
          <a:prstGeom prst="triangle">
            <a:avLst/>
          </a:prstGeom>
          <a:solidFill>
            <a:srgbClr val="00B0F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058107" y="2229307"/>
            <a:ext cx="77815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833518" y="2318004"/>
            <a:ext cx="3077870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80299" y="2286000"/>
            <a:ext cx="63094" cy="63094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0" y="2139696"/>
            <a:ext cx="358170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安全稳定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01000" y="2381098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不可妥协的底线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670402" y="2781605"/>
            <a:ext cx="1555394" cy="927202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70402" y="3155594"/>
            <a:ext cx="155539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223053" y="3245206"/>
            <a:ext cx="2689250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80299" y="3213202"/>
            <a:ext cx="63094" cy="63094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16" name="Text 13"/>
          <p:cNvSpPr/>
          <p:nvPr/>
        </p:nvSpPr>
        <p:spPr>
          <a:xfrm>
            <a:off x="8001000" y="3066898"/>
            <a:ext cx="358170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01000" y="3308299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889504" y="3708806"/>
            <a:ext cx="3111703" cy="927202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889504" y="4082796"/>
            <a:ext cx="311170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001207" y="4172407"/>
            <a:ext cx="1911096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880299" y="4140403"/>
            <a:ext cx="63094" cy="63094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22" name="Text 19"/>
          <p:cNvSpPr/>
          <p:nvPr/>
        </p:nvSpPr>
        <p:spPr>
          <a:xfrm>
            <a:off x="8001000" y="3994099"/>
            <a:ext cx="358170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成本优化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01000" y="4235501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1333195" y="4635094"/>
            <a:ext cx="6223406" cy="927202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333195" y="5009998"/>
            <a:ext cx="62234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556602" y="5098694"/>
            <a:ext cx="355702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80299" y="5067605"/>
            <a:ext cx="63094" cy="63094"/>
          </a:xfrm>
          <a:prstGeom prst="ellipse">
            <a:avLst/>
          </a:prstGeom>
          <a:solidFill>
            <a:srgbClr val="9AA7B4"/>
          </a:solidFill>
          <a:ln/>
        </p:spPr>
      </p:sp>
      <p:sp>
        <p:nvSpPr>
          <p:cNvPr id="28" name="Text 25"/>
          <p:cNvSpPr/>
          <p:nvPr/>
        </p:nvSpPr>
        <p:spPr>
          <a:xfrm>
            <a:off x="8001000" y="4921301"/>
            <a:ext cx="358170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体验增强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01000" y="5162702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锦上添花</a:t>
            </a:r>
            <a:endParaRPr lang="en-US" sz="700" dirty="0"/>
          </a:p>
        </p:txBody>
      </p:sp>
      <p:pic>
        <p:nvPicPr>
          <p:cNvPr id="30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 funnel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51435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逐层收敛（真倒锥 + 右侧名称/数值）。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flipV="1">
            <a:off x="1333195" y="2025396"/>
            <a:ext cx="5715000" cy="838505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8195" y="2445106"/>
            <a:ext cx="418795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56602" y="2266798"/>
            <a:ext cx="30732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触达场景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56602" y="2482596"/>
            <a:ext cx="40261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 flipV="1">
            <a:off x="2762402" y="2863901"/>
            <a:ext cx="2857500" cy="838505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19902" y="3282696"/>
            <a:ext cx="1848002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56602" y="3105302"/>
            <a:ext cx="30732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可自动化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56602" y="3321101"/>
            <a:ext cx="40261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72%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 flipV="1">
            <a:off x="3480206" y="3702406"/>
            <a:ext cx="1429207" cy="838505"/>
          </a:xfrm>
          <a:prstGeom prst="trapezoid">
            <a:avLst/>
          </a:prstGeom>
          <a:solidFill>
            <a:srgbClr val="00206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905756" y="4121201"/>
            <a:ext cx="2562149" cy="0"/>
          </a:xfrm>
          <a:prstGeom prst="line">
            <a:avLst/>
          </a:prstGeom>
          <a:noFill/>
          <a:ln w="17780">
            <a:solidFill>
              <a:srgbClr val="D8E0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56602" y="3943807"/>
            <a:ext cx="30732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已接入平台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556602" y="4159606"/>
            <a:ext cx="40261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55%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 flipV="1">
            <a:off x="3834994" y="4539996"/>
            <a:ext cx="714146" cy="838505"/>
          </a:xfrm>
          <a:prstGeom prst="trapezoid">
            <a:avLst/>
          </a:prstGeom>
          <a:solidFill>
            <a:srgbClr val="00B0F0"/>
          </a:solidFill>
          <a:ln/>
          <a:effectLst>
            <a:outerShdw sx="100000" sy="100000" kx="0" ky="0" algn="bl" rotWithShape="0" blurRad="114300" dist="38100" dir="5400000">
              <a:srgbClr val="1A203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48226" y="4959706"/>
            <a:ext cx="2919679" cy="0"/>
          </a:xfrm>
          <a:prstGeom prst="line">
            <a:avLst/>
          </a:prstGeom>
          <a:noFill/>
          <a:ln w="25400">
            <a:solidFill>
              <a:srgbClr val="00B0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6602" y="4781398"/>
            <a:ext cx="3073298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无人作业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556602" y="4997196"/>
            <a:ext cx="4026103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38%</a:t>
            </a:r>
            <a:endParaRPr lang="en-US" sz="1500" dirty="0"/>
          </a:p>
        </p:txBody>
      </p:sp>
      <p:pic>
        <p:nvPicPr>
          <p:cNvPr id="22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价值链 valueChain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阶段卡 + 箭头相连，文字在卡内。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2000707"/>
            <a:ext cx="2476195" cy="3429000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2000707"/>
            <a:ext cx="2476195" cy="394106"/>
          </a:xfrm>
          <a:prstGeom prst="roundRect">
            <a:avLst>
              <a:gd name="adj" fmla="val 12993"/>
            </a:avLst>
          </a:prstGeom>
          <a:solidFill>
            <a:srgbClr val="002060"/>
          </a:solidFill>
          <a:ln/>
        </p:spPr>
      </p:sp>
      <p:sp>
        <p:nvSpPr>
          <p:cNvPr id="8" name="Shape 5"/>
          <p:cNvSpPr/>
          <p:nvPr/>
        </p:nvSpPr>
        <p:spPr>
          <a:xfrm>
            <a:off x="609905" y="2253996"/>
            <a:ext cx="2476195" cy="139903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9" name="Text 6"/>
          <p:cNvSpPr/>
          <p:nvPr/>
        </p:nvSpPr>
        <p:spPr>
          <a:xfrm>
            <a:off x="698602" y="2102206"/>
            <a:ext cx="22988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采购到厂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61695" y="2616098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1" name="Text 8"/>
          <p:cNvSpPr/>
          <p:nvPr/>
        </p:nvSpPr>
        <p:spPr>
          <a:xfrm>
            <a:off x="888797" y="2572207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原料计划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761695" y="2933395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3" name="Text 10"/>
          <p:cNvSpPr/>
          <p:nvPr/>
        </p:nvSpPr>
        <p:spPr>
          <a:xfrm>
            <a:off x="888797" y="2889504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到货管理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761695" y="3251606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5" name="Text 12"/>
          <p:cNvSpPr/>
          <p:nvPr/>
        </p:nvSpPr>
        <p:spPr>
          <a:xfrm>
            <a:off x="888797" y="3206801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质检入库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124505" y="3549701"/>
            <a:ext cx="317297" cy="330098"/>
          </a:xfrm>
          <a:prstGeom prst="chevron">
            <a:avLst/>
          </a:prstGeom>
          <a:solidFill>
            <a:srgbClr val="9AA7B4"/>
          </a:solidFill>
          <a:ln/>
        </p:spPr>
      </p:sp>
      <p:sp>
        <p:nvSpPr>
          <p:cNvPr id="17" name="Shape 14"/>
          <p:cNvSpPr/>
          <p:nvPr/>
        </p:nvSpPr>
        <p:spPr>
          <a:xfrm>
            <a:off x="3441802" y="2000707"/>
            <a:ext cx="2476195" cy="3429000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41802" y="2000707"/>
            <a:ext cx="2476195" cy="394106"/>
          </a:xfrm>
          <a:prstGeom prst="roundRect">
            <a:avLst>
              <a:gd name="adj" fmla="val 12993"/>
            </a:avLst>
          </a:prstGeom>
          <a:solidFill>
            <a:srgbClr val="002060"/>
          </a:solidFill>
          <a:ln/>
        </p:spPr>
      </p:sp>
      <p:sp>
        <p:nvSpPr>
          <p:cNvPr id="19" name="Shape 16"/>
          <p:cNvSpPr/>
          <p:nvPr/>
        </p:nvSpPr>
        <p:spPr>
          <a:xfrm>
            <a:off x="3441802" y="2253996"/>
            <a:ext cx="2476195" cy="139903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0" name="Text 17"/>
          <p:cNvSpPr/>
          <p:nvPr/>
        </p:nvSpPr>
        <p:spPr>
          <a:xfrm>
            <a:off x="3530498" y="2102206"/>
            <a:ext cx="22988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生产作业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594506" y="2616098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2" name="Text 19"/>
          <p:cNvSpPr/>
          <p:nvPr/>
        </p:nvSpPr>
        <p:spPr>
          <a:xfrm>
            <a:off x="3720694" y="2572207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设备调度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594506" y="2933395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4" name="Text 21"/>
          <p:cNvSpPr/>
          <p:nvPr/>
        </p:nvSpPr>
        <p:spPr>
          <a:xfrm>
            <a:off x="3720694" y="2889504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节拍管控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594506" y="3251606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6" name="Text 23"/>
          <p:cNvSpPr/>
          <p:nvPr/>
        </p:nvSpPr>
        <p:spPr>
          <a:xfrm>
            <a:off x="3720694" y="3206801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956402" y="3549701"/>
            <a:ext cx="317297" cy="330098"/>
          </a:xfrm>
          <a:prstGeom prst="chevron">
            <a:avLst/>
          </a:prstGeom>
          <a:solidFill>
            <a:srgbClr val="00B0F0"/>
          </a:solidFill>
          <a:ln/>
        </p:spPr>
      </p:sp>
      <p:sp>
        <p:nvSpPr>
          <p:cNvPr id="28" name="Shape 25"/>
          <p:cNvSpPr/>
          <p:nvPr/>
        </p:nvSpPr>
        <p:spPr>
          <a:xfrm>
            <a:off x="6273698" y="2000707"/>
            <a:ext cx="2476195" cy="3429000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2286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73698" y="2000707"/>
            <a:ext cx="2476195" cy="394106"/>
          </a:xfrm>
          <a:prstGeom prst="roundRect">
            <a:avLst>
              <a:gd name="adj" fmla="val 12993"/>
            </a:avLst>
          </a:prstGeom>
          <a:solidFill>
            <a:srgbClr val="00B0F0"/>
          </a:solidFill>
          <a:ln/>
        </p:spPr>
      </p:sp>
      <p:sp>
        <p:nvSpPr>
          <p:cNvPr id="30" name="Shape 27"/>
          <p:cNvSpPr/>
          <p:nvPr/>
        </p:nvSpPr>
        <p:spPr>
          <a:xfrm>
            <a:off x="6273698" y="2253996"/>
            <a:ext cx="2476195" cy="139903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1" name="Text 28"/>
          <p:cNvSpPr/>
          <p:nvPr/>
        </p:nvSpPr>
        <p:spPr>
          <a:xfrm>
            <a:off x="6362395" y="2102206"/>
            <a:ext cx="22988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仓储倒运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426403" y="2616098"/>
            <a:ext cx="57607" cy="5760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33" name="Text 30"/>
          <p:cNvSpPr/>
          <p:nvPr/>
        </p:nvSpPr>
        <p:spPr>
          <a:xfrm>
            <a:off x="6553505" y="2572207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库位管理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426403" y="2933395"/>
            <a:ext cx="57607" cy="5760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35" name="Text 32"/>
          <p:cNvSpPr/>
          <p:nvPr/>
        </p:nvSpPr>
        <p:spPr>
          <a:xfrm>
            <a:off x="6553505" y="2889504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无人运输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426403" y="3251606"/>
            <a:ext cx="57607" cy="57607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37" name="Text 34"/>
          <p:cNvSpPr/>
          <p:nvPr/>
        </p:nvSpPr>
        <p:spPr>
          <a:xfrm>
            <a:off x="6553505" y="3206801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盘点对账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8788298" y="3549701"/>
            <a:ext cx="317297" cy="330098"/>
          </a:xfrm>
          <a:prstGeom prst="chevron">
            <a:avLst/>
          </a:prstGeom>
          <a:solidFill>
            <a:srgbClr val="00B0F0"/>
          </a:solidFill>
          <a:ln/>
        </p:spPr>
      </p:sp>
      <p:sp>
        <p:nvSpPr>
          <p:cNvPr id="39" name="Shape 36"/>
          <p:cNvSpPr/>
          <p:nvPr/>
        </p:nvSpPr>
        <p:spPr>
          <a:xfrm>
            <a:off x="9105595" y="2000707"/>
            <a:ext cx="2476195" cy="3429000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9105595" y="2000707"/>
            <a:ext cx="2476195" cy="394106"/>
          </a:xfrm>
          <a:prstGeom prst="roundRect">
            <a:avLst>
              <a:gd name="adj" fmla="val 12993"/>
            </a:avLst>
          </a:prstGeom>
          <a:solidFill>
            <a:srgbClr val="002060"/>
          </a:solidFill>
          <a:ln/>
        </p:spPr>
      </p:sp>
      <p:sp>
        <p:nvSpPr>
          <p:cNvPr id="41" name="Shape 38"/>
          <p:cNvSpPr/>
          <p:nvPr/>
        </p:nvSpPr>
        <p:spPr>
          <a:xfrm>
            <a:off x="9105595" y="2253996"/>
            <a:ext cx="2476195" cy="139903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2" name="Text 39"/>
          <p:cNvSpPr/>
          <p:nvPr/>
        </p:nvSpPr>
        <p:spPr>
          <a:xfrm>
            <a:off x="9195206" y="2102206"/>
            <a:ext cx="229880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成品发运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9258300" y="2616098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44" name="Text 41"/>
          <p:cNvSpPr/>
          <p:nvPr/>
        </p:nvSpPr>
        <p:spPr>
          <a:xfrm>
            <a:off x="9385402" y="2572207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装车计划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9258300" y="2933395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46" name="Text 43"/>
          <p:cNvSpPr/>
          <p:nvPr/>
        </p:nvSpPr>
        <p:spPr>
          <a:xfrm>
            <a:off x="9385402" y="2889504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跨境物流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9258300" y="3251606"/>
            <a:ext cx="57607" cy="5760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48" name="Text 45"/>
          <p:cNvSpPr/>
          <p:nvPr/>
        </p:nvSpPr>
        <p:spPr>
          <a:xfrm>
            <a:off x="9385402" y="3206801"/>
            <a:ext cx="20574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签收回执</a:t>
            </a:r>
            <a:endParaRPr lang="en-US" sz="750" dirty="0"/>
          </a:p>
        </p:txBody>
      </p:sp>
      <p:pic>
        <p:nvPicPr>
          <p:cNvPr id="49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韦恩图 venn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4572000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交集即差异化（富版：分区要点 + 交集卡）。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31797" y="2089404"/>
            <a:ext cx="2794406" cy="2794406"/>
          </a:xfrm>
          <a:prstGeom prst="ellipse">
            <a:avLst/>
          </a:prstGeom>
          <a:solidFill>
            <a:srgbClr val="002060">
              <a:alpha val="60000"/>
            </a:srgbClr>
          </a:solidFill>
          <a:ln w="31750">
            <a:solidFill>
              <a:srgbClr val="00206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27602" y="2089404"/>
            <a:ext cx="2794406" cy="2794406"/>
          </a:xfrm>
          <a:prstGeom prst="ellipse">
            <a:avLst/>
          </a:prstGeom>
          <a:solidFill>
            <a:srgbClr val="0070C0">
              <a:alpha val="60000"/>
            </a:srgbClr>
          </a:solidFill>
          <a:ln w="31750">
            <a:solidFill>
              <a:srgbClr val="0070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31797" y="1783994"/>
            <a:ext cx="27944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调度能力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27602" y="1783994"/>
            <a:ext cx="27944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仿真能力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22906" y="3143707"/>
            <a:ext cx="18736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全局实时调度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222906" y="3384194"/>
            <a:ext cx="18736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多设备协同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222906" y="3625596"/>
            <a:ext cx="187360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动态再规划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832604" y="3143707"/>
            <a:ext cx="200070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上线前预演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832604" y="3384194"/>
            <a:ext cx="200070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高精度孪生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832604" y="3625596"/>
            <a:ext cx="200070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7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What-if 推演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419295" y="2152498"/>
            <a:ext cx="114300" cy="114300"/>
          </a:xfrm>
          <a:prstGeom prst="ellipse">
            <a:avLst/>
          </a:prstGeom>
          <a:solidFill>
            <a:srgbClr val="00B0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95598" y="2050999"/>
            <a:ext cx="7616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交集 ∩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7276795" y="2533802"/>
            <a:ext cx="4304995" cy="1904695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778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76795" y="2533802"/>
            <a:ext cx="4304995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20" name="Text 17"/>
          <p:cNvSpPr/>
          <p:nvPr/>
        </p:nvSpPr>
        <p:spPr>
          <a:xfrm>
            <a:off x="7442302" y="2673706"/>
            <a:ext cx="3974897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仿真驱动的智能调度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42302" y="3079699"/>
            <a:ext cx="39748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用仿真先验证、再调度，二者交集正是 ReeWell 的护城河。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7455103" y="3568903"/>
            <a:ext cx="51206" cy="51206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23" name="Text 20"/>
          <p:cNvSpPr/>
          <p:nvPr/>
        </p:nvSpPr>
        <p:spPr>
          <a:xfrm>
            <a:off x="7582205" y="3524098"/>
            <a:ext cx="3834994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先验证后执行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455103" y="3797503"/>
            <a:ext cx="51206" cy="51206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25" name="Text 22"/>
          <p:cNvSpPr/>
          <p:nvPr/>
        </p:nvSpPr>
        <p:spPr>
          <a:xfrm>
            <a:off x="7582205" y="3752698"/>
            <a:ext cx="3834994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持续自学习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7455103" y="4026103"/>
            <a:ext cx="51206" cy="51206"/>
          </a:xfrm>
          <a:prstGeom prst="ellipse">
            <a:avLst/>
          </a:prstGeom>
          <a:solidFill>
            <a:srgbClr val="00B0F0"/>
          </a:solidFill>
          <a:ln/>
        </p:spPr>
      </p:sp>
      <p:sp>
        <p:nvSpPr>
          <p:cNvPr id="27" name="Text 24"/>
          <p:cNvSpPr/>
          <p:nvPr/>
        </p:nvSpPr>
        <p:spPr>
          <a:xfrm>
            <a:off x="7582205" y="3981298"/>
            <a:ext cx="3834994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风险可控落地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609905" y="5499202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2902" y="5613502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两种能力单独都有人做；真正稀缺的是把它们打通的交集。</a:t>
            </a:r>
            <a:endParaRPr lang="en-US" sz="800" dirty="0"/>
          </a:p>
        </p:txBody>
      </p:sp>
      <p:pic>
        <p:nvPicPr>
          <p:cNvPr id="30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环形指标 ringStats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真实百分比进度环。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1308506" y="2521001"/>
          <a:ext cx="1345997" cy="134599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1308506" y="3003804"/>
            <a:ext cx="13459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30%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37006" y="3968496"/>
            <a:ext cx="24889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800100" y="4184294"/>
            <a:ext cx="23618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岸桥-堆场节拍</a:t>
            </a:r>
            <a:endParaRPr lang="en-US" sz="6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051706" y="2521001"/>
          <a:ext cx="1345997" cy="134599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4051706" y="3003804"/>
            <a:ext cx="13459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92%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3480206" y="3968496"/>
            <a:ext cx="24889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设备利用率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543300" y="4184294"/>
            <a:ext cx="23618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调度优化后</a:t>
            </a:r>
            <a:endParaRPr lang="en-US" sz="650" dirty="0"/>
          </a:p>
        </p:txBody>
      </p:sp>
      <p:graphicFrame>
        <p:nvGraphicFramePr>
          <p:cNvPr id="14" name="Chart 2" descr=""/>
          <p:cNvGraphicFramePr/>
          <p:nvPr/>
        </p:nvGraphicFramePr>
        <p:xfrm>
          <a:off x="6794906" y="2521001"/>
          <a:ext cx="1345997" cy="134599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 9"/>
          <p:cNvSpPr/>
          <p:nvPr/>
        </p:nvSpPr>
        <p:spPr>
          <a:xfrm>
            <a:off x="6794906" y="3003804"/>
            <a:ext cx="13459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65%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223406" y="3968496"/>
            <a:ext cx="24889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研发占比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6286500" y="4184294"/>
            <a:ext cx="23618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团队结构</a:t>
            </a:r>
            <a:endParaRPr lang="en-US" sz="650" dirty="0"/>
          </a:p>
        </p:txBody>
      </p:sp>
      <p:graphicFrame>
        <p:nvGraphicFramePr>
          <p:cNvPr id="18" name="Chart 3" descr=""/>
          <p:cNvGraphicFramePr/>
          <p:nvPr/>
        </p:nvGraphicFramePr>
        <p:xfrm>
          <a:off x="9538106" y="2521001"/>
          <a:ext cx="1345997" cy="134599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Text 12"/>
          <p:cNvSpPr/>
          <p:nvPr/>
        </p:nvSpPr>
        <p:spPr>
          <a:xfrm>
            <a:off x="9538106" y="3003804"/>
            <a:ext cx="13459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99.9%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8966606" y="3968496"/>
            <a:ext cx="24889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系统可用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9029700" y="4184294"/>
            <a:ext cx="23618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稳定运行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609905" y="5524805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812902" y="5639105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环填充比例 = 数值百分比；数字为占位。</a:t>
            </a:r>
            <a:endParaRPr lang="en-US" sz="800" dirty="0"/>
          </a:p>
        </p:txBody>
      </p:sp>
      <p:pic>
        <p:nvPicPr>
          <p:cNvPr id="24" name="Image 1" descr="theme/assets/footer-westwe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2026-06-24T06:15:01Z</dcterms:created>
  <dcterms:modified xsi:type="dcterms:W3CDTF">2026-06-24T06:15:01Z</dcterms:modified>
</cp:coreProperties>
</file>