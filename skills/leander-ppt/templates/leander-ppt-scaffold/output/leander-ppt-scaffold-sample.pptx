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ch01-foundation
Page ID: p01
Takeaway: This scaffold produces editable PPTX from staged outline, theme, components, and QA.
Visual intent: minimal-cover-right-title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ch01-foundation
Page ID: p02
Takeaway: Recurring slide problems should become reusable layouts, components, and QA rules.
Visual intent: section-divider-big-number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ch02-core-components
Page ID: p03
Takeaway: Metric cards work when the number, label, evidence, and caveat are visible together.
Visual intent: three-metric-cards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ch02-core-components
Page ID: p04
Takeaway: A big-word matrix turns whitespace into a memory anchor with supporting evidence.
Visual intent: big-word-card-matrix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ch02-core-components
Page ID: p05
Takeaway: Four-column pages should balance explanation, icon, and conclusion in each lane.
Visual intent: four-column-mechanism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ch03-system-components
Page ID: p06
Takeaway: Architecture pages should connect inputs, a core platform, and outputs.
Visual intent: system-architecture-center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ch03-system-components
Page ID: p07
Takeaway: Hub-spoke pages must explain relationships rather than decorate the page.
Visual intent: hub-spoke-capability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ch03-system-components
Page ID: p08
Takeaway: Roadmap swimlanes clarify stages, tracks, and the current marker.
Visual intent: roadmap-swimlane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ch03-system-components
Page ID: p09
Takeaway: Back cover mirrors the Westwell reference: centered slogan + Make a Well Change.
Visual intent: closing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01898" y="2095805"/>
            <a:ext cx="761969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Leander PPT 脚手架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301898" y="2743200"/>
            <a:ext cx="7619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Reusable Editable Deck Scaffold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301898" y="4381805"/>
            <a:ext cx="7619695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3A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 Well Change.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3810305" y="4711903"/>
            <a:ext cx="7112203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A8A3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continuously expand, optimize and try out our products and solutions</a:t>
            </a:r>
            <a:endParaRPr lang="en-US" sz="7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A8A3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pinpoint the optimal relationship between AI and human beings in different industries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60197" y="5715000"/>
            <a:ext cx="5080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p01 / scaffold sample · 2026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838505"/>
            <a:ext cx="3937406" cy="158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D9D5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7500" dirty="0"/>
          </a:p>
        </p:txBody>
      </p:sp>
      <p:sp>
        <p:nvSpPr>
          <p:cNvPr id="4" name="Shape 1"/>
          <p:cNvSpPr/>
          <p:nvPr/>
        </p:nvSpPr>
        <p:spPr>
          <a:xfrm>
            <a:off x="660197" y="3301898"/>
            <a:ext cx="51206" cy="711403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174797"/>
            <a:ext cx="749259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Componentized Expression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27202" y="3733495"/>
            <a:ext cx="64766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 recurring slide problems into reusable layouts, components, and QA rules.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4400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65806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5806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216298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16298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Metric Cards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quantified value, benchmark evidence, and staged benefits.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09905" y="1714500"/>
            <a:ext cx="3416198" cy="38405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9" name="Text 5"/>
          <p:cNvSpPr/>
          <p:nvPr/>
        </p:nvSpPr>
        <p:spPr>
          <a:xfrm>
            <a:off x="8001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30%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8001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001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a strong number for the claim; keep body text to source and boundary.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2675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67505" y="1714500"/>
            <a:ext cx="3416198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14" name="Text 10"/>
          <p:cNvSpPr/>
          <p:nvPr/>
        </p:nvSpPr>
        <p:spPr>
          <a:xfrm>
            <a:off x="44577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2.5x</a:t>
            </a:r>
            <a:endParaRPr lang="en-US" sz="2900" dirty="0"/>
          </a:p>
        </p:txBody>
      </p:sp>
      <p:sp>
        <p:nvSpPr>
          <p:cNvPr id="15" name="Text 11"/>
          <p:cNvSpPr/>
          <p:nvPr/>
        </p:nvSpPr>
        <p:spPr>
          <a:xfrm>
            <a:off x="44577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577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Number, unit, source, and scenario should appear together.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79251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925105" y="1714500"/>
            <a:ext cx="3416198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19" name="Text 15"/>
          <p:cNvSpPr/>
          <p:nvPr/>
        </p:nvSpPr>
        <p:spPr>
          <a:xfrm>
            <a:off x="81153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</a:t>
            </a:r>
            <a:endParaRPr lang="en-US" sz="2900" dirty="0"/>
          </a:p>
        </p:txBody>
      </p:sp>
      <p:sp>
        <p:nvSpPr>
          <p:cNvPr id="20" name="Text 16"/>
          <p:cNvSpPr/>
          <p:nvPr/>
        </p:nvSpPr>
        <p:spPr>
          <a:xfrm>
            <a:off x="81153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1153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a point is not numeric, use a clear decision level.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09905" y="4101998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12902" y="4216298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 numbers are layout placeholders. Real decks must label source and estimate boundaries.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Big Word + Card Matrix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strategic judgement, value statements, and operating principles.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1815998"/>
            <a:ext cx="2920594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9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Lower Cost</a:t>
            </a:r>
            <a:endParaRPr lang="en-US" sz="29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29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Raise Speed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685800" y="3301898"/>
            <a:ext cx="38405" cy="558698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9" name="Text 5"/>
          <p:cNvSpPr/>
          <p:nvPr/>
        </p:nvSpPr>
        <p:spPr>
          <a:xfrm>
            <a:off x="863194" y="3314700"/>
            <a:ext cx="2667305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the left side as the memory anchor and the right side for reusable evidence or actions.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076395" y="1548994"/>
            <a:ext cx="6401" cy="3429000"/>
          </a:xfrm>
          <a:prstGeom prst="rect">
            <a:avLst/>
          </a:prstGeom>
          <a:solidFill>
            <a:srgbClr val="D9D5CB"/>
          </a:solidFill>
          <a:ln/>
        </p:spPr>
      </p:sp>
      <p:sp>
        <p:nvSpPr>
          <p:cNvPr id="11" name="Shape 7"/>
          <p:cNvSpPr/>
          <p:nvPr/>
        </p:nvSpPr>
        <p:spPr>
          <a:xfrm>
            <a:off x="4597603" y="1815998"/>
            <a:ext cx="2476195" cy="1015898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7603" y="1815998"/>
            <a:ext cx="2476195" cy="38405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13" name="Text 9"/>
          <p:cNvSpPr/>
          <p:nvPr/>
        </p:nvSpPr>
        <p:spPr>
          <a:xfrm>
            <a:off x="4762195" y="1994306"/>
            <a:ext cx="30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143500" y="1994306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143500" y="2273198"/>
            <a:ext cx="1651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Reusable components reduce repeated design and development work.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7391095" y="1815998"/>
            <a:ext cx="2476195" cy="1015898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91095" y="1815998"/>
            <a:ext cx="2476195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18" name="Text 14"/>
          <p:cNvSpPr/>
          <p:nvPr/>
        </p:nvSpPr>
        <p:spPr>
          <a:xfrm>
            <a:off x="7556602" y="1994306"/>
            <a:ext cx="30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937906" y="1994306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937906" y="2273198"/>
            <a:ext cx="1651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artifacts become traceable and easier to repair.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597603" y="3149194"/>
            <a:ext cx="2476195" cy="1015898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97603" y="3149194"/>
            <a:ext cx="2476195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23" name="Text 19"/>
          <p:cNvSpPr/>
          <p:nvPr/>
        </p:nvSpPr>
        <p:spPr>
          <a:xfrm>
            <a:off x="4762195" y="3327502"/>
            <a:ext cx="30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143500" y="3327502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143500" y="3606394"/>
            <a:ext cx="1651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 language improves decision quality and review speed.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7391095" y="3149194"/>
            <a:ext cx="2476195" cy="1015898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391095" y="3149194"/>
            <a:ext cx="2476195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28" name="Text 24"/>
          <p:cNvSpPr/>
          <p:nvPr/>
        </p:nvSpPr>
        <p:spPr>
          <a:xfrm>
            <a:off x="7556602" y="3327502"/>
            <a:ext cx="30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7937906" y="3327502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937906" y="3606394"/>
            <a:ext cx="1651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Reusable examples reduce repeated onsite trial and error.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Four-Column Mechanism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four values, four roles, four capabilities, or four process links.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600200"/>
            <a:ext cx="2609698" cy="3962095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09905" y="1600200"/>
            <a:ext cx="2609698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9" name="Text 5"/>
          <p:cNvSpPr/>
          <p:nvPr/>
        </p:nvSpPr>
        <p:spPr>
          <a:xfrm>
            <a:off x="787298" y="1815998"/>
            <a:ext cx="22539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A8A3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87298" y="2006194"/>
            <a:ext cx="22539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87298" y="2311603"/>
            <a:ext cx="457200" cy="32004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12" name="Shape 8"/>
          <p:cNvSpPr/>
          <p:nvPr/>
        </p:nvSpPr>
        <p:spPr>
          <a:xfrm>
            <a:off x="1749247" y="3226003"/>
            <a:ext cx="75895" cy="114300"/>
          </a:xfrm>
          <a:prstGeom prst="rect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876349" y="3137306"/>
            <a:ext cx="75895" cy="202997"/>
          </a:xfrm>
          <a:prstGeom prst="rect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03450" y="3047695"/>
            <a:ext cx="75895" cy="291694"/>
          </a:xfrm>
          <a:prstGeom prst="rect">
            <a:avLst/>
          </a:prstGeom>
          <a:solidFill>
            <a:srgbClr val="07195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698955" y="3340303"/>
            <a:ext cx="431597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7298" y="3720694"/>
            <a:ext cx="225399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Connect metrics, process, and action.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87298" y="5067605"/>
            <a:ext cx="2253996" cy="342900"/>
          </a:xfrm>
          <a:prstGeom prst="roundRect">
            <a:avLst>
              <a:gd name="adj" fmla="val 1493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87298" y="5149901"/>
            <a:ext cx="225399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Visible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396996" y="1600200"/>
            <a:ext cx="2609698" cy="3962095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396996" y="1600200"/>
            <a:ext cx="2609698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21" name="Text 17"/>
          <p:cNvSpPr/>
          <p:nvPr/>
        </p:nvSpPr>
        <p:spPr>
          <a:xfrm>
            <a:off x="3575304" y="1815998"/>
            <a:ext cx="22539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A8A3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575304" y="2006194"/>
            <a:ext cx="22539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575304" y="2311603"/>
            <a:ext cx="457200" cy="32004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24" name="Shape 20"/>
          <p:cNvSpPr/>
          <p:nvPr/>
        </p:nvSpPr>
        <p:spPr>
          <a:xfrm flipV="1">
            <a:off x="4511650" y="3047695"/>
            <a:ext cx="342900" cy="267005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4511650" y="3314700"/>
            <a:ext cx="381305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75304" y="3720694"/>
            <a:ext cx="225399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 the loop from issue to solution.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575304" y="5067605"/>
            <a:ext cx="2253996" cy="342900"/>
          </a:xfrm>
          <a:prstGeom prst="roundRect">
            <a:avLst>
              <a:gd name="adj" fmla="val 1493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575304" y="5149901"/>
            <a:ext cx="225399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185002" y="1600200"/>
            <a:ext cx="2609698" cy="3962095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85002" y="1600200"/>
            <a:ext cx="2609698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31" name="Text 27"/>
          <p:cNvSpPr/>
          <p:nvPr/>
        </p:nvSpPr>
        <p:spPr>
          <a:xfrm>
            <a:off x="6362395" y="1815998"/>
            <a:ext cx="22539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A8A3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362395" y="2006194"/>
            <a:ext cx="22539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Assetize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362395" y="2311603"/>
            <a:ext cx="457200" cy="32004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34" name="Shape 30"/>
          <p:cNvSpPr/>
          <p:nvPr/>
        </p:nvSpPr>
        <p:spPr>
          <a:xfrm>
            <a:off x="7388352" y="3086100"/>
            <a:ext cx="202997" cy="202997"/>
          </a:xfrm>
          <a:prstGeom prst="ellipse">
            <a:avLst/>
          </a:prstGeom>
          <a:solidFill>
            <a:srgbClr val="07195A"/>
          </a:solidFill>
          <a:ln/>
        </p:spPr>
      </p:sp>
      <p:sp>
        <p:nvSpPr>
          <p:cNvPr id="35" name="Shape 31"/>
          <p:cNvSpPr/>
          <p:nvPr/>
        </p:nvSpPr>
        <p:spPr>
          <a:xfrm flipH="1" flipV="1">
            <a:off x="7222846" y="2984602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72554" y="2933395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 flipV="1">
            <a:off x="7489850" y="2984602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705649" y="2933395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 flipH="1">
            <a:off x="7222846" y="3187598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172554" y="3340303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489850" y="3187598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705649" y="3340303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362395" y="3720694"/>
            <a:ext cx="225399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 one-off experience into reusable knowledge.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6362395" y="5067605"/>
            <a:ext cx="2253996" cy="342900"/>
          </a:xfrm>
          <a:prstGeom prst="roundRect">
            <a:avLst>
              <a:gd name="adj" fmla="val 1493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362395" y="5149901"/>
            <a:ext cx="225399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Reusable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8973007" y="1600200"/>
            <a:ext cx="2609698" cy="3962095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8973007" y="1600200"/>
            <a:ext cx="2609698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48" name="Text 44"/>
          <p:cNvSpPr/>
          <p:nvPr/>
        </p:nvSpPr>
        <p:spPr>
          <a:xfrm>
            <a:off x="9150401" y="1815998"/>
            <a:ext cx="22539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A8A3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9150401" y="2006194"/>
            <a:ext cx="22539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Decide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9150401" y="2311603"/>
            <a:ext cx="457200" cy="32004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51" name="Shape 47"/>
          <p:cNvSpPr/>
          <p:nvPr/>
        </p:nvSpPr>
        <p:spPr>
          <a:xfrm>
            <a:off x="10137953" y="3023006"/>
            <a:ext cx="279806" cy="330098"/>
          </a:xfrm>
          <a:prstGeom prst="roundRect">
            <a:avLst>
              <a:gd name="adj" fmla="val 11438"/>
            </a:avLst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0201046" y="3143707"/>
            <a:ext cx="152705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0201046" y="3226003"/>
            <a:ext cx="152705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9150401" y="3720694"/>
            <a:ext cx="225399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Unify language across teams.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150401" y="5067605"/>
            <a:ext cx="2253996" cy="342900"/>
          </a:xfrm>
          <a:prstGeom prst="roundRect">
            <a:avLst>
              <a:gd name="adj" fmla="val 1493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150401" y="5149901"/>
            <a:ext cx="225399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Aligned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Architecture Center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platform, product architecture, data flow, and control flow.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8602" y="1410005"/>
            <a:ext cx="20958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413394" y="1410005"/>
            <a:ext cx="20958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98602" y="1727302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902" y="1822399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data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94406" y="1898294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98602" y="2247595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2902" y="2343607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status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794406" y="2419502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98602" y="2768803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2902" y="2863901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 feedback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794406" y="2939796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98602" y="3289097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2902" y="3384194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2794406" y="3461004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98602" y="3810305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2902" y="3905402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system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794406" y="3981298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3905402" y="1587398"/>
            <a:ext cx="3556102" cy="2667305"/>
          </a:xfrm>
          <a:prstGeom prst="roundRect">
            <a:avLst>
              <a:gd name="adj" fmla="val 1920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172407" y="1803197"/>
            <a:ext cx="302300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Platform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349801" y="2120494"/>
            <a:ext cx="2667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DE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processing / strategy orchestration / state management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4248302" y="26160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324198" y="26919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access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5810098" y="26160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886907" y="26919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4248302" y="30732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324198" y="31491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flow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5810098" y="30732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886907" y="31491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4248302" y="35304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324198" y="36063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Permission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5810098" y="35304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886907" y="36063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7461504" y="1898294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8413394" y="1727302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527694" y="1822399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7461504" y="2419502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8413394" y="2247595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27694" y="2343607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advice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7461504" y="2939796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8413394" y="2768803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527694" y="2863901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command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7461504" y="3461004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8413394" y="3289097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527694" y="3384194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alert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7461504" y="3981298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52" name="Shape 48"/>
          <p:cNvSpPr/>
          <p:nvPr/>
        </p:nvSpPr>
        <p:spPr>
          <a:xfrm>
            <a:off x="8413394" y="3810305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8527694" y="3905402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report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Hub-Spoke Capability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showing how one core system supports multiple modules or roles.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953305" y="2730398"/>
            <a:ext cx="2286000" cy="1041502"/>
          </a:xfrm>
          <a:prstGeom prst="roundRect">
            <a:avLst>
              <a:gd name="adj" fmla="val 4917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238598" y="3073298"/>
            <a:ext cx="17145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Leander PPT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 flipH="1" flipV="1">
            <a:off x="3111703" y="1968703"/>
            <a:ext cx="2984602" cy="1282903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158898" y="1676095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286000" y="1803197"/>
            <a:ext cx="279806" cy="330098"/>
          </a:xfrm>
          <a:prstGeom prst="roundRect">
            <a:avLst>
              <a:gd name="adj" fmla="val 11438"/>
            </a:avLst>
          </a:prstGeom>
          <a:solidFill>
            <a:srgbClr val="FBECEB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349094" y="1923898"/>
            <a:ext cx="152705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349094" y="2006194"/>
            <a:ext cx="152705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0" y="1841602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2743200" y="2044598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 first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 flipV="1">
            <a:off x="6096305" y="1587398"/>
            <a:ext cx="0" cy="1663294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43500" y="1295705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64201" y="1441094"/>
            <a:ext cx="291694" cy="291694"/>
          </a:xfrm>
          <a:prstGeom prst="roundRect">
            <a:avLst>
              <a:gd name="adj" fmla="val 21630"/>
            </a:avLst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96205" y="1517904"/>
            <a:ext cx="22860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OK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727802" y="1460297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727802" y="1663294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reuse</a:t>
            </a:r>
            <a:endParaRPr lang="en-US" sz="600" dirty="0"/>
          </a:p>
        </p:txBody>
      </p:sp>
      <p:sp>
        <p:nvSpPr>
          <p:cNvPr id="22" name="Shape 18"/>
          <p:cNvSpPr/>
          <p:nvPr/>
        </p:nvSpPr>
        <p:spPr>
          <a:xfrm flipV="1">
            <a:off x="6096305" y="1968703"/>
            <a:ext cx="2984602" cy="1282903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28102" y="1676095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92694" y="1867205"/>
            <a:ext cx="202997" cy="202997"/>
          </a:xfrm>
          <a:prstGeom prst="ellipse">
            <a:avLst/>
          </a:prstGeom>
          <a:solidFill>
            <a:srgbClr val="07195A"/>
          </a:solidFill>
          <a:ln/>
        </p:spPr>
      </p:sp>
      <p:sp>
        <p:nvSpPr>
          <p:cNvPr id="25" name="Shape 21"/>
          <p:cNvSpPr/>
          <p:nvPr/>
        </p:nvSpPr>
        <p:spPr>
          <a:xfrm flipH="1" flipV="1">
            <a:off x="8128102" y="1765706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76895" y="1714500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 flipV="1">
            <a:off x="8395106" y="1765706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610905" y="1714500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flipH="1">
            <a:off x="8128102" y="1968703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76895" y="2120494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395106" y="1968703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610905" y="2120494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712403" y="1841602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8712403" y="2044598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assets</a:t>
            </a:r>
            <a:endParaRPr lang="en-US" sz="600" dirty="0"/>
          </a:p>
        </p:txBody>
      </p:sp>
      <p:sp>
        <p:nvSpPr>
          <p:cNvPr id="35" name="Shape 31"/>
          <p:cNvSpPr/>
          <p:nvPr/>
        </p:nvSpPr>
        <p:spPr>
          <a:xfrm flipH="1">
            <a:off x="3111703" y="3251606"/>
            <a:ext cx="2984602" cy="1225296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158898" y="4184294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2260397" y="4515307"/>
            <a:ext cx="75895" cy="114300"/>
          </a:xfrm>
          <a:prstGeom prst="rect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387498" y="4425696"/>
            <a:ext cx="75895" cy="202997"/>
          </a:xfrm>
          <a:prstGeom prst="rect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514600" y="4336999"/>
            <a:ext cx="75895" cy="291694"/>
          </a:xfrm>
          <a:prstGeom prst="rect">
            <a:avLst/>
          </a:prstGeom>
          <a:solidFill>
            <a:srgbClr val="07195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2210105" y="4629607"/>
            <a:ext cx="431597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743200" y="4349801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Charts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2743200" y="4552798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Visible info</a:t>
            </a:r>
            <a:endParaRPr lang="en-US" sz="600" dirty="0"/>
          </a:p>
        </p:txBody>
      </p:sp>
      <p:sp>
        <p:nvSpPr>
          <p:cNvPr id="43" name="Shape 39"/>
          <p:cNvSpPr/>
          <p:nvPr/>
        </p:nvSpPr>
        <p:spPr>
          <a:xfrm>
            <a:off x="6096305" y="3251606"/>
            <a:ext cx="0" cy="1669694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143500" y="4629607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5340096" y="4762195"/>
            <a:ext cx="139903" cy="139903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264201" y="4934102"/>
            <a:ext cx="291694" cy="177394"/>
          </a:xfrm>
          <a:prstGeom prst="roundRect">
            <a:avLst>
              <a:gd name="adj" fmla="val 46392"/>
            </a:avLst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727802" y="4794199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Assets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727802" y="4997196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Image/icon</a:t>
            </a: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6096305" y="3251606"/>
            <a:ext cx="2984602" cy="1225296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128102" y="4184294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8236001" y="4317797"/>
            <a:ext cx="317297" cy="317297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 flipV="1">
            <a:off x="8395106" y="4388206"/>
            <a:ext cx="0" cy="886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395106" y="4476902"/>
            <a:ext cx="82296" cy="51206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712403" y="4349801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8712403" y="4552798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Rendered check</a:t>
            </a:r>
            <a:endParaRPr lang="en-US" sz="600" dirty="0"/>
          </a:p>
        </p:txBody>
      </p:sp>
      <p:sp>
        <p:nvSpPr>
          <p:cNvPr id="56" name="Shape 52"/>
          <p:cNvSpPr/>
          <p:nvPr/>
        </p:nvSpPr>
        <p:spPr>
          <a:xfrm>
            <a:off x="609905" y="5639105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812902" y="5753405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Hub-spoke pages must explain relationships, not just decorate the page.</a:t>
            </a:r>
            <a:endParaRPr lang="en-US" sz="800" dirty="0"/>
          </a:p>
        </p:txBody>
      </p:sp>
      <p:sp>
        <p:nvSpPr>
          <p:cNvPr id="58" name="Shape 5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Roadmap Swimlane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version planning, delivery rhythm, and multi-team plans.</a:t>
            </a:r>
            <a:endParaRPr lang="en-US" sz="900" dirty="0"/>
          </a:p>
        </p:txBody>
      </p:sp>
      <p:pic>
        <p:nvPicPr>
          <p:cNvPr id="6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22906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C51516"/>
          </a:solidFill>
          <a:ln/>
        </p:spPr>
      </p:sp>
      <p:sp>
        <p:nvSpPr>
          <p:cNvPr id="8" name="Text 4"/>
          <p:cNvSpPr/>
          <p:nvPr/>
        </p:nvSpPr>
        <p:spPr>
          <a:xfrm>
            <a:off x="2222906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032504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07195A"/>
          </a:solidFill>
          <a:ln/>
        </p:spPr>
      </p:sp>
      <p:sp>
        <p:nvSpPr>
          <p:cNvPr id="10" name="Text 6"/>
          <p:cNvSpPr/>
          <p:nvPr/>
        </p:nvSpPr>
        <p:spPr>
          <a:xfrm>
            <a:off x="4032504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5842102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07195A"/>
          </a:solidFill>
          <a:ln/>
        </p:spPr>
      </p:sp>
      <p:sp>
        <p:nvSpPr>
          <p:cNvPr id="12" name="Text 8"/>
          <p:cNvSpPr/>
          <p:nvPr/>
        </p:nvSpPr>
        <p:spPr>
          <a:xfrm>
            <a:off x="5842102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3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7651699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07195A"/>
          </a:solidFill>
          <a:ln/>
        </p:spPr>
      </p:sp>
      <p:sp>
        <p:nvSpPr>
          <p:cNvPr id="14" name="Text 10"/>
          <p:cNvSpPr/>
          <p:nvPr/>
        </p:nvSpPr>
        <p:spPr>
          <a:xfrm>
            <a:off x="7651699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9461297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07195A"/>
          </a:solidFill>
          <a:ln/>
        </p:spPr>
      </p:sp>
      <p:sp>
        <p:nvSpPr>
          <p:cNvPr id="16" name="Text 12"/>
          <p:cNvSpPr/>
          <p:nvPr/>
        </p:nvSpPr>
        <p:spPr>
          <a:xfrm>
            <a:off x="9461297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1143000" y="1587398"/>
            <a:ext cx="940003" cy="482803"/>
          </a:xfrm>
          <a:prstGeom prst="roundRect">
            <a:avLst>
              <a:gd name="adj" fmla="val 10606"/>
            </a:avLst>
          </a:prstGeom>
          <a:solidFill>
            <a:srgbClr val="FBECEB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31697" y="1746504"/>
            <a:ext cx="7616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222906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24405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4032504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34002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5842102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0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Samples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7651699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753198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deck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9461297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562795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Archive</a:t>
            </a:r>
            <a:endParaRPr lang="en-US" sz="650" dirty="0"/>
          </a:p>
        </p:txBody>
      </p:sp>
      <p:sp>
        <p:nvSpPr>
          <p:cNvPr id="29" name="Shape 25"/>
          <p:cNvSpPr/>
          <p:nvPr/>
        </p:nvSpPr>
        <p:spPr>
          <a:xfrm>
            <a:off x="1143000" y="2324405"/>
            <a:ext cx="940003" cy="482803"/>
          </a:xfrm>
          <a:prstGeom prst="roundRect">
            <a:avLst>
              <a:gd name="adj" fmla="val 10606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31697" y="2482596"/>
            <a:ext cx="7616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2222906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324405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</a:t>
            </a:r>
            <a:endParaRPr lang="en-US" sz="650" dirty="0"/>
          </a:p>
        </p:txBody>
      </p:sp>
      <p:sp>
        <p:nvSpPr>
          <p:cNvPr id="33" name="Shape 29"/>
          <p:cNvSpPr/>
          <p:nvPr/>
        </p:nvSpPr>
        <p:spPr>
          <a:xfrm>
            <a:off x="4032504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134002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5842102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0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Calibrate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7651699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753198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9461297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562795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1143000" y="3060497"/>
            <a:ext cx="940003" cy="482803"/>
          </a:xfrm>
          <a:prstGeom prst="roundRect">
            <a:avLst>
              <a:gd name="adj" fmla="val 10606"/>
            </a:avLst>
          </a:prstGeom>
          <a:solidFill>
            <a:srgbClr val="FBECEB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231697" y="3219602"/>
            <a:ext cx="7616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2222906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2324405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</a:t>
            </a:r>
            <a:endParaRPr lang="en-US" sz="650" dirty="0"/>
          </a:p>
        </p:txBody>
      </p:sp>
      <p:sp>
        <p:nvSpPr>
          <p:cNvPr id="45" name="Shape 41"/>
          <p:cNvSpPr/>
          <p:nvPr/>
        </p:nvSpPr>
        <p:spPr>
          <a:xfrm>
            <a:off x="4032504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134002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5842102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943600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7651699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753198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650" dirty="0"/>
          </a:p>
        </p:txBody>
      </p:sp>
      <p:sp>
        <p:nvSpPr>
          <p:cNvPr id="51" name="Shape 47"/>
          <p:cNvSpPr/>
          <p:nvPr/>
        </p:nvSpPr>
        <p:spPr>
          <a:xfrm>
            <a:off x="9461297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562795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4860950" y="1308506"/>
            <a:ext cx="0" cy="2286000"/>
          </a:xfrm>
          <a:prstGeom prst="line">
            <a:avLst/>
          </a:prstGeom>
          <a:noFill/>
          <a:ln w="25400">
            <a:solidFill>
              <a:srgbClr val="C51516"/>
            </a:solidFill>
            <a:prstDash val="dash"/>
          </a:ln>
        </p:spPr>
      </p:sp>
      <p:sp>
        <p:nvSpPr>
          <p:cNvPr id="54" name="Shape 5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0" y="2730398"/>
            <a:ext cx="761969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把重复的页面问题，沉淀为可复用的</a:t>
            </a:r>
            <a:pPr algn="ctr" indent="0" marL="0">
              <a:buNone/>
            </a:pPr>
            <a:r>
              <a:rPr lang="en-US" sz="27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pPr algn="ctr" indent="0" marL="0">
              <a:buNone/>
            </a:pPr>
            <a:r>
              <a:rPr lang="en-US" sz="2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algn="ctr" indent="0" marL="0">
              <a:buNone/>
            </a:pPr>
            <a:r>
              <a:rPr lang="en-US" sz="27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pPr algn="ctr" indent="0" marL="0">
              <a:buNone/>
            </a:pPr>
            <a:r>
              <a:rPr lang="en-US" sz="2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700" dirty="0"/>
          </a:p>
        </p:txBody>
      </p:sp>
      <p:sp>
        <p:nvSpPr>
          <p:cNvPr id="5" name="Shape 1"/>
          <p:cNvSpPr/>
          <p:nvPr/>
        </p:nvSpPr>
        <p:spPr>
          <a:xfrm>
            <a:off x="5143500" y="3480206"/>
            <a:ext cx="1904695" cy="19202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6" name="Text 2"/>
          <p:cNvSpPr/>
          <p:nvPr/>
        </p:nvSpPr>
        <p:spPr>
          <a:xfrm>
            <a:off x="2286000" y="3657600"/>
            <a:ext cx="7619695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 Well Change.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Westwell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Leander PPT Scaffold Sample</dc:title>
  <dc:subject>Leander PPT scaffold sample</dc:subject>
  <dc:creator>Leander PPT</dc:creator>
  <cp:lastModifiedBy>Leander PPT</cp:lastModifiedBy>
  <cp:revision>1</cp:revision>
  <dcterms:created xsi:type="dcterms:W3CDTF">2026-06-24T06:16:46Z</dcterms:created>
  <dcterms:modified xsi:type="dcterms:W3CDTF">2026-06-24T06:16:46Z</dcterms:modified>
</cp:coreProperties>
</file>