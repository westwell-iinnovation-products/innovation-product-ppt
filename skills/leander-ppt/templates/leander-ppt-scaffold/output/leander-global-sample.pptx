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cover-por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203" y="495605"/>
            <a:ext cx="3047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609905" y="1079906"/>
            <a:ext cx="838230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ReeWell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34594" y="1904695"/>
            <a:ext cx="78738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The World's First Multi-modular Intelligent Dispatch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and Management Platform Powered by an AI World Model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4594" y="5702198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34594" y="6032297"/>
            <a:ext cx="4444898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June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905" y="2361895"/>
            <a:ext cx="952530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FMS Clarification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34594" y="3124505"/>
            <a:ext cx="4190695" cy="0"/>
          </a:xfrm>
          <a:prstGeom prst="line">
            <a:avLst/>
          </a:prstGeom>
          <a:noFill/>
          <a:ln w="38100">
            <a:solidFill>
              <a:srgbClr val="00B0F0"/>
            </a:solidFill>
            <a:prstDash val="sysDot"/>
          </a:ln>
        </p:spPr>
      </p:sp>
      <p:sp>
        <p:nvSpPr>
          <p:cNvPr id="5" name="Text 2"/>
          <p:cNvSpPr/>
          <p:nvPr/>
        </p:nvSpPr>
        <p:spPr>
          <a:xfrm>
            <a:off x="634594" y="3251606"/>
            <a:ext cx="8889797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Fleet Management System · Technical Overview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34594" y="5702198"/>
            <a:ext cx="5715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6260897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0" y="6553505"/>
            <a:ext cx="38103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50" spc="200" kern="0" dirty="0">
                <a:solidFill>
                  <a:srgbClr val="9A9A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HUMAN TO HUMAN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7239305" y="6616598"/>
            <a:ext cx="711403" cy="0"/>
          </a:xfrm>
          <a:prstGeom prst="line">
            <a:avLst/>
          </a:prstGeom>
          <a:noFill/>
          <a:ln w="17780">
            <a:solidFill>
              <a:srgbClr val="6496B9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863559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Proven At Scale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09905" y="920801"/>
            <a:ext cx="4826203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ysDot"/>
          </a:ln>
        </p:spPr>
      </p:sp>
      <p:sp>
        <p:nvSpPr>
          <p:cNvPr id="4" name="Text 2"/>
          <p:cNvSpPr/>
          <p:nvPr/>
        </p:nvSpPr>
        <p:spPr>
          <a:xfrm>
            <a:off x="609905" y="1041502"/>
            <a:ext cx="8635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Quantified value across global smart-port deployments.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714500"/>
            <a:ext cx="3416198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8" name="Text 5"/>
          <p:cNvSpPr/>
          <p:nvPr/>
        </p:nvSpPr>
        <p:spPr>
          <a:xfrm>
            <a:off x="8001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30%</a:t>
            </a:r>
            <a:endParaRPr lang="en-US" sz="2900" dirty="0"/>
          </a:p>
        </p:txBody>
      </p:sp>
      <p:sp>
        <p:nvSpPr>
          <p:cNvPr id="9" name="Text 6"/>
          <p:cNvSpPr/>
          <p:nvPr/>
        </p:nvSpPr>
        <p:spPr>
          <a:xfrm>
            <a:off x="8001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01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Crane-to-yard cycle efficiency lift in mixed fleets.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675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67505" y="1714500"/>
            <a:ext cx="34161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3" name="Text 10"/>
          <p:cNvSpPr/>
          <p:nvPr/>
        </p:nvSpPr>
        <p:spPr>
          <a:xfrm>
            <a:off x="44577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24/7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44577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4577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Continuous unmanned operation under live scheduling.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7925105" y="1714500"/>
            <a:ext cx="3416198" cy="1714500"/>
          </a:xfrm>
          <a:prstGeom prst="roundRect">
            <a:avLst>
              <a:gd name="adj" fmla="val 298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7925105" y="1714500"/>
            <a:ext cx="34161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8" name="Text 15"/>
          <p:cNvSpPr/>
          <p:nvPr/>
        </p:nvSpPr>
        <p:spPr>
          <a:xfrm>
            <a:off x="8115300" y="1981505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12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115300" y="2514600"/>
            <a:ext cx="30348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115300" y="2831897"/>
            <a:ext cx="3034894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 international deployments across three continents.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9905" y="4101998"/>
            <a:ext cx="10972800" cy="418795"/>
          </a:xfrm>
          <a:prstGeom prst="roundRect">
            <a:avLst>
              <a:gd name="adj" fmla="val 12227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2902" y="4216298"/>
            <a:ext cx="1056680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Sample figures are layout placeholders; real decks must label source and boundary.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7772400" y="6260897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772400" y="6553505"/>
            <a:ext cx="38103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50" spc="200" kern="0" dirty="0">
                <a:solidFill>
                  <a:srgbClr val="9A9A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HUMAN TO HUMAN</a:t>
            </a:r>
            <a:endParaRPr lang="en-US" sz="550" dirty="0"/>
          </a:p>
        </p:txBody>
      </p:sp>
      <p:sp>
        <p:nvSpPr>
          <p:cNvPr id="25" name="Shape 22"/>
          <p:cNvSpPr/>
          <p:nvPr/>
        </p:nvSpPr>
        <p:spPr>
          <a:xfrm>
            <a:off x="7239305" y="6616598"/>
            <a:ext cx="711403" cy="0"/>
          </a:xfrm>
          <a:prstGeom prst="line">
            <a:avLst/>
          </a:prstGeom>
          <a:noFill/>
          <a:ln w="17780">
            <a:solidFill>
              <a:srgbClr val="6496B9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457200"/>
            <a:ext cx="8635594" cy="368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Platform, Four Engines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09905" y="920801"/>
            <a:ext cx="4826203" cy="0"/>
          </a:xfrm>
          <a:prstGeom prst="line">
            <a:avLst/>
          </a:prstGeom>
          <a:noFill/>
          <a:ln w="25400">
            <a:solidFill>
              <a:srgbClr val="002060"/>
            </a:solidFill>
            <a:prstDash val="sysDot"/>
          </a:ln>
        </p:spPr>
      </p:sp>
      <p:sp>
        <p:nvSpPr>
          <p:cNvPr id="4" name="Text 2"/>
          <p:cNvSpPr/>
          <p:nvPr/>
        </p:nvSpPr>
        <p:spPr>
          <a:xfrm>
            <a:off x="609905" y="1041502"/>
            <a:ext cx="8635594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Equal capabilities in navy; the differentiator highlighted in azure.</a:t>
            </a:r>
            <a:endParaRPr lang="en-US" sz="900" dirty="0"/>
          </a:p>
        </p:txBody>
      </p:sp>
      <p:pic>
        <p:nvPicPr>
          <p:cNvPr id="5" name="Image 0" descr="theme/assets/logo-west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62995" y="520294"/>
            <a:ext cx="571500" cy="46268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9905" y="1600200"/>
            <a:ext cx="26096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8" name="Text 5"/>
          <p:cNvSpPr/>
          <p:nvPr/>
        </p:nvSpPr>
        <p:spPr>
          <a:xfrm>
            <a:off x="787298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87298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Dispatch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7298" y="2311603"/>
            <a:ext cx="457200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11" name="Shape 8"/>
          <p:cNvSpPr/>
          <p:nvPr/>
        </p:nvSpPr>
        <p:spPr>
          <a:xfrm>
            <a:off x="1813255" y="3086100"/>
            <a:ext cx="202997" cy="202997"/>
          </a:xfrm>
          <a:prstGeom prst="ellipse">
            <a:avLst/>
          </a:prstGeom>
          <a:solidFill>
            <a:srgbClr val="002060"/>
          </a:solidFill>
          <a:ln/>
        </p:spPr>
      </p:sp>
      <p:sp>
        <p:nvSpPr>
          <p:cNvPr id="12" name="Shape 9"/>
          <p:cNvSpPr/>
          <p:nvPr/>
        </p:nvSpPr>
        <p:spPr>
          <a:xfrm flipH="1" flipV="1">
            <a:off x="1647749" y="2984602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597457" y="2933395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1914754" y="2984602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130552" y="2933395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1647749" y="3187598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97457" y="3340303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914754" y="3187598"/>
            <a:ext cx="267005" cy="202997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130552" y="3340303"/>
            <a:ext cx="101498" cy="101498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87298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Real-time horizontal and vertical equipment scheduling across the whole yard.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7298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7298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optimum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396996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396996" y="1600200"/>
            <a:ext cx="26096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5" name="Text 22"/>
          <p:cNvSpPr/>
          <p:nvPr/>
        </p:nvSpPr>
        <p:spPr>
          <a:xfrm>
            <a:off x="3575304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575304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575304" y="2311603"/>
            <a:ext cx="457200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28" name="Shape 25"/>
          <p:cNvSpPr/>
          <p:nvPr/>
        </p:nvSpPr>
        <p:spPr>
          <a:xfrm>
            <a:off x="4537253" y="3226003"/>
            <a:ext cx="75895" cy="114300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64354" y="3137306"/>
            <a:ext cx="75895" cy="202997"/>
          </a:xfrm>
          <a:prstGeom prst="rect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91456" y="3047695"/>
            <a:ext cx="75895" cy="291694"/>
          </a:xfrm>
          <a:prstGeom prst="rect">
            <a:avLst/>
          </a:prstGeom>
          <a:solidFill>
            <a:srgbClr val="002060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86046" y="3340303"/>
            <a:ext cx="431597" cy="0"/>
          </a:xfrm>
          <a:prstGeom prst="line">
            <a:avLst/>
          </a:prstGeom>
          <a:noFill/>
          <a:ln w="17780">
            <a:solidFill>
              <a:srgbClr val="00206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75304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High-fidelity digital twin to validate plans before they hit the ground.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3575304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75304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Predict before act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185002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20320">
            <a:solidFill>
              <a:srgbClr val="00B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185002" y="1600200"/>
            <a:ext cx="2609698" cy="38405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37" name="Text 34"/>
          <p:cNvSpPr/>
          <p:nvPr/>
        </p:nvSpPr>
        <p:spPr>
          <a:xfrm>
            <a:off x="6362395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362395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362395" y="2311603"/>
            <a:ext cx="457200" cy="32004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40" name="Shape 37"/>
          <p:cNvSpPr/>
          <p:nvPr/>
        </p:nvSpPr>
        <p:spPr>
          <a:xfrm>
            <a:off x="7337146" y="3034894"/>
            <a:ext cx="304495" cy="304495"/>
          </a:xfrm>
          <a:prstGeom prst="ellipse">
            <a:avLst/>
          </a:prstGeom>
          <a:solidFill>
            <a:srgbClr val="E5F5FD"/>
          </a:solidFill>
          <a:ln w="17780">
            <a:solidFill>
              <a:srgbClr val="00B0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75550" y="3086100"/>
            <a:ext cx="2286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2000" dirty="0"/>
          </a:p>
        </p:txBody>
      </p:sp>
      <p:sp>
        <p:nvSpPr>
          <p:cNvPr id="42" name="Text 39"/>
          <p:cNvSpPr/>
          <p:nvPr/>
        </p:nvSpPr>
        <p:spPr>
          <a:xfrm>
            <a:off x="6362395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Logistics world model driving decisions that get better with every cycle.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6362395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362395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differentiator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8973007" y="1600200"/>
            <a:ext cx="2609698" cy="3962095"/>
          </a:xfrm>
          <a:prstGeom prst="roundRect">
            <a:avLst>
              <a:gd name="adj" fmla="val 196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  <a:effectLst>
            <a:outerShdw sx="100000" sy="100000" kx="0" ky="0" algn="bl" rotWithShape="0" blurRad="101600" dist="25400" dir="5400000">
              <a:srgbClr val="1A2030">
                <a:alpha val="14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8973007" y="1600200"/>
            <a:ext cx="2609698" cy="38405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47" name="Text 44"/>
          <p:cNvSpPr/>
          <p:nvPr/>
        </p:nvSpPr>
        <p:spPr>
          <a:xfrm>
            <a:off x="9150401" y="1815998"/>
            <a:ext cx="2253996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9AA7B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150401" y="2006194"/>
            <a:ext cx="2253996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9150401" y="2311603"/>
            <a:ext cx="457200" cy="32004"/>
          </a:xfrm>
          <a:prstGeom prst="rect">
            <a:avLst/>
          </a:prstGeom>
          <a:solidFill>
            <a:srgbClr val="002060"/>
          </a:solidFill>
          <a:ln/>
        </p:spPr>
      </p:sp>
      <p:sp>
        <p:nvSpPr>
          <p:cNvPr id="50" name="Shape 47"/>
          <p:cNvSpPr/>
          <p:nvPr/>
        </p:nvSpPr>
        <p:spPr>
          <a:xfrm>
            <a:off x="10125151" y="3034894"/>
            <a:ext cx="304495" cy="304495"/>
          </a:xfrm>
          <a:prstGeom prst="ellipse">
            <a:avLst/>
          </a:prstGeom>
          <a:solidFill>
            <a:srgbClr val="F2F6FB"/>
          </a:solidFill>
          <a:ln w="17780">
            <a:solidFill>
              <a:srgbClr val="00206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163556" y="3086100"/>
            <a:ext cx="2286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6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2000" dirty="0"/>
          </a:p>
        </p:txBody>
      </p:sp>
      <p:sp>
        <p:nvSpPr>
          <p:cNvPr id="52" name="Text 49"/>
          <p:cNvSpPr/>
          <p:nvPr/>
        </p:nvSpPr>
        <p:spPr>
          <a:xfrm>
            <a:off x="9150401" y="3720694"/>
            <a:ext cx="2253996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850" dirty="0">
                <a:solidFill>
                  <a:srgbClr val="1F2A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Energy and carbon visibility turned into measurable savings.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9150401" y="5067605"/>
            <a:ext cx="2253996" cy="342900"/>
          </a:xfrm>
          <a:prstGeom prst="roundRect">
            <a:avLst>
              <a:gd name="adj" fmla="val 14933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50401" y="5149901"/>
            <a:ext cx="2253996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Greener ops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7772400" y="6260897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500" dirty="0"/>
          </a:p>
        </p:txBody>
      </p:sp>
      <p:sp>
        <p:nvSpPr>
          <p:cNvPr id="56" name="Text 53"/>
          <p:cNvSpPr/>
          <p:nvPr/>
        </p:nvSpPr>
        <p:spPr>
          <a:xfrm>
            <a:off x="7772400" y="6553505"/>
            <a:ext cx="38103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50" spc="200" kern="0" dirty="0">
                <a:solidFill>
                  <a:srgbClr val="9A9A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HUMAN TO HUMAN</a:t>
            </a:r>
            <a:endParaRPr lang="en-US" sz="550" dirty="0"/>
          </a:p>
        </p:txBody>
      </p:sp>
      <p:sp>
        <p:nvSpPr>
          <p:cNvPr id="57" name="Shape 54"/>
          <p:cNvSpPr/>
          <p:nvPr/>
        </p:nvSpPr>
        <p:spPr>
          <a:xfrm>
            <a:off x="7239305" y="6616598"/>
            <a:ext cx="711403" cy="0"/>
          </a:xfrm>
          <a:prstGeom prst="line">
            <a:avLst/>
          </a:prstGeom>
          <a:noFill/>
          <a:ln w="17780">
            <a:solidFill>
              <a:srgbClr val="6496B9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905" y="838505"/>
            <a:ext cx="3937406" cy="158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dirty="0">
                <a:solidFill>
                  <a:srgbClr val="D8E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7500" dirty="0"/>
          </a:p>
        </p:txBody>
      </p:sp>
      <p:sp>
        <p:nvSpPr>
          <p:cNvPr id="3" name="Shape 1"/>
          <p:cNvSpPr/>
          <p:nvPr/>
        </p:nvSpPr>
        <p:spPr>
          <a:xfrm>
            <a:off x="660197" y="3301898"/>
            <a:ext cx="51206" cy="711403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174797"/>
            <a:ext cx="7492594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Built For International Operations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927202" y="3733495"/>
            <a:ext cx="647669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Formal, English-first, ready for the global stage.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E5F5FD"/>
          </a:solidFill>
          <a:ln w="12700">
            <a:solidFill>
              <a:srgbClr val="00B0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65806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5806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16298" y="4444898"/>
            <a:ext cx="1333195" cy="317297"/>
          </a:xfrm>
          <a:prstGeom prst="roundRect">
            <a:avLst>
              <a:gd name="adj" fmla="val 16138"/>
            </a:avLst>
          </a:prstGeom>
          <a:solidFill>
            <a:srgbClr val="F2F6FB"/>
          </a:solidFill>
          <a:ln w="12700">
            <a:solidFill>
              <a:srgbClr val="D8E0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16298" y="4533595"/>
            <a:ext cx="1333195" cy="139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20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Autonomous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0" y="6260897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500" b="1" spc="300" kern="0" dirty="0">
                <a:solidFill>
                  <a:srgbClr val="8C8C8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0" y="6553505"/>
            <a:ext cx="3810305" cy="127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50" spc="200" kern="0" dirty="0">
                <a:solidFill>
                  <a:srgbClr val="9A9A9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FROM HUMAN TO HUMAN</a:t>
            </a:r>
            <a:endParaRPr lang="en-US" sz="550" dirty="0"/>
          </a:p>
        </p:txBody>
      </p:sp>
      <p:sp>
        <p:nvSpPr>
          <p:cNvPr id="14" name="Shape 12"/>
          <p:cNvSpPr/>
          <p:nvPr/>
        </p:nvSpPr>
        <p:spPr>
          <a:xfrm>
            <a:off x="7239305" y="6616598"/>
            <a:ext cx="711403" cy="0"/>
          </a:xfrm>
          <a:prstGeom prst="line">
            <a:avLst/>
          </a:prstGeom>
          <a:noFill/>
          <a:ln w="17780">
            <a:solidFill>
              <a:srgbClr val="6496B9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me/assets/cover-port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55203" y="495605"/>
            <a:ext cx="3047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WESTWELL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651406" y="2565806"/>
            <a:ext cx="8889797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Taking One Westwell, </a:t>
            </a:r>
            <a:pPr algn="ctr" indent="0" marL="0">
              <a:buNone/>
            </a:pPr>
            <a:r>
              <a:rPr lang="en-US" sz="2500" b="1" dirty="0">
                <a:solidFill>
                  <a:srgbClr val="00B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Building the Future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5143500" y="3429000"/>
            <a:ext cx="1904695" cy="19202"/>
          </a:xfrm>
          <a:prstGeom prst="rect">
            <a:avLst/>
          </a:prstGeom>
          <a:solidFill>
            <a:srgbClr val="00B0F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631997"/>
            <a:ext cx="7619695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Make a Well Change.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2026-06-23T06:31:09Z</dcterms:created>
  <dcterms:modified xsi:type="dcterms:W3CDTF">2026-06-23T06:31:09Z</dcterms:modified>
</cp:coreProperties>
</file>