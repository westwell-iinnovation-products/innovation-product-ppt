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效率提升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0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F6F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</c:ser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设备利用率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206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F6F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92</c:v>
                </c:pt>
                <c:pt idx="1">
                  <c:v>8</c:v>
                </c:pt>
              </c:numCache>
            </c:numRef>
          </c:val>
        </c:ser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研发占比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206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F6F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系统可用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206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F6F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99.9</c:v>
                </c:pt>
                <c:pt idx="1">
                  <c:v>0.09999999999999432</c:v>
                </c:pt>
              </c:numCache>
            </c:numRef>
          </c:val>
        </c:ser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4" Type="http://schemas.openxmlformats.org/officeDocument/2006/relationships/chart" Target="/ppt/charts/chart3.xml"/><Relationship Id="rId5" Type="http://schemas.openxmlformats.org/officeDocument/2006/relationships/chart" Target="/ppt/charts/chart4.xml"/><Relationship Id="rId1" Type="http://schemas.openxmlformats.org/officeDocument/2006/relationships/image" Target="../media/image-6-1.png"/><Relationship Id="rId6" Type="http://schemas.openxmlformats.org/officeDocument/2006/relationships/image" Target="../media/image-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象限矩阵 quadrantMatrix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二维定位。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40203" y="1663294"/>
            <a:ext cx="3556102" cy="2057400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96305" y="1663294"/>
            <a:ext cx="3556102" cy="2057400"/>
          </a:xfrm>
          <a:prstGeom prst="rect">
            <a:avLst/>
          </a:prstGeom>
          <a:solidFill>
            <a:srgbClr val="E5F5FD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40203" y="3720694"/>
            <a:ext cx="355610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96305" y="3720694"/>
            <a:ext cx="3556102" cy="2057400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80106" y="1765706"/>
            <a:ext cx="1904695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606894" y="1765706"/>
            <a:ext cx="1904695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重点投入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680106" y="5512003"/>
            <a:ext cx="1904695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放弃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606894" y="5512003"/>
            <a:ext cx="1904695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快赢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540203" y="3720694"/>
            <a:ext cx="7112203" cy="0"/>
          </a:xfrm>
          <a:prstGeom prst="line">
            <a:avLst/>
          </a:prstGeom>
          <a:noFill/>
          <a:ln w="17780">
            <a:solidFill>
              <a:srgbClr val="5B6B7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96305" y="1663294"/>
            <a:ext cx="0" cy="4114800"/>
          </a:xfrm>
          <a:prstGeom prst="line">
            <a:avLst/>
          </a:prstGeom>
          <a:noFill/>
          <a:ln w="17780">
            <a:solidFill>
              <a:srgbClr val="5B6B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90495" y="3771900"/>
            <a:ext cx="1524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8076895" y="3771900"/>
            <a:ext cx="1524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高成本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172200" y="1701698"/>
            <a:ext cx="1651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172200" y="5600700"/>
            <a:ext cx="1651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低价值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7435901" y="2198218"/>
            <a:ext cx="165506" cy="16550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632497" y="2198218"/>
            <a:ext cx="1777594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ReeWell 平台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591202" y="3226918"/>
            <a:ext cx="165506" cy="165506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787798" y="3226918"/>
            <a:ext cx="1777594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单点自动化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235501" y="4667098"/>
            <a:ext cx="165506" cy="165506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432097" y="4667098"/>
            <a:ext cx="1777594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纯人工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791602" y="4255618"/>
            <a:ext cx="165506" cy="165506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988198" y="4255618"/>
            <a:ext cx="1777594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定制开发</a:t>
            </a:r>
            <a:endParaRPr lang="en-US" sz="750" dirty="0"/>
          </a:p>
        </p:txBody>
      </p:sp>
      <p:pic>
        <p:nvPicPr>
          <p:cNvPr id="28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优先级金字塔 priorityPyramid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顶层最重要。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58107" y="1854403"/>
            <a:ext cx="778154" cy="927202"/>
          </a:xfrm>
          <a:prstGeom prst="triangle">
            <a:avLst/>
          </a:prstGeom>
          <a:solidFill>
            <a:srgbClr val="00B0F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058107" y="2229307"/>
            <a:ext cx="778154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833518" y="2318004"/>
            <a:ext cx="3077870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80299" y="2286000"/>
            <a:ext cx="63094" cy="63094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10" name="Text 7"/>
          <p:cNvSpPr/>
          <p:nvPr/>
        </p:nvSpPr>
        <p:spPr>
          <a:xfrm>
            <a:off x="8001000" y="2139696"/>
            <a:ext cx="3581705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安全稳定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01000" y="2381098"/>
            <a:ext cx="3581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不可妥协的底线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670402" y="2781605"/>
            <a:ext cx="1555394" cy="927202"/>
          </a:xfrm>
          <a:prstGeom prst="trapezoid">
            <a:avLst/>
          </a:prstGeom>
          <a:solidFill>
            <a:srgbClr val="00206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70402" y="3155594"/>
            <a:ext cx="1555394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223053" y="3245206"/>
            <a:ext cx="2689250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80299" y="3213202"/>
            <a:ext cx="63094" cy="63094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16" name="Text 13"/>
          <p:cNvSpPr/>
          <p:nvPr/>
        </p:nvSpPr>
        <p:spPr>
          <a:xfrm>
            <a:off x="8001000" y="3066898"/>
            <a:ext cx="3581705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01000" y="3308299"/>
            <a:ext cx="3581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2889504" y="3708806"/>
            <a:ext cx="3111703" cy="927202"/>
          </a:xfrm>
          <a:prstGeom prst="trapezoid">
            <a:avLst/>
          </a:prstGeom>
          <a:solidFill>
            <a:srgbClr val="00206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889504" y="4082796"/>
            <a:ext cx="311170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001207" y="4172407"/>
            <a:ext cx="1911096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80299" y="4140403"/>
            <a:ext cx="63094" cy="63094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22" name="Text 19"/>
          <p:cNvSpPr/>
          <p:nvPr/>
        </p:nvSpPr>
        <p:spPr>
          <a:xfrm>
            <a:off x="8001000" y="3994099"/>
            <a:ext cx="3581705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成本优化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01000" y="4235501"/>
            <a:ext cx="3581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1333195" y="4635094"/>
            <a:ext cx="6223406" cy="927202"/>
          </a:xfrm>
          <a:prstGeom prst="trapezoid">
            <a:avLst/>
          </a:prstGeom>
          <a:solidFill>
            <a:srgbClr val="00206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333195" y="5009998"/>
            <a:ext cx="62234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556602" y="5098694"/>
            <a:ext cx="355702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80299" y="5067605"/>
            <a:ext cx="63094" cy="63094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28" name="Text 25"/>
          <p:cNvSpPr/>
          <p:nvPr/>
        </p:nvSpPr>
        <p:spPr>
          <a:xfrm>
            <a:off x="8001000" y="4921301"/>
            <a:ext cx="3581705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体验增强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001000" y="5162702"/>
            <a:ext cx="3581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锦上添花</a:t>
            </a:r>
            <a:endParaRPr lang="en-US" sz="700" dirty="0"/>
          </a:p>
        </p:txBody>
      </p:sp>
      <p:pic>
        <p:nvPicPr>
          <p:cNvPr id="30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覆盖示意 coverageMap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站点分布与总部联动。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1505102"/>
            <a:ext cx="6985102" cy="4425696"/>
          </a:xfrm>
          <a:prstGeom prst="roundRect">
            <a:avLst>
              <a:gd name="adj" fmla="val 1157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1695" y="1619402"/>
            <a:ext cx="66806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全国部署区域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 flipH="1" flipV="1">
            <a:off x="2006194" y="2611526"/>
            <a:ext cx="2095805" cy="885139"/>
          </a:xfrm>
          <a:prstGeom prst="line">
            <a:avLst/>
          </a:prstGeom>
          <a:noFill/>
          <a:ln w="12700">
            <a:solidFill>
              <a:srgbClr val="D8E0E8"/>
            </a:solidFill>
            <a:prstDash val="sysDot"/>
          </a:ln>
        </p:spPr>
      </p:sp>
      <p:sp>
        <p:nvSpPr>
          <p:cNvPr id="9" name="Shape 6"/>
          <p:cNvSpPr/>
          <p:nvPr/>
        </p:nvSpPr>
        <p:spPr>
          <a:xfrm flipV="1">
            <a:off x="4101998" y="2832811"/>
            <a:ext cx="1746504" cy="663854"/>
          </a:xfrm>
          <a:prstGeom prst="line">
            <a:avLst/>
          </a:prstGeom>
          <a:noFill/>
          <a:ln w="12700">
            <a:solidFill>
              <a:srgbClr val="D8E0E8"/>
            </a:solidFill>
            <a:prstDash val="sysDot"/>
          </a:ln>
        </p:spPr>
      </p:sp>
      <p:sp>
        <p:nvSpPr>
          <p:cNvPr id="10" name="Shape 7"/>
          <p:cNvSpPr/>
          <p:nvPr/>
        </p:nvSpPr>
        <p:spPr>
          <a:xfrm flipH="1">
            <a:off x="2704795" y="3496666"/>
            <a:ext cx="1397203" cy="1106424"/>
          </a:xfrm>
          <a:prstGeom prst="line">
            <a:avLst/>
          </a:prstGeom>
          <a:noFill/>
          <a:ln w="12700">
            <a:solidFill>
              <a:srgbClr val="D8E0E8"/>
            </a:solidFill>
            <a:prstDash val="sysDot"/>
          </a:ln>
        </p:spPr>
      </p:sp>
      <p:sp>
        <p:nvSpPr>
          <p:cNvPr id="11" name="Shape 8"/>
          <p:cNvSpPr/>
          <p:nvPr/>
        </p:nvSpPr>
        <p:spPr>
          <a:xfrm>
            <a:off x="4101998" y="3496666"/>
            <a:ext cx="1257300" cy="1195121"/>
          </a:xfrm>
          <a:prstGeom prst="line">
            <a:avLst/>
          </a:prstGeom>
          <a:noFill/>
          <a:ln w="12700">
            <a:solidFill>
              <a:srgbClr val="D8E0E8"/>
            </a:solidFill>
            <a:prstDash val="sysDot"/>
          </a:ln>
        </p:spPr>
      </p:sp>
      <p:sp>
        <p:nvSpPr>
          <p:cNvPr id="12" name="Shape 9"/>
          <p:cNvSpPr/>
          <p:nvPr/>
        </p:nvSpPr>
        <p:spPr>
          <a:xfrm flipV="1">
            <a:off x="4101998" y="2390242"/>
            <a:ext cx="0" cy="1106424"/>
          </a:xfrm>
          <a:prstGeom prst="line">
            <a:avLst/>
          </a:prstGeom>
          <a:noFill/>
          <a:ln w="12700">
            <a:solidFill>
              <a:srgbClr val="D8E0E8"/>
            </a:solidFill>
            <a:prstDash val="sysDot"/>
          </a:ln>
        </p:spPr>
      </p:sp>
      <p:sp>
        <p:nvSpPr>
          <p:cNvPr id="13" name="Shape 10"/>
          <p:cNvSpPr/>
          <p:nvPr/>
        </p:nvSpPr>
        <p:spPr>
          <a:xfrm>
            <a:off x="1936699" y="2542032"/>
            <a:ext cx="139903" cy="139903"/>
          </a:xfrm>
          <a:prstGeom prst="ellipse">
            <a:avLst/>
          </a:prstGeom>
          <a:solidFill>
            <a:srgbClr val="00B0F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108606" y="2535631"/>
            <a:ext cx="1397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天津港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5778094" y="2763317"/>
            <a:ext cx="139903" cy="139903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50001" y="2756916"/>
            <a:ext cx="1397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盐田港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2635301" y="4533595"/>
            <a:ext cx="139903" cy="139903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806294" y="4527194"/>
            <a:ext cx="1397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甘其毛都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5289804" y="4621378"/>
            <a:ext cx="139903" cy="139903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460797" y="4614977"/>
            <a:ext cx="1397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瑞钢联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4032504" y="2319833"/>
            <a:ext cx="139903" cy="139903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203497" y="2314346"/>
            <a:ext cx="1397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上海总部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3994099" y="3388766"/>
            <a:ext cx="215798" cy="215798"/>
          </a:xfrm>
          <a:prstGeom prst="ellipse">
            <a:avLst/>
          </a:prstGeom>
          <a:solidFill>
            <a:srgbClr val="00B0F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785202" y="1505102"/>
            <a:ext cx="37975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站点清单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810805" y="1873606"/>
            <a:ext cx="88697" cy="88697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26" name="Text 23"/>
          <p:cNvSpPr/>
          <p:nvPr/>
        </p:nvSpPr>
        <p:spPr>
          <a:xfrm>
            <a:off x="7975397" y="1822399"/>
            <a:ext cx="356890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天津港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810805" y="2406701"/>
            <a:ext cx="88697" cy="8869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8" name="Text 25"/>
          <p:cNvSpPr/>
          <p:nvPr/>
        </p:nvSpPr>
        <p:spPr>
          <a:xfrm>
            <a:off x="7975397" y="2355494"/>
            <a:ext cx="356890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盐田港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975397" y="2533802"/>
            <a:ext cx="3568903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智慧园区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7810805" y="2939796"/>
            <a:ext cx="88697" cy="8869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31" name="Text 28"/>
          <p:cNvSpPr/>
          <p:nvPr/>
        </p:nvSpPr>
        <p:spPr>
          <a:xfrm>
            <a:off x="7975397" y="2889504"/>
            <a:ext cx="356890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甘其毛都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975397" y="3066898"/>
            <a:ext cx="3568903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口岸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7810805" y="3473806"/>
            <a:ext cx="88697" cy="8869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34" name="Text 31"/>
          <p:cNvSpPr/>
          <p:nvPr/>
        </p:nvSpPr>
        <p:spPr>
          <a:xfrm>
            <a:off x="7975397" y="3422599"/>
            <a:ext cx="356890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瑞钢联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975397" y="3600907"/>
            <a:ext cx="3568903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钢厂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7810805" y="4006901"/>
            <a:ext cx="88697" cy="8869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37" name="Text 34"/>
          <p:cNvSpPr/>
          <p:nvPr/>
        </p:nvSpPr>
        <p:spPr>
          <a:xfrm>
            <a:off x="7975397" y="3955694"/>
            <a:ext cx="356890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上海总部</a:t>
            </a:r>
            <a:endParaRPr lang="en-US" sz="800" dirty="0"/>
          </a:p>
        </p:txBody>
      </p:sp>
      <p:pic>
        <p:nvPicPr>
          <p:cNvPr id="38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部署拓扑 topology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29500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云-边-端三层。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53305" y="1593799"/>
            <a:ext cx="2286000" cy="482803"/>
          </a:xfrm>
          <a:prstGeom prst="roundRect">
            <a:avLst>
              <a:gd name="adj" fmla="val 10606"/>
            </a:avLst>
          </a:prstGeom>
          <a:solidFill>
            <a:srgbClr val="00B0F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953305" y="1733702"/>
            <a:ext cx="2286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ReeWell 云平台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 flipH="1">
            <a:off x="4254703" y="2076602"/>
            <a:ext cx="1841602" cy="1466698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3543300"/>
            <a:ext cx="1651406" cy="381305"/>
          </a:xfrm>
          <a:prstGeom prst="roundRect">
            <a:avLst>
              <a:gd name="adj" fmla="val 13429"/>
            </a:avLst>
          </a:prstGeom>
          <a:solidFill>
            <a:srgbClr val="00206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80206" y="3644798"/>
            <a:ext cx="1548994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港区边缘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096305" y="2076602"/>
            <a:ext cx="0" cy="1466698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70602" y="3543300"/>
            <a:ext cx="1651406" cy="381305"/>
          </a:xfrm>
          <a:prstGeom prst="roundRect">
            <a:avLst>
              <a:gd name="adj" fmla="val 13429"/>
            </a:avLst>
          </a:prstGeom>
          <a:solidFill>
            <a:srgbClr val="00206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320894" y="3644798"/>
            <a:ext cx="1548994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厂区边缘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096305" y="2076602"/>
            <a:ext cx="1841602" cy="1466698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12203" y="3543300"/>
            <a:ext cx="1651406" cy="381305"/>
          </a:xfrm>
          <a:prstGeom prst="roundRect">
            <a:avLst>
              <a:gd name="adj" fmla="val 13429"/>
            </a:avLst>
          </a:prstGeom>
          <a:solidFill>
            <a:srgbClr val="00206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162495" y="3644798"/>
            <a:ext cx="1548994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园区边缘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 flipH="1">
            <a:off x="2508199" y="3924605"/>
            <a:ext cx="1746504" cy="1422806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60804" y="5346497"/>
            <a:ext cx="1295705" cy="330098"/>
          </a:xfrm>
          <a:prstGeom prst="roundRect">
            <a:avLst>
              <a:gd name="adj" fmla="val 155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98294" y="5435194"/>
            <a:ext cx="1218895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无人重卡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 flipH="1">
            <a:off x="3943807" y="3924605"/>
            <a:ext cx="310896" cy="1422806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95498" y="5346497"/>
            <a:ext cx="1295705" cy="330098"/>
          </a:xfrm>
          <a:prstGeom prst="roundRect">
            <a:avLst>
              <a:gd name="adj" fmla="val 155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33902" y="5435194"/>
            <a:ext cx="1218895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岸桥 QC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 flipH="1">
            <a:off x="5378501" y="3924605"/>
            <a:ext cx="717804" cy="1422806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31106" y="5346497"/>
            <a:ext cx="1295705" cy="330098"/>
          </a:xfrm>
          <a:prstGeom prst="roundRect">
            <a:avLst>
              <a:gd name="adj" fmla="val 155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68596" y="5435194"/>
            <a:ext cx="1218895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场桥 YC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6096305" y="3924605"/>
            <a:ext cx="717804" cy="1422806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65799" y="5346497"/>
            <a:ext cx="1295705" cy="330098"/>
          </a:xfrm>
          <a:prstGeom prst="roundRect">
            <a:avLst>
              <a:gd name="adj" fmla="val 155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04204" y="5435194"/>
            <a:ext cx="1218895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IGV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7937906" y="3924605"/>
            <a:ext cx="310896" cy="1422806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601407" y="5346497"/>
            <a:ext cx="1295705" cy="330098"/>
          </a:xfrm>
          <a:prstGeom prst="roundRect">
            <a:avLst>
              <a:gd name="adj" fmla="val 155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38898" y="5435194"/>
            <a:ext cx="1218895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有人车队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7937906" y="3924605"/>
            <a:ext cx="1746504" cy="1422806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36101" y="5346497"/>
            <a:ext cx="1295705" cy="330098"/>
          </a:xfrm>
          <a:prstGeom prst="roundRect">
            <a:avLst>
              <a:gd name="adj" fmla="val 155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074506" y="5435194"/>
            <a:ext cx="1218895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传感网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609905" y="1759306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 Cloud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609905" y="3657600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 Edge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9905" y="5435194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 Device</a:t>
            </a:r>
            <a:endParaRPr lang="en-US" sz="650" dirty="0"/>
          </a:p>
        </p:txBody>
      </p:sp>
      <p:pic>
        <p:nvPicPr>
          <p:cNvPr id="38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图文画廊 imageGallery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产品/现场截图占位。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1943100"/>
            <a:ext cx="2619756" cy="3556102"/>
          </a:xfrm>
          <a:prstGeom prst="roundRect">
            <a:avLst>
              <a:gd name="adj" fmla="val 19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72998" y="2006194"/>
            <a:ext cx="2492654" cy="2883103"/>
          </a:xfrm>
          <a:prstGeom prst="roundRect">
            <a:avLst>
              <a:gd name="adj" fmla="val 205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47418" y="3200400"/>
            <a:ext cx="342900" cy="3429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06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17827" y="3276295"/>
            <a:ext cx="202997" cy="20299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0" name="Shape 7"/>
          <p:cNvSpPr/>
          <p:nvPr/>
        </p:nvSpPr>
        <p:spPr>
          <a:xfrm flipH="1" flipV="1">
            <a:off x="1652321" y="3174797"/>
            <a:ext cx="267005" cy="202997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02029" y="3124505"/>
            <a:ext cx="101498" cy="10149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1919326" y="3174797"/>
            <a:ext cx="267005" cy="202997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35124" y="3124505"/>
            <a:ext cx="101498" cy="10149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1652321" y="3377794"/>
            <a:ext cx="267005" cy="202997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02029" y="3530498"/>
            <a:ext cx="101498" cy="10149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919326" y="3377794"/>
            <a:ext cx="267005" cy="202997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35124" y="3530498"/>
            <a:ext cx="101498" cy="10149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998" y="4623206"/>
            <a:ext cx="2492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 / Screenshot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609905" y="4889297"/>
            <a:ext cx="2619756" cy="25603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0" name="Text 17"/>
          <p:cNvSpPr/>
          <p:nvPr/>
        </p:nvSpPr>
        <p:spPr>
          <a:xfrm>
            <a:off x="748894" y="4990795"/>
            <a:ext cx="233995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调度驾驶舱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48894" y="5206594"/>
            <a:ext cx="233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全场实时调度总览。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3394253" y="1943100"/>
            <a:ext cx="2619756" cy="3556102"/>
          </a:xfrm>
          <a:prstGeom prst="roundRect">
            <a:avLst>
              <a:gd name="adj" fmla="val 1955"/>
            </a:avLst>
          </a:prstGeom>
          <a:solidFill>
            <a:srgbClr val="FFFFFF"/>
          </a:solidFill>
          <a:ln w="2032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57346" y="2006194"/>
            <a:ext cx="2492654" cy="2883103"/>
          </a:xfrm>
          <a:prstGeom prst="roundRect">
            <a:avLst>
              <a:gd name="adj" fmla="val 205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32681" y="3200400"/>
            <a:ext cx="342900" cy="3429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63770" y="3238805"/>
            <a:ext cx="279806" cy="279806"/>
          </a:xfrm>
          <a:prstGeom prst="ellipse">
            <a:avLst/>
          </a:prstGeom>
          <a:ln w="17780">
            <a:solidFill>
              <a:srgbClr val="00B0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4703674" y="3301898"/>
            <a:ext cx="75895" cy="75895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678070" y="3353105"/>
            <a:ext cx="51206" cy="51206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28" name="Text 25"/>
          <p:cNvSpPr/>
          <p:nvPr/>
        </p:nvSpPr>
        <p:spPr>
          <a:xfrm>
            <a:off x="3457346" y="4623206"/>
            <a:ext cx="2492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 / Screenshot</a:t>
            </a:r>
            <a:endParaRPr lang="en-US" sz="600" dirty="0"/>
          </a:p>
        </p:txBody>
      </p:sp>
      <p:sp>
        <p:nvSpPr>
          <p:cNvPr id="29" name="Shape 26"/>
          <p:cNvSpPr/>
          <p:nvPr/>
        </p:nvSpPr>
        <p:spPr>
          <a:xfrm>
            <a:off x="3394253" y="4889297"/>
            <a:ext cx="2619756" cy="25603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30" name="Text 27"/>
          <p:cNvSpPr/>
          <p:nvPr/>
        </p:nvSpPr>
        <p:spPr>
          <a:xfrm>
            <a:off x="3534156" y="4990795"/>
            <a:ext cx="233995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运行监控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534156" y="5206594"/>
            <a:ext cx="233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进度与异常预警。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6178601" y="1943100"/>
            <a:ext cx="2619756" cy="3556102"/>
          </a:xfrm>
          <a:prstGeom prst="roundRect">
            <a:avLst>
              <a:gd name="adj" fmla="val 19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41694" y="2006194"/>
            <a:ext cx="2492654" cy="2883103"/>
          </a:xfrm>
          <a:prstGeom prst="roundRect">
            <a:avLst>
              <a:gd name="adj" fmla="val 205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317029" y="3200400"/>
            <a:ext cx="342900" cy="3429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06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48118" y="3422599"/>
            <a:ext cx="279806" cy="82296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48118" y="3340303"/>
            <a:ext cx="279806" cy="82296"/>
          </a:xfrm>
          <a:prstGeom prst="roundRect">
            <a:avLst>
              <a:gd name="adj" fmla="val 23333"/>
            </a:avLst>
          </a:prstGeom>
          <a:solidFill>
            <a:srgbClr val="002060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48118" y="3258007"/>
            <a:ext cx="279806" cy="82296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41694" y="4623206"/>
            <a:ext cx="2492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 / Screenshot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6178601" y="4889297"/>
            <a:ext cx="2619756" cy="25603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0" name="Text 37"/>
          <p:cNvSpPr/>
          <p:nvPr/>
        </p:nvSpPr>
        <p:spPr>
          <a:xfrm>
            <a:off x="6318504" y="4990795"/>
            <a:ext cx="233995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318504" y="5206594"/>
            <a:ext cx="233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虚实结合三维呈现。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8962949" y="1943100"/>
            <a:ext cx="2619756" cy="3556102"/>
          </a:xfrm>
          <a:prstGeom prst="roundRect">
            <a:avLst>
              <a:gd name="adj" fmla="val 19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9026957" y="2006194"/>
            <a:ext cx="2492654" cy="2883103"/>
          </a:xfrm>
          <a:prstGeom prst="roundRect">
            <a:avLst>
              <a:gd name="adj" fmla="val 205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101377" y="3200400"/>
            <a:ext cx="342900" cy="3429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06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107778" y="3416198"/>
            <a:ext cx="75895" cy="114300"/>
          </a:xfrm>
          <a:prstGeom prst="rect">
            <a:avLst/>
          </a:prstGeom>
          <a:solidFill>
            <a:srgbClr val="FFFFFF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234879" y="3327502"/>
            <a:ext cx="75895" cy="202997"/>
          </a:xfrm>
          <a:prstGeom prst="rect">
            <a:avLst/>
          </a:prstGeom>
          <a:solidFill>
            <a:srgbClr val="FFFFFF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361981" y="3238805"/>
            <a:ext cx="75895" cy="291694"/>
          </a:xfrm>
          <a:prstGeom prst="rect">
            <a:avLst/>
          </a:prstGeom>
          <a:solidFill>
            <a:srgbClr val="002060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056571" y="3530498"/>
            <a:ext cx="431597" cy="0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026957" y="4623206"/>
            <a:ext cx="2492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 / Screenshot</a:t>
            </a:r>
            <a:endParaRPr lang="en-US" sz="600" dirty="0"/>
          </a:p>
        </p:txBody>
      </p:sp>
      <p:sp>
        <p:nvSpPr>
          <p:cNvPr id="50" name="Shape 47"/>
          <p:cNvSpPr/>
          <p:nvPr/>
        </p:nvSpPr>
        <p:spPr>
          <a:xfrm>
            <a:off x="8962949" y="4889297"/>
            <a:ext cx="2619756" cy="25603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1" name="Text 48"/>
          <p:cNvSpPr/>
          <p:nvPr/>
        </p:nvSpPr>
        <p:spPr>
          <a:xfrm>
            <a:off x="9102852" y="4990795"/>
            <a:ext cx="233995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9102852" y="5206594"/>
            <a:ext cx="233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一屏总览。</a:t>
            </a:r>
            <a:endParaRPr lang="en-US" sz="650" dirty="0"/>
          </a:p>
        </p:txBody>
      </p:sp>
      <p:pic>
        <p:nvPicPr>
          <p:cNvPr id="53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环形指标 ringStats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百分比型成效。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1308506" y="2521001"/>
          <a:ext cx="1345997" cy="134599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1308506" y="3003804"/>
            <a:ext cx="13459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30%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37006" y="3968496"/>
            <a:ext cx="24889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800100" y="4184294"/>
            <a:ext cx="23618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岸桥-堆场节拍</a:t>
            </a:r>
            <a:endParaRPr lang="en-US" sz="65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051706" y="2521001"/>
          <a:ext cx="1345997" cy="134599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4051706" y="3003804"/>
            <a:ext cx="13459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92%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3480206" y="3968496"/>
            <a:ext cx="24889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设备利用率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543300" y="4184294"/>
            <a:ext cx="23618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调度优化后</a:t>
            </a:r>
            <a:endParaRPr lang="en-US" sz="650" dirty="0"/>
          </a:p>
        </p:txBody>
      </p:sp>
      <p:graphicFrame>
        <p:nvGraphicFramePr>
          <p:cNvPr id="14" name="Chart 2" descr=""/>
          <p:cNvGraphicFramePr/>
          <p:nvPr/>
        </p:nvGraphicFramePr>
        <p:xfrm>
          <a:off x="6794906" y="2521001"/>
          <a:ext cx="1345997" cy="134599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 9"/>
          <p:cNvSpPr/>
          <p:nvPr/>
        </p:nvSpPr>
        <p:spPr>
          <a:xfrm>
            <a:off x="6794906" y="3003804"/>
            <a:ext cx="13459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65%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223406" y="3968496"/>
            <a:ext cx="24889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研发占比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6286500" y="4184294"/>
            <a:ext cx="23618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团队结构</a:t>
            </a:r>
            <a:endParaRPr lang="en-US" sz="650" dirty="0"/>
          </a:p>
        </p:txBody>
      </p:sp>
      <p:graphicFrame>
        <p:nvGraphicFramePr>
          <p:cNvPr id="18" name="Chart 3" descr=""/>
          <p:cNvGraphicFramePr/>
          <p:nvPr/>
        </p:nvGraphicFramePr>
        <p:xfrm>
          <a:off x="9538106" y="2521001"/>
          <a:ext cx="1345997" cy="134599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Text 12"/>
          <p:cNvSpPr/>
          <p:nvPr/>
        </p:nvSpPr>
        <p:spPr>
          <a:xfrm>
            <a:off x="9538106" y="3003804"/>
            <a:ext cx="13459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99.9%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8966606" y="3968496"/>
            <a:ext cx="24889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系统可用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9029700" y="4184294"/>
            <a:ext cx="23618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稳定运行</a:t>
            </a:r>
            <a:endParaRPr lang="en-US" sz="650" dirty="0"/>
          </a:p>
        </p:txBody>
      </p:sp>
      <p:sp>
        <p:nvSpPr>
          <p:cNvPr id="22" name="Shape 15"/>
          <p:cNvSpPr/>
          <p:nvPr/>
        </p:nvSpPr>
        <p:spPr>
          <a:xfrm>
            <a:off x="609905" y="5524805"/>
            <a:ext cx="10972800" cy="418795"/>
          </a:xfrm>
          <a:prstGeom prst="roundRect">
            <a:avLst>
              <a:gd name="adj" fmla="val 1222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812902" y="5639105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数字为占位。</a:t>
            </a:r>
            <a:endParaRPr lang="en-US" sz="800" dirty="0"/>
          </a:p>
        </p:txBody>
      </p:sp>
      <p:pic>
        <p:nvPicPr>
          <p:cNvPr id="24" name="Image 1" descr="theme/assets/footer-westwe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编号叙述 numberedList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要点逐条展开。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1682496"/>
            <a:ext cx="10972800" cy="952805"/>
          </a:xfrm>
          <a:prstGeom prst="roundRect">
            <a:avLst>
              <a:gd name="adj" fmla="val 5374"/>
            </a:avLst>
          </a:prstGeom>
          <a:solidFill>
            <a:srgbClr val="FFFFFF"/>
          </a:solidFill>
          <a:ln w="2032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9905" y="1682496"/>
            <a:ext cx="51206" cy="952805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8" name="Text 5"/>
          <p:cNvSpPr/>
          <p:nvPr/>
        </p:nvSpPr>
        <p:spPr>
          <a:xfrm>
            <a:off x="825703" y="1682496"/>
            <a:ext cx="9528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917497" y="1943100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统一接入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917497" y="2197303"/>
            <a:ext cx="9525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多品牌有人/无人设备标准化接入统一管理。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09905" y="2723998"/>
            <a:ext cx="10972800" cy="952805"/>
          </a:xfrm>
          <a:prstGeom prst="roundRect">
            <a:avLst>
              <a:gd name="adj" fmla="val 537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9905" y="2723998"/>
            <a:ext cx="51206" cy="9528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3" name="Text 10"/>
          <p:cNvSpPr/>
          <p:nvPr/>
        </p:nvSpPr>
        <p:spPr>
          <a:xfrm>
            <a:off x="825703" y="2723998"/>
            <a:ext cx="9528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917497" y="2984602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实时调度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917497" y="3238805"/>
            <a:ext cx="9525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全局动态调度算法，垂直水平协同最优。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09905" y="3765499"/>
            <a:ext cx="10972800" cy="952805"/>
          </a:xfrm>
          <a:prstGeom prst="roundRect">
            <a:avLst>
              <a:gd name="adj" fmla="val 537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9905" y="3765499"/>
            <a:ext cx="51206" cy="9528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/>
          <p:nvPr/>
        </p:nvSpPr>
        <p:spPr>
          <a:xfrm>
            <a:off x="825703" y="3765499"/>
            <a:ext cx="9528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1917497" y="4026103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仿真预演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917497" y="4280306"/>
            <a:ext cx="9525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上线前充分预演，落地稳健、风险可控。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09905" y="4807001"/>
            <a:ext cx="10972800" cy="952805"/>
          </a:xfrm>
          <a:prstGeom prst="roundRect">
            <a:avLst>
              <a:gd name="adj" fmla="val 537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9905" y="4807001"/>
            <a:ext cx="51206" cy="9528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3" name="Text 20"/>
          <p:cNvSpPr/>
          <p:nvPr/>
        </p:nvSpPr>
        <p:spPr>
          <a:xfrm>
            <a:off x="825703" y="4807001"/>
            <a:ext cx="9528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1917497" y="5067605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数据资产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917497" y="5320894"/>
            <a:ext cx="9525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作业数据沉淀为可复用的运营资产。</a:t>
            </a:r>
            <a:endParaRPr lang="en-US" sz="750" dirty="0"/>
          </a:p>
        </p:txBody>
      </p:sp>
      <p:pic>
        <p:nvPicPr>
          <p:cNvPr id="26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竖向时间线 timelineVertical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0" y="1543507"/>
            <a:ext cx="0" cy="4336999"/>
          </a:xfrm>
          <a:prstGeom prst="line">
            <a:avLst/>
          </a:prstGeom>
          <a:noFill/>
          <a:ln w="25400">
            <a:solidFill>
              <a:srgbClr val="D8E0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9905" y="1983334"/>
            <a:ext cx="148590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2024 Q4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190902" y="1989734"/>
            <a:ext cx="190195" cy="190195"/>
          </a:xfrm>
          <a:prstGeom prst="ellipse">
            <a:avLst/>
          </a:prstGeom>
          <a:solidFill>
            <a:srgbClr val="00206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40203" y="1666037"/>
            <a:ext cx="9042502" cy="83850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40203" y="1666037"/>
            <a:ext cx="38405" cy="8385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1" name="Text 8"/>
          <p:cNvSpPr/>
          <p:nvPr/>
        </p:nvSpPr>
        <p:spPr>
          <a:xfrm>
            <a:off x="2717597" y="1780337"/>
            <a:ext cx="86868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立项与调研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17597" y="2034540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完成场景调研与方案框架。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09905" y="3067812"/>
            <a:ext cx="148590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2025 Q2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190902" y="3074213"/>
            <a:ext cx="190195" cy="190195"/>
          </a:xfrm>
          <a:prstGeom prst="ellipse">
            <a:avLst/>
          </a:prstGeom>
          <a:solidFill>
            <a:srgbClr val="00206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40203" y="2750515"/>
            <a:ext cx="9042502" cy="83850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40203" y="2750515"/>
            <a:ext cx="38405" cy="8385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7" name="Text 14"/>
          <p:cNvSpPr/>
          <p:nvPr/>
        </p:nvSpPr>
        <p:spPr>
          <a:xfrm>
            <a:off x="2717597" y="2864815"/>
            <a:ext cx="86868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试点上线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717597" y="3119018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单场景试点，有人在环验证。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09905" y="4152290"/>
            <a:ext cx="148590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2025 Q4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190902" y="4158691"/>
            <a:ext cx="190195" cy="190195"/>
          </a:xfrm>
          <a:prstGeom prst="ellipse">
            <a:avLst/>
          </a:prstGeom>
          <a:solidFill>
            <a:srgbClr val="00B0F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540203" y="3834994"/>
            <a:ext cx="9042502" cy="83850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2032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540203" y="3834994"/>
            <a:ext cx="38405" cy="838505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23" name="Text 20"/>
          <p:cNvSpPr/>
          <p:nvPr/>
        </p:nvSpPr>
        <p:spPr>
          <a:xfrm>
            <a:off x="2717597" y="3949294"/>
            <a:ext cx="86868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全场扩展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717597" y="4202582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统一调度全场推广。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09905" y="5236769"/>
            <a:ext cx="148590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2026 Q2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190902" y="5243170"/>
            <a:ext cx="190195" cy="190195"/>
          </a:xfrm>
          <a:prstGeom prst="ellipse">
            <a:avLst/>
          </a:prstGeom>
          <a:solidFill>
            <a:srgbClr val="00206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540203" y="4918558"/>
            <a:ext cx="9042502" cy="83850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540203" y="4918558"/>
            <a:ext cx="38405" cy="8385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9" name="Text 26"/>
          <p:cNvSpPr/>
          <p:nvPr/>
        </p:nvSpPr>
        <p:spPr>
          <a:xfrm>
            <a:off x="2717597" y="5032858"/>
            <a:ext cx="86868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无人自治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717597" y="5287061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 无人作业 + AI 预见。</a:t>
            </a:r>
            <a:endParaRPr lang="en-US" sz="700" dirty="0"/>
          </a:p>
        </p:txBody>
      </p:sp>
      <p:pic>
        <p:nvPicPr>
          <p:cNvPr id="31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金句页 quoteHighlight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关键论断。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97203" y="2044598"/>
            <a:ext cx="1015898" cy="101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E5F5F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</a:t>
            </a:r>
            <a:endParaRPr lang="en-US" sz="7500" dirty="0"/>
          </a:p>
        </p:txBody>
      </p:sp>
      <p:sp>
        <p:nvSpPr>
          <p:cNvPr id="7" name="Text 4"/>
          <p:cNvSpPr/>
          <p:nvPr/>
        </p:nvSpPr>
        <p:spPr>
          <a:xfrm>
            <a:off x="1904695" y="2438705"/>
            <a:ext cx="8382305" cy="15745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23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在没有实机的条件下，让落地过程</a:t>
            </a:r>
            <a:pPr algn="ctr" indent="0" marL="0">
              <a:lnSpc>
                <a:spcPct val="126000"/>
              </a:lnSpc>
              <a:buNone/>
            </a:pPr>
            <a:r>
              <a:rPr lang="en-US" sz="23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稳健、风险可控</a:t>
            </a:r>
            <a:pPr algn="ctr" indent="0" marL="0">
              <a:lnSpc>
                <a:spcPct val="126000"/>
              </a:lnSpc>
              <a:buNone/>
            </a:pPr>
            <a:r>
              <a:rPr lang="en-US" sz="23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460797" y="4229100"/>
            <a:ext cx="1270102" cy="25603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0" y="4406494"/>
            <a:ext cx="7619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ReeWell 仿真先行理念</a:t>
            </a:r>
            <a:endParaRPr lang="en-US" sz="1000" dirty="0"/>
          </a:p>
        </p:txBody>
      </p:sp>
      <p:pic>
        <p:nvPicPr>
          <p:cNvPr id="10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漏斗 funnel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5143500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逐层收敛。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 flipV="1">
            <a:off x="1333195" y="2025396"/>
            <a:ext cx="5715000" cy="838505"/>
          </a:xfrm>
          <a:prstGeom prst="trapezoid">
            <a:avLst/>
          </a:prstGeom>
          <a:solidFill>
            <a:srgbClr val="00206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48195" y="2445106"/>
            <a:ext cx="418795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56602" y="2266798"/>
            <a:ext cx="307329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触达场景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56602" y="2482596"/>
            <a:ext cx="4026103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 flipV="1">
            <a:off x="2762402" y="2863901"/>
            <a:ext cx="2857500" cy="838505"/>
          </a:xfrm>
          <a:prstGeom prst="trapezoid">
            <a:avLst/>
          </a:prstGeom>
          <a:solidFill>
            <a:srgbClr val="00206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19902" y="3282696"/>
            <a:ext cx="1848002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56602" y="3105302"/>
            <a:ext cx="307329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可自动化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56602" y="3321101"/>
            <a:ext cx="4026103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72%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 flipV="1">
            <a:off x="3480206" y="3702406"/>
            <a:ext cx="1429207" cy="838505"/>
          </a:xfrm>
          <a:prstGeom prst="trapezoid">
            <a:avLst/>
          </a:prstGeom>
          <a:solidFill>
            <a:srgbClr val="00206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05756" y="4121201"/>
            <a:ext cx="2562149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56602" y="3943807"/>
            <a:ext cx="307329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已接入平台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556602" y="4159606"/>
            <a:ext cx="4026103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55%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flipV="1">
            <a:off x="3834994" y="4539996"/>
            <a:ext cx="714146" cy="838505"/>
          </a:xfrm>
          <a:prstGeom prst="trapezoid">
            <a:avLst/>
          </a:prstGeom>
          <a:solidFill>
            <a:srgbClr val="00B0F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48226" y="4959706"/>
            <a:ext cx="2919679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6602" y="4781398"/>
            <a:ext cx="307329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无人作业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556602" y="4997196"/>
            <a:ext cx="4026103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38%</a:t>
            </a:r>
            <a:endParaRPr lang="en-US" sz="1500" dirty="0"/>
          </a:p>
        </p:txBody>
      </p:sp>
      <p:pic>
        <p:nvPicPr>
          <p:cNvPr id="22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双方案对比 twoOptionCompare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/ B 取舍。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1517904"/>
            <a:ext cx="5283403" cy="4425696"/>
          </a:xfrm>
          <a:prstGeom prst="roundRect">
            <a:avLst>
              <a:gd name="adj" fmla="val 115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9905" y="1517904"/>
            <a:ext cx="5283403" cy="444398"/>
          </a:xfrm>
          <a:prstGeom prst="roundRect">
            <a:avLst>
              <a:gd name="adj" fmla="val 11523"/>
            </a:avLst>
          </a:prstGeom>
          <a:solidFill>
            <a:srgbClr val="002060"/>
          </a:solidFill>
          <a:ln/>
        </p:spPr>
      </p:sp>
      <p:sp>
        <p:nvSpPr>
          <p:cNvPr id="8" name="Text 5"/>
          <p:cNvSpPr/>
          <p:nvPr/>
        </p:nvSpPr>
        <p:spPr>
          <a:xfrm>
            <a:off x="774497" y="1645006"/>
            <a:ext cx="38862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自研单点系统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7298" y="2499970"/>
            <a:ext cx="241402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9906" y="2152498"/>
            <a:ext cx="4623206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短期可控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87298" y="3408883"/>
            <a:ext cx="241402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9906" y="3062326"/>
            <a:ext cx="4623206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难以全局协同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87298" y="4318711"/>
            <a:ext cx="241402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9906" y="3972154"/>
            <a:ext cx="4623206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数据难沉淀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87298" y="5228539"/>
            <a:ext cx="241402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9906" y="4881982"/>
            <a:ext cx="4623206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扩展成本高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299302" y="1517904"/>
            <a:ext cx="5283403" cy="4425696"/>
          </a:xfrm>
          <a:prstGeom prst="roundRect">
            <a:avLst>
              <a:gd name="adj" fmla="val 1157"/>
            </a:avLst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99302" y="1517904"/>
            <a:ext cx="5283403" cy="444398"/>
          </a:xfrm>
          <a:prstGeom prst="roundRect">
            <a:avLst>
              <a:gd name="adj" fmla="val 11523"/>
            </a:avLst>
          </a:prstGeom>
          <a:solidFill>
            <a:srgbClr val="00B0F0"/>
          </a:solidFill>
          <a:ln/>
        </p:spPr>
      </p:sp>
      <p:sp>
        <p:nvSpPr>
          <p:cNvPr id="19" name="Text 16"/>
          <p:cNvSpPr/>
          <p:nvPr/>
        </p:nvSpPr>
        <p:spPr>
          <a:xfrm>
            <a:off x="6463894" y="1645006"/>
            <a:ext cx="38862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ReeWell 平台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38206" y="1657807"/>
            <a:ext cx="109179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476695" y="2408530"/>
            <a:ext cx="241402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69303" y="2152498"/>
            <a:ext cx="4623206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多品牌统一接入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76695" y="3136392"/>
            <a:ext cx="241402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9303" y="2880360"/>
            <a:ext cx="4623206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全局实时调度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476695" y="3864254"/>
            <a:ext cx="241402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69303" y="3608222"/>
            <a:ext cx="4623206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仿真预演验证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476695" y="4592117"/>
            <a:ext cx="241402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69303" y="4336085"/>
            <a:ext cx="4623206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数据沉淀复用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476695" y="5319065"/>
            <a:ext cx="241402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769303" y="5063033"/>
            <a:ext cx="4623206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分阶段低风险落地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880506" y="3514954"/>
            <a:ext cx="431597" cy="43159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060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880506" y="3616452"/>
            <a:ext cx="4315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VS</a:t>
            </a:r>
            <a:endParaRPr lang="en-US" sz="1050" dirty="0"/>
          </a:p>
        </p:txBody>
      </p:sp>
      <p:pic>
        <p:nvPicPr>
          <p:cNvPr id="33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层级树 orgTree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6286500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平台能力分解。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89297" y="2609698"/>
            <a:ext cx="2413102" cy="508406"/>
          </a:xfrm>
          <a:prstGeom prst="roundRect">
            <a:avLst>
              <a:gd name="adj" fmla="val 10072"/>
            </a:avLst>
          </a:prstGeom>
          <a:solidFill>
            <a:srgbClr val="00B0F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89297" y="2762402"/>
            <a:ext cx="2413102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ReeWell 平台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96305" y="3118104"/>
            <a:ext cx="0" cy="254203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71800" y="3372307"/>
            <a:ext cx="6248095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71800" y="3372307"/>
            <a:ext cx="0" cy="202997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8995" y="3575304"/>
            <a:ext cx="1904695" cy="482803"/>
          </a:xfrm>
          <a:prstGeom prst="roundRect">
            <a:avLst>
              <a:gd name="adj" fmla="val 10606"/>
            </a:avLst>
          </a:prstGeom>
          <a:solidFill>
            <a:srgbClr val="00B0F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018995" y="3676802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调度中枢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71800" y="4058107"/>
            <a:ext cx="0" cy="286207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95805" y="4197096"/>
            <a:ext cx="1752905" cy="291694"/>
          </a:xfrm>
          <a:prstGeom prst="roundRect">
            <a:avLst>
              <a:gd name="adj" fmla="val 175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95805" y="4267505"/>
            <a:ext cx="1752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统筹调度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2971800" y="4058107"/>
            <a:ext cx="0" cy="640994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95805" y="4552798"/>
            <a:ext cx="1752905" cy="291694"/>
          </a:xfrm>
          <a:prstGeom prst="roundRect">
            <a:avLst>
              <a:gd name="adj" fmla="val 175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95805" y="4623206"/>
            <a:ext cx="1752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5054803" y="3372307"/>
            <a:ext cx="0" cy="202997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01998" y="3575304"/>
            <a:ext cx="1904695" cy="482803"/>
          </a:xfrm>
          <a:prstGeom prst="roundRect">
            <a:avLst>
              <a:gd name="adj" fmla="val 10606"/>
            </a:avLst>
          </a:prstGeom>
          <a:solidFill>
            <a:srgbClr val="00206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101998" y="3676802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感知层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054803" y="4058107"/>
            <a:ext cx="0" cy="286207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77894" y="4197096"/>
            <a:ext cx="1752905" cy="291694"/>
          </a:xfrm>
          <a:prstGeom prst="roundRect">
            <a:avLst>
              <a:gd name="adj" fmla="val 175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77894" y="4267505"/>
            <a:ext cx="1752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实时定位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5054803" y="4058107"/>
            <a:ext cx="0" cy="640994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77894" y="4552798"/>
            <a:ext cx="1752905" cy="291694"/>
          </a:xfrm>
          <a:prstGeom prst="roundRect">
            <a:avLst>
              <a:gd name="adj" fmla="val 175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77894" y="4623206"/>
            <a:ext cx="1752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视频结构化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137806" y="3372307"/>
            <a:ext cx="0" cy="202997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85002" y="3575304"/>
            <a:ext cx="1904695" cy="482803"/>
          </a:xfrm>
          <a:prstGeom prst="roundRect">
            <a:avLst>
              <a:gd name="adj" fmla="val 10606"/>
            </a:avLst>
          </a:prstGeom>
          <a:solidFill>
            <a:srgbClr val="00206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185002" y="3676802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孪生层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137806" y="4058107"/>
            <a:ext cx="0" cy="286207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60897" y="4197096"/>
            <a:ext cx="1752905" cy="291694"/>
          </a:xfrm>
          <a:prstGeom prst="roundRect">
            <a:avLst>
              <a:gd name="adj" fmla="val 175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60897" y="4267505"/>
            <a:ext cx="1752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三维呈现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7137806" y="4058107"/>
            <a:ext cx="0" cy="640994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60897" y="4552798"/>
            <a:ext cx="1752905" cy="291694"/>
          </a:xfrm>
          <a:prstGeom prst="roundRect">
            <a:avLst>
              <a:gd name="adj" fmla="val 175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60897" y="4623206"/>
            <a:ext cx="1752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历史回放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219895" y="3372307"/>
            <a:ext cx="0" cy="202997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68005" y="3575304"/>
            <a:ext cx="1904695" cy="482803"/>
          </a:xfrm>
          <a:prstGeom prst="roundRect">
            <a:avLst>
              <a:gd name="adj" fmla="val 10606"/>
            </a:avLst>
          </a:prstGeom>
          <a:solidFill>
            <a:srgbClr val="00206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8268005" y="3676802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运营层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9219895" y="4058107"/>
            <a:ext cx="0" cy="286207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343900" y="4197096"/>
            <a:ext cx="1752905" cy="291694"/>
          </a:xfrm>
          <a:prstGeom prst="roundRect">
            <a:avLst>
              <a:gd name="adj" fmla="val 175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343900" y="4267505"/>
            <a:ext cx="1752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看板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9219895" y="4058107"/>
            <a:ext cx="0" cy="640994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343900" y="4552798"/>
            <a:ext cx="1752905" cy="291694"/>
          </a:xfrm>
          <a:prstGeom prst="roundRect">
            <a:avLst>
              <a:gd name="adj" fmla="val 1755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343900" y="4623206"/>
            <a:ext cx="1752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能耗管理</a:t>
            </a:r>
            <a:endParaRPr lang="en-US" sz="700" dirty="0"/>
          </a:p>
        </p:txBody>
      </p:sp>
      <p:pic>
        <p:nvPicPr>
          <p:cNvPr id="46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2026-06-24T06:16:46Z</dcterms:created>
  <dcterms:modified xsi:type="dcterms:W3CDTF">2026-06-24T06:16:46Z</dcterms:modified>
</cp:coreProperties>
</file>