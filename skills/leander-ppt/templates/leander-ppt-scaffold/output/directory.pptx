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990569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Leander 组件库 · 目录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09905" y="1054303"/>
            <a:ext cx="7492594" cy="0"/>
          </a:xfrm>
          <a:prstGeom prst="line">
            <a:avLst/>
          </a:prstGeom>
          <a:noFill/>
          <a:ln w="3175">
            <a:solidFill>
              <a:srgbClr val="0070C0"/>
            </a:solidFill>
            <a:prstDash val="lgDash"/>
          </a:ln>
        </p:spPr>
      </p:sp>
      <p:sp>
        <p:nvSpPr>
          <p:cNvPr id="4" name="Text 2"/>
          <p:cNvSpPr/>
          <p:nvPr/>
        </p:nvSpPr>
        <p:spPr>
          <a:xfrm>
            <a:off x="609905" y="1175004"/>
            <a:ext cx="9525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39E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50 个组件 · 一套共享库，Base(红) / Global(蓝) 自动换肤 · 配色=语义、铺满正文、单点焦点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574597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7" name="Text 4"/>
          <p:cNvSpPr/>
          <p:nvPr/>
        </p:nvSpPr>
        <p:spPr>
          <a:xfrm>
            <a:off x="711403" y="1574597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 Chrome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848356" y="1587398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47395" y="1873606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0" name="Text 7"/>
          <p:cNvSpPr/>
          <p:nvPr/>
        </p:nvSpPr>
        <p:spPr>
          <a:xfrm>
            <a:off x="737006" y="182880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cover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封面 白/深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647395" y="204185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" name="Text 9"/>
          <p:cNvSpPr/>
          <p:nvPr/>
        </p:nvSpPr>
        <p:spPr>
          <a:xfrm>
            <a:off x="737006" y="199705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sectionDivider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分页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647395" y="221010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4" name="Text 11"/>
          <p:cNvSpPr/>
          <p:nvPr/>
        </p:nvSpPr>
        <p:spPr>
          <a:xfrm>
            <a:off x="737006" y="216529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closing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封底 白/深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3394253" y="1574597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6" name="Text 13"/>
          <p:cNvSpPr/>
          <p:nvPr/>
        </p:nvSpPr>
        <p:spPr>
          <a:xfrm>
            <a:off x="3495751" y="1574597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 / 价值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32704" y="1587398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(7)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3431743" y="1873606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9" name="Text 16"/>
          <p:cNvSpPr/>
          <p:nvPr/>
        </p:nvSpPr>
        <p:spPr>
          <a:xfrm>
            <a:off x="3521354" y="182880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metricCards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三指标卡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431743" y="204185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8"/>
          <p:cNvSpPr/>
          <p:nvPr/>
        </p:nvSpPr>
        <p:spPr>
          <a:xfrm>
            <a:off x="3521354" y="199705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statBand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大数字带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3431743" y="221010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3" name="Text 20"/>
          <p:cNvSpPr/>
          <p:nvPr/>
        </p:nvSpPr>
        <p:spPr>
          <a:xfrm>
            <a:off x="3521354" y="216529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bigWordCardMatrix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大字卡阵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3431743" y="237835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5" name="Text 22"/>
          <p:cNvSpPr/>
          <p:nvPr/>
        </p:nvSpPr>
        <p:spPr>
          <a:xfrm>
            <a:off x="3521354" y="233354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fourColumnMechanism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四列机制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3431743" y="254660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7" name="Text 24"/>
          <p:cNvSpPr/>
          <p:nvPr/>
        </p:nvSpPr>
        <p:spPr>
          <a:xfrm>
            <a:off x="3521354" y="250179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featureGrid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特性网格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3431743" y="271485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9" name="Text 26"/>
          <p:cNvSpPr/>
          <p:nvPr/>
        </p:nvSpPr>
        <p:spPr>
          <a:xfrm>
            <a:off x="3521354" y="267004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pillarTrio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三支柱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3431743" y="2883103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1" name="Text 28"/>
          <p:cNvSpPr/>
          <p:nvPr/>
        </p:nvSpPr>
        <p:spPr>
          <a:xfrm>
            <a:off x="3521354" y="283829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painCards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痛点卡</a:t>
            </a:r>
            <a:endParaRPr lang="en-US" sz="650" dirty="0"/>
          </a:p>
        </p:txBody>
      </p:sp>
      <p:sp>
        <p:nvSpPr>
          <p:cNvPr id="32" name="Shape 29"/>
          <p:cNvSpPr/>
          <p:nvPr/>
        </p:nvSpPr>
        <p:spPr>
          <a:xfrm>
            <a:off x="6178601" y="1574597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3" name="Text 30"/>
          <p:cNvSpPr/>
          <p:nvPr/>
        </p:nvSpPr>
        <p:spPr>
          <a:xfrm>
            <a:off x="6280099" y="1574597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 / 架构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8417052" y="1587398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(5)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217006" y="1873606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6" name="Text 33"/>
          <p:cNvSpPr/>
          <p:nvPr/>
        </p:nvSpPr>
        <p:spPr>
          <a:xfrm>
            <a:off x="6305702" y="182880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systemArchitectureCenter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中心式架构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6217006" y="204185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38" name="Text 35"/>
          <p:cNvSpPr/>
          <p:nvPr/>
        </p:nvSpPr>
        <p:spPr>
          <a:xfrm>
            <a:off x="6305702" y="199705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hubSpokeCapability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中心辐射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6217006" y="221010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0" name="Text 37"/>
          <p:cNvSpPr/>
          <p:nvPr/>
        </p:nvSpPr>
        <p:spPr>
          <a:xfrm>
            <a:off x="6305702" y="216529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archLayered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系统分层 A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6217006" y="237835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2" name="Text 39"/>
          <p:cNvSpPr/>
          <p:nvPr/>
        </p:nvSpPr>
        <p:spPr>
          <a:xfrm>
            <a:off x="6305702" y="233354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archDualEngine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场景双擎 B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6217006" y="254660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4" name="Text 41"/>
          <p:cNvSpPr/>
          <p:nvPr/>
        </p:nvSpPr>
        <p:spPr>
          <a:xfrm>
            <a:off x="6305702" y="250179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tierStack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云-边-端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8962949" y="1574597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46" name="Text 43"/>
          <p:cNvSpPr/>
          <p:nvPr/>
        </p:nvSpPr>
        <p:spPr>
          <a:xfrm>
            <a:off x="9064447" y="1574597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 / 时序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11201400" y="1587398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(9)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9001354" y="1873606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49" name="Text 46"/>
          <p:cNvSpPr/>
          <p:nvPr/>
        </p:nvSpPr>
        <p:spPr>
          <a:xfrm>
            <a:off x="9090050" y="182880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stepNav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步进导航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9001354" y="204185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1" name="Text 48"/>
          <p:cNvSpPr/>
          <p:nvPr/>
        </p:nvSpPr>
        <p:spPr>
          <a:xfrm>
            <a:off x="9090050" y="1997050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processTimeline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横向时间线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9001354" y="2210105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3" name="Text 50"/>
          <p:cNvSpPr/>
          <p:nvPr/>
        </p:nvSpPr>
        <p:spPr>
          <a:xfrm>
            <a:off x="9090050" y="216529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cycleLoop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闭环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9001354" y="237835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5" name="Text 52"/>
          <p:cNvSpPr/>
          <p:nvPr/>
        </p:nvSpPr>
        <p:spPr>
          <a:xfrm>
            <a:off x="9090050" y="2333549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stateFlow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状态机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9001354" y="254660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7" name="Text 54"/>
          <p:cNvSpPr/>
          <p:nvPr/>
        </p:nvSpPr>
        <p:spPr>
          <a:xfrm>
            <a:off x="9090050" y="250179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beforeAfter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前后对照</a:t>
            </a:r>
            <a:endParaRPr lang="en-US" sz="650" dirty="0"/>
          </a:p>
        </p:txBody>
      </p:sp>
      <p:sp>
        <p:nvSpPr>
          <p:cNvPr id="58" name="Shape 55"/>
          <p:cNvSpPr/>
          <p:nvPr/>
        </p:nvSpPr>
        <p:spPr>
          <a:xfrm>
            <a:off x="9001354" y="2714854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59" name="Text 56"/>
          <p:cNvSpPr/>
          <p:nvPr/>
        </p:nvSpPr>
        <p:spPr>
          <a:xfrm>
            <a:off x="9090050" y="267004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roadmapPhases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分期路线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9001354" y="2883103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1" name="Text 58"/>
          <p:cNvSpPr/>
          <p:nvPr/>
        </p:nvSpPr>
        <p:spPr>
          <a:xfrm>
            <a:off x="9090050" y="2838298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roadmapSwimlane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泳道路线</a:t>
            </a:r>
            <a:endParaRPr lang="en-US" sz="650" dirty="0"/>
          </a:p>
        </p:txBody>
      </p:sp>
      <p:sp>
        <p:nvSpPr>
          <p:cNvPr id="62" name="Shape 59"/>
          <p:cNvSpPr/>
          <p:nvPr/>
        </p:nvSpPr>
        <p:spPr>
          <a:xfrm>
            <a:off x="9001354" y="3051353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3" name="Text 60"/>
          <p:cNvSpPr/>
          <p:nvPr/>
        </p:nvSpPr>
        <p:spPr>
          <a:xfrm>
            <a:off x="9090050" y="300654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timelineVertical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竖向时间线</a:t>
            </a:r>
            <a:endParaRPr lang="en-US" sz="650" dirty="0"/>
          </a:p>
        </p:txBody>
      </p:sp>
      <p:sp>
        <p:nvSpPr>
          <p:cNvPr id="64" name="Shape 61"/>
          <p:cNvSpPr/>
          <p:nvPr/>
        </p:nvSpPr>
        <p:spPr>
          <a:xfrm>
            <a:off x="9001354" y="3219602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65" name="Text 62"/>
          <p:cNvSpPr/>
          <p:nvPr/>
        </p:nvSpPr>
        <p:spPr>
          <a:xfrm>
            <a:off x="9090050" y="317479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swimlaneProcess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角色泳道流程</a:t>
            </a:r>
            <a:endParaRPr lang="en-US" sz="650" dirty="0"/>
          </a:p>
        </p:txBody>
      </p:sp>
      <p:sp>
        <p:nvSpPr>
          <p:cNvPr id="66" name="Shape 63"/>
          <p:cNvSpPr/>
          <p:nvPr/>
        </p:nvSpPr>
        <p:spPr>
          <a:xfrm>
            <a:off x="609905" y="2523744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67" name="Text 64"/>
          <p:cNvSpPr/>
          <p:nvPr/>
        </p:nvSpPr>
        <p:spPr>
          <a:xfrm>
            <a:off x="711403" y="2523744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矩阵 / 对比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2848356" y="253654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69" name="Shape 66"/>
          <p:cNvSpPr/>
          <p:nvPr/>
        </p:nvSpPr>
        <p:spPr>
          <a:xfrm>
            <a:off x="647395" y="2822753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0" name="Text 67"/>
          <p:cNvSpPr/>
          <p:nvPr/>
        </p:nvSpPr>
        <p:spPr>
          <a:xfrm>
            <a:off x="737006" y="277794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capabilityMatrix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能力对比表</a:t>
            </a:r>
            <a:endParaRPr lang="en-US" sz="650" dirty="0"/>
          </a:p>
        </p:txBody>
      </p:sp>
      <p:sp>
        <p:nvSpPr>
          <p:cNvPr id="71" name="Shape 68"/>
          <p:cNvSpPr/>
          <p:nvPr/>
        </p:nvSpPr>
        <p:spPr>
          <a:xfrm>
            <a:off x="647395" y="2991002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2" name="Text 69"/>
          <p:cNvSpPr/>
          <p:nvPr/>
        </p:nvSpPr>
        <p:spPr>
          <a:xfrm>
            <a:off x="737006" y="294619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heatmap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热力矩阵</a:t>
            </a:r>
            <a:endParaRPr lang="en-US" sz="650" dirty="0"/>
          </a:p>
        </p:txBody>
      </p:sp>
      <p:sp>
        <p:nvSpPr>
          <p:cNvPr id="73" name="Shape 70"/>
          <p:cNvSpPr/>
          <p:nvPr/>
        </p:nvSpPr>
        <p:spPr>
          <a:xfrm>
            <a:off x="647395" y="3159252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4" name="Text 71"/>
          <p:cNvSpPr/>
          <p:nvPr/>
        </p:nvSpPr>
        <p:spPr>
          <a:xfrm>
            <a:off x="737006" y="311444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twoOptionCompare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双方案对比</a:t>
            </a:r>
            <a:endParaRPr lang="en-US" sz="650" dirty="0"/>
          </a:p>
        </p:txBody>
      </p:sp>
      <p:sp>
        <p:nvSpPr>
          <p:cNvPr id="75" name="Shape 72"/>
          <p:cNvSpPr/>
          <p:nvPr/>
        </p:nvSpPr>
        <p:spPr>
          <a:xfrm>
            <a:off x="6178601" y="2860243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76" name="Text 73"/>
          <p:cNvSpPr/>
          <p:nvPr/>
        </p:nvSpPr>
        <p:spPr>
          <a:xfrm>
            <a:off x="6280099" y="2860243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/ 层级</a:t>
            </a:r>
            <a:endParaRPr lang="en-US" sz="850" dirty="0"/>
          </a:p>
        </p:txBody>
      </p:sp>
      <p:sp>
        <p:nvSpPr>
          <p:cNvPr id="77" name="Text 74"/>
          <p:cNvSpPr/>
          <p:nvPr/>
        </p:nvSpPr>
        <p:spPr>
          <a:xfrm>
            <a:off x="8417052" y="2873045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6217006" y="3159252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79" name="Text 76"/>
          <p:cNvSpPr/>
          <p:nvPr/>
        </p:nvSpPr>
        <p:spPr>
          <a:xfrm>
            <a:off x="6305702" y="311444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quadrantMatrix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2×2 象限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6217006" y="3327502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81" name="Text 78"/>
          <p:cNvSpPr/>
          <p:nvPr/>
        </p:nvSpPr>
        <p:spPr>
          <a:xfrm>
            <a:off x="6305702" y="328269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priorityPyramid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优先级金字塔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217006" y="3495751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83" name="Text 80"/>
          <p:cNvSpPr/>
          <p:nvPr/>
        </p:nvSpPr>
        <p:spPr>
          <a:xfrm>
            <a:off x="6305702" y="345094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orgTree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层级树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6217006" y="3664001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85" name="Text 82"/>
          <p:cNvSpPr/>
          <p:nvPr/>
        </p:nvSpPr>
        <p:spPr>
          <a:xfrm>
            <a:off x="6305702" y="3619195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funnel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漏斗</a:t>
            </a:r>
            <a:endParaRPr lang="en-US" sz="650" dirty="0"/>
          </a:p>
        </p:txBody>
      </p:sp>
      <p:sp>
        <p:nvSpPr>
          <p:cNvPr id="86" name="Shape 83"/>
          <p:cNvSpPr/>
          <p:nvPr/>
        </p:nvSpPr>
        <p:spPr>
          <a:xfrm>
            <a:off x="3394253" y="3197657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87" name="Text 84"/>
          <p:cNvSpPr/>
          <p:nvPr/>
        </p:nvSpPr>
        <p:spPr>
          <a:xfrm>
            <a:off x="3495751" y="3197657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 / 网络</a:t>
            </a:r>
            <a:endParaRPr lang="en-US" sz="850" dirty="0"/>
          </a:p>
        </p:txBody>
      </p:sp>
      <p:sp>
        <p:nvSpPr>
          <p:cNvPr id="88" name="Text 85"/>
          <p:cNvSpPr/>
          <p:nvPr/>
        </p:nvSpPr>
        <p:spPr>
          <a:xfrm>
            <a:off x="5632704" y="3209544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89" name="Shape 86"/>
          <p:cNvSpPr/>
          <p:nvPr/>
        </p:nvSpPr>
        <p:spPr>
          <a:xfrm>
            <a:off x="3431743" y="3495751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90" name="Text 87"/>
          <p:cNvSpPr/>
          <p:nvPr/>
        </p:nvSpPr>
        <p:spPr>
          <a:xfrm>
            <a:off x="3521354" y="345094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coverageMap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覆盖示意</a:t>
            </a:r>
            <a:endParaRPr lang="en-US" sz="650" dirty="0"/>
          </a:p>
        </p:txBody>
      </p:sp>
      <p:sp>
        <p:nvSpPr>
          <p:cNvPr id="91" name="Shape 88"/>
          <p:cNvSpPr/>
          <p:nvPr/>
        </p:nvSpPr>
        <p:spPr>
          <a:xfrm>
            <a:off x="3431743" y="3664001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92" name="Text 89"/>
          <p:cNvSpPr/>
          <p:nvPr/>
        </p:nvSpPr>
        <p:spPr>
          <a:xfrm>
            <a:off x="3521354" y="3619195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topology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云边端拓扑</a:t>
            </a:r>
            <a:endParaRPr lang="en-US" sz="650" dirty="0"/>
          </a:p>
        </p:txBody>
      </p:sp>
      <p:sp>
        <p:nvSpPr>
          <p:cNvPr id="93" name="Shape 90"/>
          <p:cNvSpPr/>
          <p:nvPr/>
        </p:nvSpPr>
        <p:spPr>
          <a:xfrm>
            <a:off x="3431743" y="3832250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94" name="Text 91"/>
          <p:cNvSpPr/>
          <p:nvPr/>
        </p:nvSpPr>
        <p:spPr>
          <a:xfrm>
            <a:off x="3521354" y="3787445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annotatedDiagram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标注图</a:t>
            </a:r>
            <a:endParaRPr lang="en-US" sz="650" dirty="0"/>
          </a:p>
        </p:txBody>
      </p:sp>
      <p:sp>
        <p:nvSpPr>
          <p:cNvPr id="95" name="Shape 92"/>
          <p:cNvSpPr/>
          <p:nvPr/>
        </p:nvSpPr>
        <p:spPr>
          <a:xfrm>
            <a:off x="609905" y="3473806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96" name="Text 93"/>
          <p:cNvSpPr/>
          <p:nvPr/>
        </p:nvSpPr>
        <p:spPr>
          <a:xfrm>
            <a:off x="711403" y="3473806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 / 链条</a:t>
            </a:r>
            <a:endParaRPr lang="en-US" sz="850" dirty="0"/>
          </a:p>
        </p:txBody>
      </p:sp>
      <p:sp>
        <p:nvSpPr>
          <p:cNvPr id="97" name="Text 94"/>
          <p:cNvSpPr/>
          <p:nvPr/>
        </p:nvSpPr>
        <p:spPr>
          <a:xfrm>
            <a:off x="2848356" y="3486607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98" name="Shape 95"/>
          <p:cNvSpPr/>
          <p:nvPr/>
        </p:nvSpPr>
        <p:spPr>
          <a:xfrm>
            <a:off x="647395" y="3771900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99" name="Text 96"/>
          <p:cNvSpPr/>
          <p:nvPr/>
        </p:nvSpPr>
        <p:spPr>
          <a:xfrm>
            <a:off x="737006" y="3727094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gantt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甘特图</a:t>
            </a:r>
            <a:endParaRPr lang="en-US" sz="650" dirty="0"/>
          </a:p>
        </p:txBody>
      </p:sp>
      <p:sp>
        <p:nvSpPr>
          <p:cNvPr id="100" name="Shape 97"/>
          <p:cNvSpPr/>
          <p:nvPr/>
        </p:nvSpPr>
        <p:spPr>
          <a:xfrm>
            <a:off x="647395" y="3940150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01" name="Text 98"/>
          <p:cNvSpPr/>
          <p:nvPr/>
        </p:nvSpPr>
        <p:spPr>
          <a:xfrm>
            <a:off x="737006" y="3895344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valueChain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价值链</a:t>
            </a:r>
            <a:endParaRPr lang="en-US" sz="650" dirty="0"/>
          </a:p>
        </p:txBody>
      </p:sp>
      <p:sp>
        <p:nvSpPr>
          <p:cNvPr id="102" name="Shape 99"/>
          <p:cNvSpPr/>
          <p:nvPr/>
        </p:nvSpPr>
        <p:spPr>
          <a:xfrm>
            <a:off x="647395" y="4108399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03" name="Text 100"/>
          <p:cNvSpPr/>
          <p:nvPr/>
        </p:nvSpPr>
        <p:spPr>
          <a:xfrm>
            <a:off x="737006" y="4063594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waterfall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瀑布/价值桥</a:t>
            </a:r>
            <a:endParaRPr lang="en-US" sz="650" dirty="0"/>
          </a:p>
        </p:txBody>
      </p:sp>
      <p:sp>
        <p:nvSpPr>
          <p:cNvPr id="104" name="Shape 101"/>
          <p:cNvSpPr/>
          <p:nvPr/>
        </p:nvSpPr>
        <p:spPr>
          <a:xfrm>
            <a:off x="8962949" y="3534156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05" name="Text 102"/>
          <p:cNvSpPr/>
          <p:nvPr/>
        </p:nvSpPr>
        <p:spPr>
          <a:xfrm>
            <a:off x="9064447" y="3534156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 / 叙事</a:t>
            </a:r>
            <a:endParaRPr lang="en-US" sz="850" dirty="0"/>
          </a:p>
        </p:txBody>
      </p:sp>
      <p:sp>
        <p:nvSpPr>
          <p:cNvPr id="106" name="Text 103"/>
          <p:cNvSpPr/>
          <p:nvPr/>
        </p:nvSpPr>
        <p:spPr>
          <a:xfrm>
            <a:off x="11201400" y="3546043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107" name="Shape 104"/>
          <p:cNvSpPr/>
          <p:nvPr/>
        </p:nvSpPr>
        <p:spPr>
          <a:xfrm>
            <a:off x="9001354" y="3832250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08" name="Text 105"/>
          <p:cNvSpPr/>
          <p:nvPr/>
        </p:nvSpPr>
        <p:spPr>
          <a:xfrm>
            <a:off x="9090050" y="3787445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bulletColumns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分类要点列</a:t>
            </a:r>
            <a:endParaRPr lang="en-US" sz="650" dirty="0"/>
          </a:p>
        </p:txBody>
      </p:sp>
      <p:sp>
        <p:nvSpPr>
          <p:cNvPr id="109" name="Shape 106"/>
          <p:cNvSpPr/>
          <p:nvPr/>
        </p:nvSpPr>
        <p:spPr>
          <a:xfrm>
            <a:off x="9001354" y="4000500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0" name="Text 107"/>
          <p:cNvSpPr/>
          <p:nvPr/>
        </p:nvSpPr>
        <p:spPr>
          <a:xfrm>
            <a:off x="9090050" y="3955694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numberedList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编号叙述</a:t>
            </a:r>
            <a:endParaRPr lang="en-US" sz="650" dirty="0"/>
          </a:p>
        </p:txBody>
      </p:sp>
      <p:sp>
        <p:nvSpPr>
          <p:cNvPr id="111" name="Shape 108"/>
          <p:cNvSpPr/>
          <p:nvPr/>
        </p:nvSpPr>
        <p:spPr>
          <a:xfrm>
            <a:off x="9001354" y="4168750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2" name="Text 109"/>
          <p:cNvSpPr/>
          <p:nvPr/>
        </p:nvSpPr>
        <p:spPr>
          <a:xfrm>
            <a:off x="9090050" y="4123944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quoteHighlight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金句页</a:t>
            </a:r>
            <a:endParaRPr lang="en-US" sz="650" dirty="0"/>
          </a:p>
        </p:txBody>
      </p:sp>
      <p:sp>
        <p:nvSpPr>
          <p:cNvPr id="113" name="Shape 110"/>
          <p:cNvSpPr/>
          <p:nvPr/>
        </p:nvSpPr>
        <p:spPr>
          <a:xfrm>
            <a:off x="6178601" y="3978554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14" name="Text 111"/>
          <p:cNvSpPr/>
          <p:nvPr/>
        </p:nvSpPr>
        <p:spPr>
          <a:xfrm>
            <a:off x="6280099" y="3978554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 / 集合</a:t>
            </a:r>
            <a:endParaRPr lang="en-US" sz="850" dirty="0"/>
          </a:p>
        </p:txBody>
      </p:sp>
      <p:sp>
        <p:nvSpPr>
          <p:cNvPr id="115" name="Text 112"/>
          <p:cNvSpPr/>
          <p:nvPr/>
        </p:nvSpPr>
        <p:spPr>
          <a:xfrm>
            <a:off x="8417052" y="399135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116" name="Shape 113"/>
          <p:cNvSpPr/>
          <p:nvPr/>
        </p:nvSpPr>
        <p:spPr>
          <a:xfrm>
            <a:off x="6217006" y="4276649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7" name="Text 114"/>
          <p:cNvSpPr/>
          <p:nvPr/>
        </p:nvSpPr>
        <p:spPr>
          <a:xfrm>
            <a:off x="6305702" y="4231843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imageGallery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图文画廊</a:t>
            </a:r>
            <a:endParaRPr lang="en-US" sz="650" dirty="0"/>
          </a:p>
        </p:txBody>
      </p:sp>
      <p:sp>
        <p:nvSpPr>
          <p:cNvPr id="118" name="Shape 115"/>
          <p:cNvSpPr/>
          <p:nvPr/>
        </p:nvSpPr>
        <p:spPr>
          <a:xfrm>
            <a:off x="6217006" y="4444898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19" name="Text 116"/>
          <p:cNvSpPr/>
          <p:nvPr/>
        </p:nvSpPr>
        <p:spPr>
          <a:xfrm>
            <a:off x="6305702" y="440100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ringStats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环形指标</a:t>
            </a:r>
            <a:endParaRPr lang="en-US" sz="650" dirty="0"/>
          </a:p>
        </p:txBody>
      </p:sp>
      <p:sp>
        <p:nvSpPr>
          <p:cNvPr id="120" name="Shape 117"/>
          <p:cNvSpPr/>
          <p:nvPr/>
        </p:nvSpPr>
        <p:spPr>
          <a:xfrm>
            <a:off x="6217006" y="4613148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1" name="Text 118"/>
          <p:cNvSpPr/>
          <p:nvPr/>
        </p:nvSpPr>
        <p:spPr>
          <a:xfrm>
            <a:off x="6305702" y="456925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venn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韦恩图</a:t>
            </a:r>
            <a:endParaRPr lang="en-US" sz="650" dirty="0"/>
          </a:p>
        </p:txBody>
      </p:sp>
      <p:sp>
        <p:nvSpPr>
          <p:cNvPr id="122" name="Shape 119"/>
          <p:cNvSpPr/>
          <p:nvPr/>
        </p:nvSpPr>
        <p:spPr>
          <a:xfrm>
            <a:off x="3394253" y="4146804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23" name="Text 120"/>
          <p:cNvSpPr/>
          <p:nvPr/>
        </p:nvSpPr>
        <p:spPr>
          <a:xfrm>
            <a:off x="3495751" y="4146804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原生图表</a:t>
            </a:r>
            <a:endParaRPr lang="en-US" sz="850" dirty="0"/>
          </a:p>
        </p:txBody>
      </p:sp>
      <p:sp>
        <p:nvSpPr>
          <p:cNvPr id="124" name="Text 121"/>
          <p:cNvSpPr/>
          <p:nvPr/>
        </p:nvSpPr>
        <p:spPr>
          <a:xfrm>
            <a:off x="5632704" y="4159606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(4)</a:t>
            </a:r>
            <a:endParaRPr lang="en-US" sz="650" dirty="0"/>
          </a:p>
        </p:txBody>
      </p:sp>
      <p:sp>
        <p:nvSpPr>
          <p:cNvPr id="125" name="Shape 122"/>
          <p:cNvSpPr/>
          <p:nvPr/>
        </p:nvSpPr>
        <p:spPr>
          <a:xfrm>
            <a:off x="3431743" y="4444898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6" name="Text 123"/>
          <p:cNvSpPr/>
          <p:nvPr/>
        </p:nvSpPr>
        <p:spPr>
          <a:xfrm>
            <a:off x="3521354" y="440100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radar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雷达</a:t>
            </a:r>
            <a:endParaRPr lang="en-US" sz="650" dirty="0"/>
          </a:p>
        </p:txBody>
      </p:sp>
      <p:sp>
        <p:nvSpPr>
          <p:cNvPr id="127" name="Shape 124"/>
          <p:cNvSpPr/>
          <p:nvPr/>
        </p:nvSpPr>
        <p:spPr>
          <a:xfrm>
            <a:off x="3431743" y="4613148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28" name="Text 125"/>
          <p:cNvSpPr/>
          <p:nvPr/>
        </p:nvSpPr>
        <p:spPr>
          <a:xfrm>
            <a:off x="3521354" y="4569257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barChart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柱状</a:t>
            </a:r>
            <a:endParaRPr lang="en-US" sz="650" dirty="0"/>
          </a:p>
        </p:txBody>
      </p:sp>
      <p:sp>
        <p:nvSpPr>
          <p:cNvPr id="129" name="Shape 126"/>
          <p:cNvSpPr/>
          <p:nvPr/>
        </p:nvSpPr>
        <p:spPr>
          <a:xfrm>
            <a:off x="3431743" y="4781398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0" name="Text 127"/>
          <p:cNvSpPr/>
          <p:nvPr/>
        </p:nvSpPr>
        <p:spPr>
          <a:xfrm>
            <a:off x="3521354" y="473750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lineChart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折线</a:t>
            </a:r>
            <a:endParaRPr lang="en-US" sz="650" dirty="0"/>
          </a:p>
        </p:txBody>
      </p:sp>
      <p:sp>
        <p:nvSpPr>
          <p:cNvPr id="131" name="Shape 128"/>
          <p:cNvSpPr/>
          <p:nvPr/>
        </p:nvSpPr>
        <p:spPr>
          <a:xfrm>
            <a:off x="3431743" y="4949647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2" name="Text 129"/>
          <p:cNvSpPr/>
          <p:nvPr/>
        </p:nvSpPr>
        <p:spPr>
          <a:xfrm>
            <a:off x="3521354" y="490575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pieBreakdown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占比环图</a:t>
            </a:r>
            <a:endParaRPr lang="en-US" sz="650" dirty="0"/>
          </a:p>
        </p:txBody>
      </p:sp>
      <p:sp>
        <p:nvSpPr>
          <p:cNvPr id="133" name="Shape 130"/>
          <p:cNvSpPr/>
          <p:nvPr/>
        </p:nvSpPr>
        <p:spPr>
          <a:xfrm>
            <a:off x="609905" y="4422953"/>
            <a:ext cx="25603" cy="202997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34" name="Text 131"/>
          <p:cNvSpPr/>
          <p:nvPr/>
        </p:nvSpPr>
        <p:spPr>
          <a:xfrm>
            <a:off x="711403" y="4422953"/>
            <a:ext cx="2517343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/ UI mock</a:t>
            </a:r>
            <a:endParaRPr lang="en-US" sz="850" dirty="0"/>
          </a:p>
        </p:txBody>
      </p:sp>
      <p:sp>
        <p:nvSpPr>
          <p:cNvPr id="135" name="Text 132"/>
          <p:cNvSpPr/>
          <p:nvPr/>
        </p:nvSpPr>
        <p:spPr>
          <a:xfrm>
            <a:off x="2848356" y="4435754"/>
            <a:ext cx="381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(3)</a:t>
            </a:r>
            <a:endParaRPr lang="en-US" sz="650" dirty="0"/>
          </a:p>
        </p:txBody>
      </p:sp>
      <p:sp>
        <p:nvSpPr>
          <p:cNvPr id="136" name="Shape 133"/>
          <p:cNvSpPr/>
          <p:nvPr/>
        </p:nvSpPr>
        <p:spPr>
          <a:xfrm>
            <a:off x="647395" y="4721047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7" name="Text 134"/>
          <p:cNvSpPr/>
          <p:nvPr/>
        </p:nvSpPr>
        <p:spPr>
          <a:xfrm>
            <a:off x="737006" y="467715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workbenchMock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配置工作台</a:t>
            </a:r>
            <a:endParaRPr lang="en-US" sz="650" dirty="0"/>
          </a:p>
        </p:txBody>
      </p:sp>
      <p:sp>
        <p:nvSpPr>
          <p:cNvPr id="138" name="Shape 135"/>
          <p:cNvSpPr/>
          <p:nvPr/>
        </p:nvSpPr>
        <p:spPr>
          <a:xfrm>
            <a:off x="647395" y="4889297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9" name="Text 136"/>
          <p:cNvSpPr/>
          <p:nvPr/>
        </p:nvSpPr>
        <p:spPr>
          <a:xfrm>
            <a:off x="737006" y="4845406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workflowConfig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Workflow 配置</a:t>
            </a:r>
            <a:endParaRPr lang="en-US" sz="650" dirty="0"/>
          </a:p>
        </p:txBody>
      </p:sp>
      <p:sp>
        <p:nvSpPr>
          <p:cNvPr id="140" name="Shape 137"/>
          <p:cNvSpPr/>
          <p:nvPr/>
        </p:nvSpPr>
        <p:spPr>
          <a:xfrm>
            <a:off x="647395" y="5057546"/>
            <a:ext cx="38405" cy="38405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41" name="Text 138"/>
          <p:cNvSpPr/>
          <p:nvPr/>
        </p:nvSpPr>
        <p:spPr>
          <a:xfrm>
            <a:off x="737006" y="5013655"/>
            <a:ext cx="2467051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dashboardMock</a:t>
            </a:r>
            <a:pPr algn="l" indent="0" marL="0">
              <a:buNone/>
            </a:pPr>
            <a:r>
              <a:rPr lang="en-US" sz="65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运行监控</a:t>
            </a:r>
            <a:endParaRPr lang="en-US" sz="650" dirty="0"/>
          </a:p>
        </p:txBody>
      </p:sp>
      <p:pic>
        <p:nvPicPr>
          <p:cNvPr id="142" name="Image 1" descr="theme/assets/footer-westw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" y="6267298"/>
            <a:ext cx="11468405" cy="400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2026-06-24T05:37:28Z</dcterms:created>
  <dcterms:modified xsi:type="dcterms:W3CDTF">2026-06-24T05:37:28Z</dcterms:modified>
</cp:coreProperties>
</file>