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1516"/>
    <a:srgbClr val="071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p01-cover 路 Harness 工程设计框架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p02-question 路 为什么同样用 AI，能力差很多？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p03-concept 路 从 Prompt 到 Context，再到 Harness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p04-skill-vs-harness 路 Skill 是能力包，Harness 是工程环境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p05-global-trend 路 国际趋势：AI 能力正在工程化封装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p06-domestic-trend 路 国内落地：从 Agent 平台到业务流程提效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p07-ppt-pain 路 当前 AI 做 PPT 的痛点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p08-transition 路 用一个 PPT Skill 说明 Harness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p09-framework 路 Harness 架构：PPT 生产的七个能力层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p10-flow 路 Harness 执行流：人、AI 和文件如何流转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p11-orchestration 路 执行编排：把一次性任务拆成可确认里程碑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p12-context 路 上下文管理：按阶段读取，而不是一次性塞满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p13-state-memory 路 状态和记忆：把协作过程变成可恢复状态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p14-blueprint 路 工具系统：蓝图先于组件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p15-tool-assets 路 工具系统：主题、组件和图片工具如何供给页面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p16-route 路 工具系统：蓝图约束下的组件选择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p17-recovery 路 约束与恢复：把改动限制在最小页面切片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p18-qa 路 评估与观测：固定底线、动态问题和渲染证据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p19-agents 路 评估与观测：多 Agent 角色分工与交接证据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p20-evolution 路 自进化机制：问题记录、抽象、提升和衰减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p21-team-transition 路 Skill 团队化协作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p22-team-sync 路 团队协作：版本同步与自动迭代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p23-share-boundary 路 团队协作：共享边界与公共池治理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p24-extension 路 方法迁移：Harness 可复用到哪些任务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p25-benefit 路 使用收益：从一次交付到生产能力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p26-reference 路 学习路径：参考资料与拆解方法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p27-closing 路 封底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17797" y="2743200"/>
            <a:ext cx="6603797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工程设计框架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4317797" y="3301898"/>
            <a:ext cx="6603797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 Leander-PPT Skill Case Study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317797" y="5473598"/>
            <a:ext cx="6603797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Make a Well Change.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317797" y="5816498"/>
            <a:ext cx="6603797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650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We continuously expand, optimize and try out our products and solutions</a:t>
            </a:r>
            <a:endParaRPr lang="en-US" sz="650" dirty="0"/>
          </a:p>
          <a:p>
            <a:pPr marL="0" indent="0" algn="r">
              <a:lnSpc>
                <a:spcPct val="118000"/>
              </a:lnSpc>
              <a:buNone/>
            </a:pPr>
            <a:r>
              <a:rPr lang="en-US" sz="650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to pinpoint the optimal relationship between AI and human beings in different industries</a:t>
            </a:r>
            <a:endParaRPr lang="en-US" sz="650" dirty="0"/>
          </a:p>
        </p:txBody>
      </p:sp>
      <p:sp>
        <p:nvSpPr>
          <p:cNvPr id="8" name="Shape 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为什么同样用 AI，能力差很多？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差异不只来自模型，也来自任务有没有被组织成稳定流程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26203" y="2400300"/>
            <a:ext cx="2540203" cy="1587398"/>
          </a:xfrm>
          <a:prstGeom prst="ellipse">
            <a:avLst/>
          </a:prstGeom>
          <a:solidFill>
            <a:srgbClr val="F5F5F0">
              <a:alpha val="0"/>
            </a:srgbClr>
          </a:solidFill>
          <a:ln w="15875">
            <a:solidFill>
              <a:srgbClr val="D9D5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26203" y="2743200"/>
            <a:ext cx="2540203" cy="558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不稳定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4826203" y="3403397"/>
            <a:ext cx="2540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RESULT VARIANCE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 flipH="1" flipV="1">
            <a:off x="3683203" y="2108606"/>
            <a:ext cx="1320394" cy="634594"/>
          </a:xfrm>
          <a:prstGeom prst="line">
            <a:avLst/>
          </a:prstGeom>
          <a:noFill/>
          <a:ln w="1587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1" name="Text 7"/>
          <p:cNvSpPr/>
          <p:nvPr/>
        </p:nvSpPr>
        <p:spPr>
          <a:xfrm>
            <a:off x="952805" y="1701698"/>
            <a:ext cx="2730398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参考文档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52805" y="2006194"/>
            <a:ext cx="2730398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能模仿旧材料，但效果依赖样本质量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603297" y="2349094"/>
            <a:ext cx="1079906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7188098" y="2108606"/>
            <a:ext cx="1320394" cy="634594"/>
          </a:xfrm>
          <a:prstGeom prst="line">
            <a:avLst/>
          </a:prstGeom>
          <a:noFill/>
          <a:ln w="1587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8509406" y="1701698"/>
            <a:ext cx="2730398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Prompt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509406" y="2006194"/>
            <a:ext cx="2730398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能改善单次回答，但难覆盖完整流程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509406" y="2349094"/>
            <a:ext cx="1079906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flipH="1">
            <a:off x="3683203" y="3644798"/>
            <a:ext cx="1320394" cy="825703"/>
          </a:xfrm>
          <a:prstGeom prst="line">
            <a:avLst/>
          </a:prstGeom>
          <a:noFill/>
          <a:ln w="1587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952805" y="4166006"/>
            <a:ext cx="2730398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现成 / 自建 Skill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52805" y="4470502"/>
            <a:ext cx="2730398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能封装能力，但不等于形成生产系统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603297" y="4813402"/>
            <a:ext cx="1079906" cy="0"/>
          </a:xfrm>
          <a:prstGeom prst="line">
            <a:avLst/>
          </a:prstGeom>
          <a:noFill/>
          <a:ln w="25400">
            <a:solidFill>
              <a:srgbClr val="C5151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88098" y="3644798"/>
            <a:ext cx="1320394" cy="825703"/>
          </a:xfrm>
          <a:prstGeom prst="line">
            <a:avLst/>
          </a:prstGeom>
          <a:noFill/>
          <a:ln w="1587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8509406" y="4166006"/>
            <a:ext cx="2730398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插件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509406" y="4470502"/>
            <a:ext cx="2730398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能扩展工具，但缺少统一编排和反馈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509406" y="4813402"/>
            <a:ext cx="1079906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943100" y="5562295"/>
            <a:ext cx="29846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解决一个任务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206594" y="5702198"/>
            <a:ext cx="1587398" cy="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7112203" y="5512003"/>
            <a:ext cx="3174797" cy="355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稳定解决一类任务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Prompt 到 Context，再到 Harness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工程化范围不是替代关系，而是一层层向外扩展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97203" y="1587398"/>
            <a:ext cx="9398203" cy="3556102"/>
          </a:xfrm>
          <a:prstGeom prst="roundRect">
            <a:avLst>
              <a:gd name="adj" fmla="val 1440"/>
            </a:avLst>
          </a:prstGeom>
          <a:solidFill>
            <a:srgbClr val="F5F5F0"/>
          </a:solidFill>
          <a:ln w="25400">
            <a:solidFill>
              <a:srgbClr val="C5151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14500" y="1765706"/>
            <a:ext cx="266730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HARNESS ENGINEERING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714500" y="2083003"/>
            <a:ext cx="4190695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让任务能够执行、校验、恢复并持续改进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96098" y="1854403"/>
            <a:ext cx="2158898" cy="418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 · 状态 · 工具</a:t>
            </a:r>
            <a:endParaRPr lang="en-US" sz="105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 · 评估 · 反馈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889504" y="2387498"/>
            <a:ext cx="6413602" cy="2095805"/>
          </a:xfrm>
          <a:prstGeom prst="roundRect">
            <a:avLst>
              <a:gd name="adj" fmla="val 2443"/>
            </a:avLst>
          </a:prstGeom>
          <a:solidFill>
            <a:srgbClr val="F3F6FA"/>
          </a:solidFill>
          <a:ln w="21590">
            <a:solidFill>
              <a:srgbClr val="07195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74797" y="2577694"/>
            <a:ext cx="2476195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174797" y="2870302"/>
            <a:ext cx="4572000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组织模型在当前阶段真正需要看到的信息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188098" y="2641702"/>
            <a:ext cx="171450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· 文档</a:t>
            </a:r>
            <a:endParaRPr lang="en-US" sz="9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 · 证据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444898" y="3238805"/>
            <a:ext cx="3301898" cy="888797"/>
          </a:xfrm>
          <a:prstGeom prst="roundRect">
            <a:avLst>
              <a:gd name="adj" fmla="val 5761"/>
            </a:avLst>
          </a:prstGeom>
          <a:solidFill>
            <a:srgbClr val="07195A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699102" y="3403397"/>
            <a:ext cx="2794406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99102" y="3720694"/>
            <a:ext cx="2794406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把当次意图与要求说清楚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943100" y="5372100"/>
            <a:ext cx="4127602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Harness ≈ Agent − Model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349594" y="5346497"/>
            <a:ext cx="387339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OpenAI 于 2026 年系统总结 Harness Engineering；</a:t>
            </a:r>
            <a:endParaRPr lang="en-US" sz="900" dirty="0"/>
          </a:p>
          <a:p>
            <a:pPr marL="0" indent="0" algn="r">
              <a:lnSpc>
                <a:spcPct val="118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术语并无单一公认发明者。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是能力包，Harness 是工程环境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两者可以组合，但不是同一层概念，也不是简单从属关系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805" y="1651406"/>
            <a:ext cx="3556102" cy="317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SKILL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952805" y="2057400"/>
            <a:ext cx="3937406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可复用的能力封装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52805" y="2425903"/>
            <a:ext cx="393740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告诉 Agent 某类任务应该怎样做、能用什么、参考什么。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2805" y="3149194"/>
            <a:ext cx="114300" cy="114300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11" name="Text 7"/>
          <p:cNvSpPr/>
          <p:nvPr/>
        </p:nvSpPr>
        <p:spPr>
          <a:xfrm>
            <a:off x="1168603" y="3111703"/>
            <a:ext cx="12060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Instructions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451506" y="3124505"/>
            <a:ext cx="24131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任务规则与执行方法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52805" y="3670402"/>
            <a:ext cx="114300" cy="114300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14" name="Text 10"/>
          <p:cNvSpPr/>
          <p:nvPr/>
        </p:nvSpPr>
        <p:spPr>
          <a:xfrm>
            <a:off x="1168603" y="3631997"/>
            <a:ext cx="12060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451506" y="3644798"/>
            <a:ext cx="24131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按需读取的知识与经验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2805" y="4190695"/>
            <a:ext cx="114300" cy="114300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17" name="Text 13"/>
          <p:cNvSpPr/>
          <p:nvPr/>
        </p:nvSpPr>
        <p:spPr>
          <a:xfrm>
            <a:off x="1168603" y="4153205"/>
            <a:ext cx="12060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Scripts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451506" y="4166006"/>
            <a:ext cx="24131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可直接调用的工具脚本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52805" y="4711903"/>
            <a:ext cx="114300" cy="114300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20" name="Text 16"/>
          <p:cNvSpPr/>
          <p:nvPr/>
        </p:nvSpPr>
        <p:spPr>
          <a:xfrm>
            <a:off x="1168603" y="4673498"/>
            <a:ext cx="12060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Assets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451506" y="4686300"/>
            <a:ext cx="24131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模板、主题和素材资产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32297" y="1815998"/>
            <a:ext cx="0" cy="3289097"/>
          </a:xfrm>
          <a:prstGeom prst="line">
            <a:avLst/>
          </a:prstGeom>
          <a:noFill/>
          <a:ln w="20320">
            <a:solidFill>
              <a:srgbClr val="C5151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32197" y="2222906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可组合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302606" y="2895905"/>
            <a:ext cx="1460297" cy="6986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≠</a:t>
            </a:r>
            <a:endParaRPr lang="en-US" sz="4500" dirty="0"/>
          </a:p>
        </p:txBody>
      </p:sp>
      <p:sp>
        <p:nvSpPr>
          <p:cNvPr id="25" name="Text 21"/>
          <p:cNvSpPr/>
          <p:nvPr/>
        </p:nvSpPr>
        <p:spPr>
          <a:xfrm>
            <a:off x="5232197" y="3797503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不等同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7302398" y="1651406"/>
            <a:ext cx="3873398" cy="317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HARNESS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7302398" y="2057400"/>
            <a:ext cx="3937406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让能力稳定运行的工程环境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302398" y="2425903"/>
            <a:ext cx="393740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组织多个能力完成长任务，并持续管理过程、质量和反馈。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302398" y="3289097"/>
            <a:ext cx="2670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96505" y="3174797"/>
            <a:ext cx="13972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执行编排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271102" y="3289097"/>
            <a:ext cx="2670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664294" y="3174797"/>
            <a:ext cx="13972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上下文管理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7302398" y="3949294"/>
            <a:ext cx="2670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696505" y="3834994"/>
            <a:ext cx="13972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状态和记忆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9271102" y="3949294"/>
            <a:ext cx="2670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664294" y="3834994"/>
            <a:ext cx="13972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7302398" y="4610405"/>
            <a:ext cx="2670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696505" y="4496105"/>
            <a:ext cx="13972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约束与恢复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9271102" y="4610405"/>
            <a:ext cx="2670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664294" y="4496105"/>
            <a:ext cx="13972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评估与观测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2000707" y="5562295"/>
            <a:ext cx="819119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可以调用多个 Skill；同一个 Skill 也可以被不同 Harness 复用。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国际趋势：AI 能力正在工程化封装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看三个前沿案例：成果差异的核心，越来越来自模型之外的工程系统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602" y="1613002"/>
            <a:ext cx="304769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OPENAI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98602" y="1904695"/>
            <a:ext cx="3047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Harness Engineering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98602" y="2318004"/>
            <a:ext cx="3047695" cy="609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≈1M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698602" y="2908706"/>
            <a:ext cx="3047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lines of code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98602" y="3314700"/>
            <a:ext cx="3047695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名工程师 · 5 个月</a:t>
            </a:r>
            <a:endParaRPr lang="en-US" sz="10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≈1,500 个 PR · 0 手写代码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8602" y="3962095"/>
            <a:ext cx="584302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8602" y="4153205"/>
            <a:ext cx="304769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人类设计环境与反馈，Codex 执行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98602" y="4623206"/>
            <a:ext cx="3047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可读仓库 / 隔离运行 / 可观测 / 评审闭环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114800" y="1638605"/>
            <a:ext cx="0" cy="3568903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81805" y="1613002"/>
            <a:ext cx="304769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381805" y="1904695"/>
            <a:ext cx="3047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Agent Teams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381805" y="2318004"/>
            <a:ext cx="3047695" cy="609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16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4381805" y="2908706"/>
            <a:ext cx="3047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parallel agents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381805" y="3314700"/>
            <a:ext cx="3047695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 2,000 次会话</a:t>
            </a:r>
            <a:endParaRPr lang="en-US" sz="10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万行 Rust 编译器 · Linux 6.9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81805" y="3962095"/>
            <a:ext cx="584302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81805" y="4153205"/>
            <a:ext cx="304769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把长任务拆给并行角色持续推进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381805" y="4623206"/>
            <a:ext cx="3047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连续循环 / 测试 oracle / 任务隔离 / 角色分工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798003" y="1638605"/>
            <a:ext cx="0" cy="3568903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64094" y="1613002"/>
            <a:ext cx="304769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GOOGLE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8064094" y="1904695"/>
            <a:ext cx="3047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AlphaEvolve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064094" y="2318004"/>
            <a:ext cx="3047695" cy="609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0.7%</a:t>
            </a:r>
            <a:endParaRPr lang="en-US" sz="3600" dirty="0"/>
          </a:p>
        </p:txBody>
      </p:sp>
      <p:sp>
        <p:nvSpPr>
          <p:cNvPr id="28" name="Text 24"/>
          <p:cNvSpPr/>
          <p:nvPr/>
        </p:nvSpPr>
        <p:spPr>
          <a:xfrm>
            <a:off x="8064094" y="2908706"/>
            <a:ext cx="3047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compute recovered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8064094" y="3314700"/>
            <a:ext cx="3047695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生产运行超过 1 年</a:t>
            </a:r>
            <a:endParaRPr lang="en-US" sz="10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用于数据中心、芯片与 AI 训练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064094" y="3962095"/>
            <a:ext cx="584302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64094" y="4153205"/>
            <a:ext cx="304769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候选程序自动生成、验证和演化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8064094" y="4623206"/>
            <a:ext cx="3047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→ 自动评估 → 程序库 → 持续演化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524305" y="5499202"/>
            <a:ext cx="9144000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共同方向：模型 + 可运行环境 + 自动评估 + 反馈闭环</a:t>
            </a:r>
            <a:endParaRPr lang="en-US" sz="1550" dirty="0"/>
          </a:p>
        </p:txBody>
      </p:sp>
      <p:sp>
        <p:nvSpPr>
          <p:cNvPr id="34" name="Text 30"/>
          <p:cNvSpPr/>
          <p:nvPr/>
        </p:nvSpPr>
        <p:spPr>
          <a:xfrm>
            <a:off x="1968703" y="5854903"/>
            <a:ext cx="82552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来源：OpenAI Harness Engineering；Anthropic Agent Teams；Google DeepMind AlphaEvolve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国内落地：从 Agent 平台到业务流程提效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国内案例更强调企业知识、流程编排、安全运行和可量化结果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6305" y="1638605"/>
            <a:ext cx="0" cy="3644798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3480206"/>
            <a:ext cx="1082009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1695" y="1651406"/>
            <a:ext cx="4572000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阿里云 Qoder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1695" y="1968703"/>
            <a:ext cx="4572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研发与知识工作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1695" y="2292401"/>
            <a:ext cx="4956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1695" y="2451506"/>
            <a:ext cx="4572000" cy="444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Quest 2.0 拆解任务；专家智能体协同；Cloud Agents 在隔离沙箱长时、并行执行。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1695" y="3060497"/>
            <a:ext cx="45720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私有知识库 · VPC · 长时异步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13602" y="1651406"/>
            <a:ext cx="4572000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TRAE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13602" y="1968703"/>
            <a:ext cx="4572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抖音移动端测试开发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13602" y="2292401"/>
            <a:ext cx="4956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13602" y="2451506"/>
            <a:ext cx="4572000" cy="444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企业规则、知识库、Agent 与效能看板进入同一研发工作流。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13602" y="3060497"/>
            <a:ext cx="45720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5× 效率 · 覆盖率 &lt;10% → &gt;90%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1695" y="3683203"/>
            <a:ext cx="4572000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 CodeBuddy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61695" y="4000500"/>
            <a:ext cx="4572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编码、审查、测试与运维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61695" y="4324198"/>
            <a:ext cx="4956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1695" y="4483303"/>
            <a:ext cx="4572000" cy="444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插件 / IDE / CLI + ADP AgentOps，覆盖开发、连接、分发和治理生命周期。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61695" y="5092294"/>
            <a:ext cx="45720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95%+ 工程师 · 编码时间 -40%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13602" y="3683203"/>
            <a:ext cx="4572000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百度 Comate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13602" y="4000500"/>
            <a:ext cx="4572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复杂软件工程任务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413602" y="4324198"/>
            <a:ext cx="49560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13602" y="4483303"/>
            <a:ext cx="4572000" cy="444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多智能体拆解并隔离上下文；Rules 与 MCP 接入领域知识和工具。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413602" y="5092294"/>
            <a:ext cx="45720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任务隔离 · 效能度量 · 权限治理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031797" y="5613502"/>
            <a:ext cx="81281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来源：阿里云 Qoder CN、TRAE Enterprise、腾讯 Productivity Agent Suite、百度 Comate 官方公开材料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AI 做 PPT 的痛点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不是不能生成，而是难以稳定完成一整套可交付材料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35094" y="2387498"/>
            <a:ext cx="2920594" cy="1740103"/>
          </a:xfrm>
          <a:prstGeom prst="roundRect">
            <a:avLst>
              <a:gd name="adj" fmla="val 2943"/>
            </a:avLst>
          </a:prstGeom>
          <a:solidFill>
            <a:srgbClr val="C51516"/>
          </a:solidFill>
          <a:ln w="1270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902098" y="2819095"/>
            <a:ext cx="2387498" cy="4315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 生产问题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977994" y="3390595"/>
            <a:ext cx="2234794" cy="317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 · 表达 · 修改 · 经验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27602" y="1930298"/>
            <a:ext cx="0" cy="3174797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64094" y="1930298"/>
            <a:ext cx="0" cy="3174797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27602" y="3258007"/>
            <a:ext cx="508406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56602" y="3258007"/>
            <a:ext cx="508406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H="1">
            <a:off x="3746297" y="1994306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52805" y="1740103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经验不沉淀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52805" y="2038198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下一次仍从头解释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 flipH="1">
            <a:off x="3746297" y="2984602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2805" y="2730398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结构漂移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52805" y="3029407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长材料越做越偏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 flipH="1">
            <a:off x="3746297" y="3974897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52805" y="3720694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修改容易窜页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52805" y="4019702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局部改动牵连其他页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 flipH="1">
            <a:off x="3746297" y="4966106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52805" y="4711903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滞后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52805" y="5009998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问题到最后才被发现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4094" y="1994306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99602" y="1740103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表达过于生硬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8699602" y="2038198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框和文字堆叠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64094" y="2984602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699602" y="2730398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缺少逻辑性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699602" y="3029407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页面有内容，故事不连贯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064094" y="3974897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99602" y="3720694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风格不稳定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699602" y="4019702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字体、颜色、密度漂移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064094" y="4966106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699602" y="4711903"/>
            <a:ext cx="2540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图形表达弱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8699602" y="5009998"/>
            <a:ext cx="2540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该画示意图时仍在列文字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838505"/>
            <a:ext cx="3937406" cy="1587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D9D5CB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7500" dirty="0"/>
          </a:p>
        </p:txBody>
      </p:sp>
      <p:sp>
        <p:nvSpPr>
          <p:cNvPr id="4" name="Shape 1"/>
          <p:cNvSpPr/>
          <p:nvPr/>
        </p:nvSpPr>
        <p:spPr>
          <a:xfrm>
            <a:off x="660197" y="3301898"/>
            <a:ext cx="51206" cy="711403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914400" y="3174797"/>
            <a:ext cx="7492594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用一个 PPT Skill 说明 Harness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27202" y="3733495"/>
            <a:ext cx="6476695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把抽象的方法，落到一套可执行、可校验、可进化的 PPT 生产系统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架构：PPT 生产的七个能力层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第一层定义生产能力，第二层放入 Leander-PPT 的具体机制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 flipH="1">
            <a:off x="4127602" y="2616098"/>
            <a:ext cx="1015898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 flipV="1">
            <a:off x="4127602" y="1930298"/>
            <a:ext cx="0" cy="68580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 flipH="1">
            <a:off x="3480206" y="1930298"/>
            <a:ext cx="647395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812902" y="1600200"/>
            <a:ext cx="266730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12902" y="1600200"/>
            <a:ext cx="38405" cy="660197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12" name="Text 8"/>
          <p:cNvSpPr/>
          <p:nvPr/>
        </p:nvSpPr>
        <p:spPr>
          <a:xfrm>
            <a:off x="977494" y="1727302"/>
            <a:ext cx="23372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执行编排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977494" y="1981505"/>
            <a:ext cx="23372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 · 样页 · 人工 Gate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 flipH="1">
            <a:off x="4127602" y="2920594"/>
            <a:ext cx="1015898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27602" y="2920594"/>
            <a:ext cx="0" cy="177394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H="1">
            <a:off x="3480206" y="3098902"/>
            <a:ext cx="647395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12902" y="2768803"/>
            <a:ext cx="266730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902" y="2768803"/>
            <a:ext cx="38405" cy="660197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19" name="Text 15"/>
          <p:cNvSpPr/>
          <p:nvPr/>
        </p:nvSpPr>
        <p:spPr>
          <a:xfrm>
            <a:off x="977494" y="2895905"/>
            <a:ext cx="23372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状态和记忆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77494" y="3149194"/>
            <a:ext cx="23372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run-state · 决策记录 · 会话摘要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 flipH="1">
            <a:off x="4127602" y="3226003"/>
            <a:ext cx="1015898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27602" y="3226003"/>
            <a:ext cx="0" cy="1041502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flipH="1">
            <a:off x="3480206" y="4267505"/>
            <a:ext cx="647395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812902" y="3937406"/>
            <a:ext cx="266730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12902" y="3937406"/>
            <a:ext cx="38405" cy="660197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26" name="Text 22"/>
          <p:cNvSpPr/>
          <p:nvPr/>
        </p:nvSpPr>
        <p:spPr>
          <a:xfrm>
            <a:off x="977494" y="4063594"/>
            <a:ext cx="23372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约束与恢复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977494" y="4317797"/>
            <a:ext cx="23372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页面隔离 · 最小修复 · 影响范围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048195" y="2616098"/>
            <a:ext cx="1015898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V="1">
            <a:off x="8064094" y="1930298"/>
            <a:ext cx="0" cy="68580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64094" y="1930298"/>
            <a:ext cx="647395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8712403" y="1600200"/>
            <a:ext cx="266730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712403" y="1600200"/>
            <a:ext cx="38405" cy="660197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33" name="Text 29"/>
          <p:cNvSpPr/>
          <p:nvPr/>
        </p:nvSpPr>
        <p:spPr>
          <a:xfrm>
            <a:off x="8876995" y="1727302"/>
            <a:ext cx="23372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上下文管理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8876995" y="1981505"/>
            <a:ext cx="23372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渐进式披露 · 阶段读取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048195" y="2920594"/>
            <a:ext cx="1015898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064094" y="2920594"/>
            <a:ext cx="0" cy="177394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064094" y="3098902"/>
            <a:ext cx="647395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8712403" y="2768803"/>
            <a:ext cx="266730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712403" y="2768803"/>
            <a:ext cx="38405" cy="660197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40" name="Text 36"/>
          <p:cNvSpPr/>
          <p:nvPr/>
        </p:nvSpPr>
        <p:spPr>
          <a:xfrm>
            <a:off x="8876995" y="2895905"/>
            <a:ext cx="23372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8876995" y="3149194"/>
            <a:ext cx="23372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 · 主题 · 组件 · 图片路线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7048195" y="3226003"/>
            <a:ext cx="1015898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064094" y="3226003"/>
            <a:ext cx="0" cy="1041502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064094" y="4267505"/>
            <a:ext cx="647395" cy="0"/>
          </a:xfrm>
          <a:prstGeom prst="line">
            <a:avLst/>
          </a:prstGeom>
          <a:noFill/>
          <a:ln w="14605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5" name="Shape 41"/>
          <p:cNvSpPr/>
          <p:nvPr/>
        </p:nvSpPr>
        <p:spPr>
          <a:xfrm>
            <a:off x="8712403" y="3937406"/>
            <a:ext cx="266730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8712403" y="3937406"/>
            <a:ext cx="38405" cy="660197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47" name="Text 43"/>
          <p:cNvSpPr/>
          <p:nvPr/>
        </p:nvSpPr>
        <p:spPr>
          <a:xfrm>
            <a:off x="8876995" y="4063594"/>
            <a:ext cx="23372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评估与观测</a:t>
            </a:r>
            <a:endParaRPr lang="en-US" sz="1350" dirty="0"/>
          </a:p>
        </p:txBody>
      </p:sp>
      <p:sp>
        <p:nvSpPr>
          <p:cNvPr id="48" name="Text 44"/>
          <p:cNvSpPr/>
          <p:nvPr/>
        </p:nvSpPr>
        <p:spPr>
          <a:xfrm>
            <a:off x="8876995" y="4317797"/>
            <a:ext cx="23372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 QA · 渲染证据 · 多 Agent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5143500" y="2400300"/>
            <a:ext cx="1904695" cy="1054303"/>
          </a:xfrm>
          <a:prstGeom prst="roundRect">
            <a:avLst>
              <a:gd name="adj" fmla="val 4857"/>
            </a:avLst>
          </a:prstGeom>
          <a:solidFill>
            <a:srgbClr val="C51516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5143500" y="2616098"/>
            <a:ext cx="1904695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HARNESS</a:t>
            </a:r>
            <a:endParaRPr lang="en-US" sz="2100" dirty="0"/>
          </a:p>
        </p:txBody>
      </p:sp>
      <p:sp>
        <p:nvSpPr>
          <p:cNvPr id="51" name="Text 47"/>
          <p:cNvSpPr/>
          <p:nvPr/>
        </p:nvSpPr>
        <p:spPr>
          <a:xfrm>
            <a:off x="5320894" y="3047695"/>
            <a:ext cx="15489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 AI 生产环境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6096305" y="3454603"/>
            <a:ext cx="0" cy="1117397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4508906" y="4572000"/>
            <a:ext cx="3174797" cy="597103"/>
          </a:xfrm>
          <a:prstGeom prst="roundRect">
            <a:avLst>
              <a:gd name="adj" fmla="val 857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4508906" y="4572000"/>
            <a:ext cx="38405" cy="597103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55" name="Text 51"/>
          <p:cNvSpPr/>
          <p:nvPr/>
        </p:nvSpPr>
        <p:spPr>
          <a:xfrm>
            <a:off x="4711903" y="4686300"/>
            <a:ext cx="1397203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自进化机制</a:t>
            </a:r>
            <a:endParaRPr lang="en-US" sz="1350" dirty="0"/>
          </a:p>
        </p:txBody>
      </p:sp>
      <p:sp>
        <p:nvSpPr>
          <p:cNvPr id="56" name="Text 52"/>
          <p:cNvSpPr/>
          <p:nvPr/>
        </p:nvSpPr>
        <p:spPr>
          <a:xfrm>
            <a:off x="4711903" y="4927702"/>
            <a:ext cx="2730398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问题记录 · 规则提升 · 稳定衰减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746504" y="5639105"/>
            <a:ext cx="12060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BRIEF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3003804" y="5715000"/>
            <a:ext cx="1901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9" name="Text 55"/>
          <p:cNvSpPr/>
          <p:nvPr/>
        </p:nvSpPr>
        <p:spPr>
          <a:xfrm>
            <a:off x="3245206" y="5639105"/>
            <a:ext cx="12060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OUTLINE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4502506" y="5715000"/>
            <a:ext cx="1901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1" name="Text 57"/>
          <p:cNvSpPr/>
          <p:nvPr/>
        </p:nvSpPr>
        <p:spPr>
          <a:xfrm>
            <a:off x="4743907" y="5639105"/>
            <a:ext cx="12060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BLUEPRINT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6001207" y="5715000"/>
            <a:ext cx="1901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3" name="Text 59"/>
          <p:cNvSpPr/>
          <p:nvPr/>
        </p:nvSpPr>
        <p:spPr>
          <a:xfrm>
            <a:off x="6241694" y="5639105"/>
            <a:ext cx="12060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ANCHOR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7498994" y="5715000"/>
            <a:ext cx="1901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5" name="Text 61"/>
          <p:cNvSpPr/>
          <p:nvPr/>
        </p:nvSpPr>
        <p:spPr>
          <a:xfrm>
            <a:off x="7740396" y="5639105"/>
            <a:ext cx="12060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8997696" y="5715000"/>
            <a:ext cx="1901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7" name="Text 63"/>
          <p:cNvSpPr/>
          <p:nvPr/>
        </p:nvSpPr>
        <p:spPr>
          <a:xfrm>
            <a:off x="9239098" y="5639105"/>
            <a:ext cx="12060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QA</a:t>
            </a:r>
            <a:endParaRPr lang="en-US" sz="750" dirty="0"/>
          </a:p>
        </p:txBody>
      </p:sp>
      <p:sp>
        <p:nvSpPr>
          <p:cNvPr id="68" name="Shape 6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执行流：人、AI 和文件如何流转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把生产链路拆开看：人工负责目标与确认，AI 负责执行，文件负责交接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95805" y="1434694"/>
            <a:ext cx="15371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任务定义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631997" y="1434694"/>
            <a:ext cx="15371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31997" y="1688897"/>
            <a:ext cx="0" cy="3581705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69103" y="1434694"/>
            <a:ext cx="15371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169103" y="1688897"/>
            <a:ext cx="0" cy="3581705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05295" y="1434694"/>
            <a:ext cx="15371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锚点样页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705295" y="1688897"/>
            <a:ext cx="0" cy="3581705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42402" y="1434694"/>
            <a:ext cx="15371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批次生产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242402" y="1688897"/>
            <a:ext cx="0" cy="3581705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78594" y="1434694"/>
            <a:ext cx="153710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QA 交付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778594" y="1688897"/>
            <a:ext cx="0" cy="3581705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9905" y="1777594"/>
            <a:ext cx="10972800" cy="901598"/>
          </a:xfrm>
          <a:prstGeom prst="roundRect">
            <a:avLst>
              <a:gd name="adj" fmla="val 5680"/>
            </a:avLst>
          </a:prstGeom>
          <a:solidFill>
            <a:srgbClr val="FBECEB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1403" y="1891894"/>
            <a:ext cx="1168603" cy="672998"/>
          </a:xfrm>
          <a:prstGeom prst="roundRect">
            <a:avLst>
              <a:gd name="adj" fmla="val 7609"/>
            </a:avLst>
          </a:prstGeom>
          <a:solidFill>
            <a:srgbClr val="C51516"/>
          </a:solidFill>
        </p:spPr>
      </p:sp>
      <p:sp>
        <p:nvSpPr>
          <p:cNvPr id="20" name="Text 16"/>
          <p:cNvSpPr/>
          <p:nvPr/>
        </p:nvSpPr>
        <p:spPr>
          <a:xfrm>
            <a:off x="812902" y="2083003"/>
            <a:ext cx="965606" cy="3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人工输入 / 确认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9905" y="2883103"/>
            <a:ext cx="10972800" cy="901598"/>
          </a:xfrm>
          <a:prstGeom prst="roundRect">
            <a:avLst>
              <a:gd name="adj" fmla="val 5680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1403" y="2997403"/>
            <a:ext cx="1168603" cy="672998"/>
          </a:xfrm>
          <a:prstGeom prst="roundRect">
            <a:avLst>
              <a:gd name="adj" fmla="val 7609"/>
            </a:avLst>
          </a:prstGeom>
          <a:solidFill>
            <a:srgbClr val="07195A"/>
          </a:solidFill>
        </p:spPr>
      </p:sp>
      <p:sp>
        <p:nvSpPr>
          <p:cNvPr id="23" name="Text 19"/>
          <p:cNvSpPr/>
          <p:nvPr/>
        </p:nvSpPr>
        <p:spPr>
          <a:xfrm>
            <a:off x="812902" y="3187598"/>
            <a:ext cx="965606" cy="3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执行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09905" y="3987698"/>
            <a:ext cx="10972800" cy="1143000"/>
          </a:xfrm>
          <a:prstGeom prst="roundRect">
            <a:avLst>
              <a:gd name="adj" fmla="val 448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1403" y="4101998"/>
            <a:ext cx="1168603" cy="914400"/>
          </a:xfrm>
          <a:prstGeom prst="roundRect">
            <a:avLst>
              <a:gd name="adj" fmla="val 5600"/>
            </a:avLst>
          </a:prstGeom>
          <a:solidFill>
            <a:srgbClr val="07195A"/>
          </a:solidFill>
        </p:spPr>
      </p:sp>
      <p:sp>
        <p:nvSpPr>
          <p:cNvPr id="26" name="Text 22"/>
          <p:cNvSpPr/>
          <p:nvPr/>
        </p:nvSpPr>
        <p:spPr>
          <a:xfrm>
            <a:off x="812902" y="4292194"/>
            <a:ext cx="965606" cy="3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流转文件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234794" y="1994306"/>
            <a:ext cx="1257300" cy="4572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298802" y="2139696"/>
            <a:ext cx="11301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给目标与素材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771900" y="1994306"/>
            <a:ext cx="1257300" cy="457200"/>
          </a:xfrm>
          <a:prstGeom prst="roundRect">
            <a:avLst>
              <a:gd name="adj" fmla="val 11200"/>
            </a:avLst>
          </a:prstGeom>
          <a:solidFill>
            <a:srgbClr val="C51516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834994" y="2139696"/>
            <a:ext cx="11301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确认故事线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309006" y="1994306"/>
            <a:ext cx="1257300" cy="457200"/>
          </a:xfrm>
          <a:prstGeom prst="roundRect">
            <a:avLst>
              <a:gd name="adj" fmla="val 11200"/>
            </a:avLst>
          </a:prstGeom>
          <a:solidFill>
            <a:srgbClr val="C51516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372100" y="2139696"/>
            <a:ext cx="11301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确认布局节奏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845198" y="1994306"/>
            <a:ext cx="1257300" cy="457200"/>
          </a:xfrm>
          <a:prstGeom prst="roundRect">
            <a:avLst>
              <a:gd name="adj" fmla="val 11200"/>
            </a:avLst>
          </a:prstGeom>
          <a:solidFill>
            <a:srgbClr val="C51516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09206" y="2139696"/>
            <a:ext cx="11301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确认风格与密度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382305" y="1994306"/>
            <a:ext cx="1257300" cy="457200"/>
          </a:xfrm>
          <a:prstGeom prst="roundRect">
            <a:avLst>
              <a:gd name="adj" fmla="val 11200"/>
            </a:avLst>
          </a:prstGeom>
          <a:solidFill>
            <a:srgbClr val="C51516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45398" y="2139696"/>
            <a:ext cx="11301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逐批反馈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918497" y="1994306"/>
            <a:ext cx="1257300" cy="457200"/>
          </a:xfrm>
          <a:prstGeom prst="roundRect">
            <a:avLst>
              <a:gd name="adj" fmla="val 11200"/>
            </a:avLst>
          </a:prstGeom>
          <a:solidFill>
            <a:srgbClr val="C51516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982505" y="2139696"/>
            <a:ext cx="11301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最终决策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2286000" y="3340303"/>
            <a:ext cx="2542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603297" y="3213202"/>
            <a:ext cx="10287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澄清边界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823106" y="3340303"/>
            <a:ext cx="2542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140403" y="3213202"/>
            <a:ext cx="10287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组织内容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359298" y="3340303"/>
            <a:ext cx="2542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76595" y="3213202"/>
            <a:ext cx="10287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推导页面合同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896405" y="3340303"/>
            <a:ext cx="2542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13702" y="3213202"/>
            <a:ext cx="10287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制作高风险页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432597" y="3340303"/>
            <a:ext cx="2542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749894" y="3213202"/>
            <a:ext cx="10287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逐页实现与渲染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9969703" y="3340303"/>
            <a:ext cx="2542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0287000" y="3213202"/>
            <a:ext cx="10287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 QA 与修复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2210105" y="4280306"/>
            <a:ext cx="1308506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240">
            <a:solidFill>
              <a:srgbClr val="C5151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273198" y="4432097"/>
            <a:ext cx="11814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source/ + brief.md</a:t>
            </a:r>
            <a:endParaRPr lang="en-US" sz="750" dirty="0"/>
          </a:p>
        </p:txBody>
      </p:sp>
      <p:sp>
        <p:nvSpPr>
          <p:cNvPr id="53" name="Shape 49"/>
          <p:cNvSpPr/>
          <p:nvPr/>
        </p:nvSpPr>
        <p:spPr>
          <a:xfrm>
            <a:off x="3746297" y="4280306"/>
            <a:ext cx="1308506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810305" y="4432097"/>
            <a:ext cx="11814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outline.md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5283403" y="4280306"/>
            <a:ext cx="1308506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346497" y="4432097"/>
            <a:ext cx="11814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layout-blueprint.*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6819595" y="4280306"/>
            <a:ext cx="1308506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883603" y="4432097"/>
            <a:ext cx="11814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anchor-samples.pptx</a:t>
            </a:r>
            <a:endParaRPr lang="en-US" sz="750" dirty="0"/>
          </a:p>
        </p:txBody>
      </p:sp>
      <p:sp>
        <p:nvSpPr>
          <p:cNvPr id="59" name="Shape 55"/>
          <p:cNvSpPr/>
          <p:nvPr/>
        </p:nvSpPr>
        <p:spPr>
          <a:xfrm>
            <a:off x="8356702" y="4280306"/>
            <a:ext cx="1308506" cy="482803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419795" y="4432097"/>
            <a:ext cx="11814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pages/&lt;id&gt;/ + batch.pptx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9892894" y="4280306"/>
            <a:ext cx="1308506" cy="482803"/>
          </a:xfrm>
          <a:prstGeom prst="roundRect">
            <a:avLst>
              <a:gd name="adj" fmla="val 10606"/>
            </a:avLst>
          </a:prstGeom>
          <a:solidFill>
            <a:srgbClr val="07195A"/>
          </a:solidFill>
          <a:ln w="15240">
            <a:solidFill>
              <a:srgbClr val="07195A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956902" y="4432097"/>
            <a:ext cx="11814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PPTX + artifact-manifest</a:t>
            </a:r>
            <a:endParaRPr lang="en-US" sz="750" dirty="0"/>
          </a:p>
        </p:txBody>
      </p:sp>
      <p:sp>
        <p:nvSpPr>
          <p:cNvPr id="63" name="Shape 59"/>
          <p:cNvSpPr/>
          <p:nvPr/>
        </p:nvSpPr>
        <p:spPr>
          <a:xfrm>
            <a:off x="3301898" y="5435194"/>
            <a:ext cx="267005" cy="139903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670402" y="5410505"/>
            <a:ext cx="1397203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输入文件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5206594" y="5435194"/>
            <a:ext cx="267005" cy="139903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575097" y="5410505"/>
            <a:ext cx="1397203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阶段流转文件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7492594" y="5435194"/>
            <a:ext cx="267005" cy="139903"/>
          </a:xfrm>
          <a:prstGeom prst="roundRect">
            <a:avLst>
              <a:gd name="adj" fmla="val 36601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861097" y="5410505"/>
            <a:ext cx="1397203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最终输出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执行编排：把一次性任务拆成可确认里程碑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编排不是多列几个步骤，而是把不确定性拆到可以检查和确认的位置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695" y="1524305"/>
            <a:ext cx="4444898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未编排：一个任务直接出结果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03797" y="1524305"/>
            <a:ext cx="4444898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执行编排：里程碑 + Gate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032297" y="1434694"/>
            <a:ext cx="0" cy="3797503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5703" y="2463394"/>
            <a:ext cx="1206094" cy="737006"/>
          </a:xfrm>
          <a:prstGeom prst="roundRect">
            <a:avLst>
              <a:gd name="adj" fmla="val 694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40003" y="2628900"/>
            <a:ext cx="9774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40003" y="2908706"/>
            <a:ext cx="9774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目标和材料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083003" y="2831897"/>
            <a:ext cx="3429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476195" y="2463394"/>
            <a:ext cx="1206094" cy="737006"/>
          </a:xfrm>
          <a:prstGeom prst="roundRect">
            <a:avLst>
              <a:gd name="adj" fmla="val 694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590495" y="2628900"/>
            <a:ext cx="9774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黑箱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590495" y="2908706"/>
            <a:ext cx="9774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中间过程不可见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733495" y="2831897"/>
            <a:ext cx="3429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127602" y="2463394"/>
            <a:ext cx="1206094" cy="737006"/>
          </a:xfrm>
          <a:prstGeom prst="roundRect">
            <a:avLst>
              <a:gd name="adj" fmla="val 6948"/>
            </a:avLst>
          </a:prstGeom>
          <a:solidFill>
            <a:srgbClr val="FBECEB"/>
          </a:solidFill>
          <a:ln w="1905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241902" y="2628900"/>
            <a:ext cx="9774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粗结果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241902" y="2908706"/>
            <a:ext cx="9774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问题集中暴露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731106" y="3301898"/>
            <a:ext cx="0" cy="787298"/>
          </a:xfrm>
          <a:prstGeom prst="line">
            <a:avLst/>
          </a:prstGeom>
          <a:noFill/>
          <a:ln w="19050">
            <a:solidFill>
              <a:srgbClr val="C5151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 flipH="1">
            <a:off x="1429207" y="4089197"/>
            <a:ext cx="3301898" cy="0"/>
          </a:xfrm>
          <a:prstGeom prst="line">
            <a:avLst/>
          </a:prstGeom>
          <a:noFill/>
          <a:ln w="19050">
            <a:solidFill>
              <a:srgbClr val="C5151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flipV="1">
            <a:off x="1429207" y="3301898"/>
            <a:ext cx="0" cy="787298"/>
          </a:xfrm>
          <a:prstGeom prst="line">
            <a:avLst/>
          </a:prstGeom>
          <a:noFill/>
          <a:ln w="1905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1904695" y="3746297"/>
            <a:ext cx="2349094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返工发生在最后，定位成本最高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15898" y="4533595"/>
            <a:ext cx="13331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缺少中间证据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508199" y="4533595"/>
            <a:ext cx="13331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没有人工确认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000500" y="4533595"/>
            <a:ext cx="13331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修改容易牵连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953098" y="2958998"/>
            <a:ext cx="3810305" cy="0"/>
          </a:xfrm>
          <a:prstGeom prst="line">
            <a:avLst/>
          </a:prstGeom>
          <a:noFill/>
          <a:ln w="25400">
            <a:solidFill>
              <a:srgbClr val="D9D5C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801307" y="2806294"/>
            <a:ext cx="304495" cy="304495"/>
          </a:xfrm>
          <a:prstGeom prst="ellipse">
            <a:avLst/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01307" y="2902306"/>
            <a:ext cx="304495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6566306" y="3301898"/>
            <a:ext cx="7744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489497" y="3556102"/>
            <a:ext cx="927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故事线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6851599" y="3987698"/>
            <a:ext cx="202997" cy="202997"/>
          </a:xfrm>
          <a:prstGeom prst="diamond">
            <a:avLst/>
          </a:prstGeom>
          <a:solidFill>
            <a:srgbClr val="C51516"/>
          </a:solidFill>
        </p:spPr>
      </p:sp>
      <p:sp>
        <p:nvSpPr>
          <p:cNvPr id="34" name="Text 30"/>
          <p:cNvSpPr/>
          <p:nvPr/>
        </p:nvSpPr>
        <p:spPr>
          <a:xfrm>
            <a:off x="6527902" y="4280306"/>
            <a:ext cx="8513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6953098" y="3759098"/>
            <a:ext cx="0" cy="202997"/>
          </a:xfrm>
          <a:prstGeom prst="line">
            <a:avLst/>
          </a:prstGeom>
          <a:noFill/>
          <a:ln w="13970">
            <a:solidFill>
              <a:srgbClr val="C5151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753198" y="2806294"/>
            <a:ext cx="304495" cy="304495"/>
          </a:xfrm>
          <a:prstGeom prst="ellipse">
            <a:avLst/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753198" y="2902306"/>
            <a:ext cx="304495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2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7518197" y="3301898"/>
            <a:ext cx="7744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7442302" y="3556102"/>
            <a:ext cx="927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布局合同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7804404" y="3987698"/>
            <a:ext cx="202997" cy="202997"/>
          </a:xfrm>
          <a:prstGeom prst="diamond">
            <a:avLst/>
          </a:prstGeom>
          <a:solidFill>
            <a:srgbClr val="C51516"/>
          </a:solidFill>
        </p:spPr>
      </p:sp>
      <p:sp>
        <p:nvSpPr>
          <p:cNvPr id="41" name="Text 37"/>
          <p:cNvSpPr/>
          <p:nvPr/>
        </p:nvSpPr>
        <p:spPr>
          <a:xfrm>
            <a:off x="7480706" y="4280306"/>
            <a:ext cx="8513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7905902" y="3759098"/>
            <a:ext cx="0" cy="202997"/>
          </a:xfrm>
          <a:prstGeom prst="line">
            <a:avLst/>
          </a:prstGeom>
          <a:noFill/>
          <a:ln w="13970">
            <a:solidFill>
              <a:srgbClr val="C5151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706002" y="2806294"/>
            <a:ext cx="304495" cy="304495"/>
          </a:xfrm>
          <a:prstGeom prst="ellipse">
            <a:avLst/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706002" y="2902306"/>
            <a:ext cx="304495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8471002" y="3301898"/>
            <a:ext cx="7744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样页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8395106" y="3556102"/>
            <a:ext cx="927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视觉验证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8756294" y="3987698"/>
            <a:ext cx="202997" cy="202997"/>
          </a:xfrm>
          <a:prstGeom prst="diamond">
            <a:avLst/>
          </a:prstGeom>
          <a:solidFill>
            <a:srgbClr val="C51516"/>
          </a:solidFill>
        </p:spPr>
      </p:sp>
      <p:sp>
        <p:nvSpPr>
          <p:cNvPr id="48" name="Text 44"/>
          <p:cNvSpPr/>
          <p:nvPr/>
        </p:nvSpPr>
        <p:spPr>
          <a:xfrm>
            <a:off x="8432597" y="4280306"/>
            <a:ext cx="8513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8858707" y="3759098"/>
            <a:ext cx="0" cy="202997"/>
          </a:xfrm>
          <a:prstGeom prst="line">
            <a:avLst/>
          </a:prstGeom>
          <a:noFill/>
          <a:ln w="13970">
            <a:solidFill>
              <a:srgbClr val="C51516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658807" y="2806294"/>
            <a:ext cx="304495" cy="304495"/>
          </a:xfrm>
          <a:prstGeom prst="ellipse">
            <a:avLst/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9658807" y="2902306"/>
            <a:ext cx="304495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9423806" y="3301898"/>
            <a:ext cx="7744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批次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9346997" y="3556102"/>
            <a:ext cx="927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小范围交付</a:t>
            </a:r>
            <a:endParaRPr lang="en-US" sz="750" dirty="0"/>
          </a:p>
        </p:txBody>
      </p:sp>
      <p:sp>
        <p:nvSpPr>
          <p:cNvPr id="54" name="Shape 50"/>
          <p:cNvSpPr/>
          <p:nvPr/>
        </p:nvSpPr>
        <p:spPr>
          <a:xfrm>
            <a:off x="10610698" y="2806294"/>
            <a:ext cx="304495" cy="304495"/>
          </a:xfrm>
          <a:prstGeom prst="ellipse">
            <a:avLst/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0610698" y="2902306"/>
            <a:ext cx="304495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5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10375697" y="3301898"/>
            <a:ext cx="7744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QA</a:t>
            </a:r>
            <a:endParaRPr lang="en-US" sz="1200" dirty="0"/>
          </a:p>
        </p:txBody>
      </p:sp>
      <p:sp>
        <p:nvSpPr>
          <p:cNvPr id="57" name="Text 53"/>
          <p:cNvSpPr/>
          <p:nvPr/>
        </p:nvSpPr>
        <p:spPr>
          <a:xfrm>
            <a:off x="10299802" y="3556102"/>
            <a:ext cx="927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渲染证据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10661904" y="3987698"/>
            <a:ext cx="202997" cy="202997"/>
          </a:xfrm>
          <a:prstGeom prst="diamond">
            <a:avLst/>
          </a:prstGeom>
          <a:solidFill>
            <a:srgbClr val="C51516"/>
          </a:solidFill>
        </p:spPr>
      </p:sp>
      <p:sp>
        <p:nvSpPr>
          <p:cNvPr id="59" name="Text 55"/>
          <p:cNvSpPr/>
          <p:nvPr/>
        </p:nvSpPr>
        <p:spPr>
          <a:xfrm>
            <a:off x="10338206" y="4280306"/>
            <a:ext cx="8513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10763402" y="3759098"/>
            <a:ext cx="0" cy="202997"/>
          </a:xfrm>
          <a:prstGeom prst="line">
            <a:avLst/>
          </a:prstGeom>
          <a:noFill/>
          <a:ln w="13970">
            <a:solidFill>
              <a:srgbClr val="C51516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921094" y="4800600"/>
            <a:ext cx="412760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问题在小节点暴露，返工也被限制在小范围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2730398" y="5562295"/>
            <a:ext cx="6730898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大任务 = 可检查里程碑 × 人工关键确认</a:t>
            </a:r>
            <a:endParaRPr lang="en-US" sz="1600" dirty="0"/>
          </a:p>
        </p:txBody>
      </p:sp>
      <p:sp>
        <p:nvSpPr>
          <p:cNvPr id="63" name="Shape 59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上下文管理：按阶段读取，而不是一次性塞满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SKILL.md 只做入口；当前阶段再打开对应 reference，这就是渐进式披露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197" y="1422806"/>
            <a:ext cx="4953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真实文件证据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60197" y="1752905"/>
            <a:ext cx="2413102" cy="1537106"/>
          </a:xfrm>
          <a:prstGeom prst="roundRect">
            <a:avLst>
              <a:gd name="adj" fmla="val 3331"/>
            </a:avLst>
          </a:prstGeom>
          <a:solidFill>
            <a:srgbClr val="FFFFFF"/>
          </a:solidFill>
          <a:ln w="1778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9" name="Image 1" descr="C:\西井\01项目\09-harness工程\leander-ppt-internal-sharing-v7-flow\assets\evidence\skill-md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1803197"/>
            <a:ext cx="2311603" cy="13972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0197" y="3403397"/>
            <a:ext cx="24131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入口：SKILL.md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76295" y="1752905"/>
            <a:ext cx="2413102" cy="1537106"/>
          </a:xfrm>
          <a:prstGeom prst="roundRect">
            <a:avLst>
              <a:gd name="adj" fmla="val 3331"/>
            </a:avLst>
          </a:prstGeom>
          <a:solidFill>
            <a:srgbClr val="FFFFFF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12" name="Image 2" descr="C:\西井\01项目\09-harness工程\leander-ppt-internal-sharing-v7-flow\assets\evidence\references-folder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502" y="1803197"/>
            <a:ext cx="2311603" cy="13972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76295" y="3403397"/>
            <a:ext cx="24131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按阶段读取：references/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698602" y="3937406"/>
            <a:ext cx="4826203" cy="5330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入口文件不承载所有知识。</a:t>
            </a:r>
            <a:endParaRPr lang="en-US" sz="12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它只告诉 Agent：现在处于什么阶段、下一步去哪里读取。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045098" y="1460297"/>
            <a:ext cx="0" cy="3797503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540703" y="1422806"/>
            <a:ext cx="4444898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阶段路由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566306" y="1917497"/>
            <a:ext cx="330098" cy="330098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18" name="Text 12"/>
          <p:cNvSpPr/>
          <p:nvPr/>
        </p:nvSpPr>
        <p:spPr>
          <a:xfrm>
            <a:off x="6566306" y="2025396"/>
            <a:ext cx="330098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6730898" y="2286000"/>
            <a:ext cx="0" cy="418795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0" name="Text 14"/>
          <p:cNvSpPr/>
          <p:nvPr/>
        </p:nvSpPr>
        <p:spPr>
          <a:xfrm>
            <a:off x="7162495" y="1867205"/>
            <a:ext cx="3301898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识别当前阶段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162495" y="2171700"/>
            <a:ext cx="3556102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大纲 / 蓝图 / 页面 / QA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566306" y="2819095"/>
            <a:ext cx="330098" cy="330098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23" name="Text 17"/>
          <p:cNvSpPr/>
          <p:nvPr/>
        </p:nvSpPr>
        <p:spPr>
          <a:xfrm>
            <a:off x="6566306" y="2926994"/>
            <a:ext cx="330098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6730898" y="3187598"/>
            <a:ext cx="0" cy="418795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7162495" y="2768803"/>
            <a:ext cx="3301898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读取入口规则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162495" y="3073298"/>
            <a:ext cx="3556102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只保留当前任务的硬约束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566306" y="3720694"/>
            <a:ext cx="330098" cy="330098"/>
          </a:xfrm>
          <a:prstGeom prst="ellipse">
            <a:avLst/>
          </a:prstGeom>
          <a:solidFill>
            <a:srgbClr val="C51516"/>
          </a:solidFill>
        </p:spPr>
      </p:sp>
      <p:sp>
        <p:nvSpPr>
          <p:cNvPr id="28" name="Text 22"/>
          <p:cNvSpPr/>
          <p:nvPr/>
        </p:nvSpPr>
        <p:spPr>
          <a:xfrm>
            <a:off x="6566306" y="3829507"/>
            <a:ext cx="330098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6730898" y="4089197"/>
            <a:ext cx="0" cy="418795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0" name="Text 24"/>
          <p:cNvSpPr/>
          <p:nvPr/>
        </p:nvSpPr>
        <p:spPr>
          <a:xfrm>
            <a:off x="7162495" y="3670402"/>
            <a:ext cx="3301898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打开阶段 reference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162495" y="3974897"/>
            <a:ext cx="3556102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读取当前阶段的方法、检查表和示例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10528402" y="3708806"/>
            <a:ext cx="748894" cy="215798"/>
          </a:xfrm>
          <a:prstGeom prst="roundRect">
            <a:avLst>
              <a:gd name="adj" fmla="val 23729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528402" y="3771900"/>
            <a:ext cx="748894" cy="886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CURRENT</a:t>
            </a:r>
            <a:endParaRPr lang="en-US" sz="600" dirty="0"/>
          </a:p>
        </p:txBody>
      </p:sp>
      <p:sp>
        <p:nvSpPr>
          <p:cNvPr id="34" name="Shape 28"/>
          <p:cNvSpPr/>
          <p:nvPr/>
        </p:nvSpPr>
        <p:spPr>
          <a:xfrm>
            <a:off x="6566306" y="4623206"/>
            <a:ext cx="330098" cy="330098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35" name="Text 29"/>
          <p:cNvSpPr/>
          <p:nvPr/>
        </p:nvSpPr>
        <p:spPr>
          <a:xfrm>
            <a:off x="6566306" y="4731106"/>
            <a:ext cx="330098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7162495" y="4572000"/>
            <a:ext cx="3301898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生成并确认产物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162495" y="4876495"/>
            <a:ext cx="3556102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Gate 后，才进入下一阶段上下文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状态和记忆：把协作过程变成可恢复状态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不依赖模型记住整段历史，而是把位置、决策和交接写进本地状态文件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197" y="1473098"/>
            <a:ext cx="3810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长任务没有状态，会发生什么？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98602" y="2031797"/>
            <a:ext cx="3685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8602" y="2184502"/>
            <a:ext cx="1651406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跨会话丢上下文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98602" y="2553005"/>
            <a:ext cx="1651406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重新开始时不知道做到哪里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603297" y="2031797"/>
            <a:ext cx="368503" cy="0"/>
          </a:xfrm>
          <a:prstGeom prst="line">
            <a:avLst/>
          </a:prstGeom>
          <a:noFill/>
          <a:ln w="25400">
            <a:solidFill>
              <a:srgbClr val="C515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603297" y="2184502"/>
            <a:ext cx="1651406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关键决策被覆盖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3297" y="2553005"/>
            <a:ext cx="1651406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只看到结果，看不到为什么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8602" y="3301898"/>
            <a:ext cx="3685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8602" y="3454603"/>
            <a:ext cx="1651406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多人交接成本高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98602" y="3823106"/>
            <a:ext cx="1651406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每个人都要重新解释背景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603297" y="3301898"/>
            <a:ext cx="368503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03297" y="3454603"/>
            <a:ext cx="1651406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问题难以追溯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603297" y="3823106"/>
            <a:ext cx="1651406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不知道哪一步改变了方向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61695" y="4889297"/>
            <a:ext cx="3429000" cy="444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解决办法：把协作状态写进可读取、可版本化、可交接的文件。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889297" y="1524305"/>
            <a:ext cx="6413602" cy="3886200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 w="1651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22" name="Image 1" descr="C:\西井\01项目\09-harness工程\leander-ppt-internal-sharing-v7-flow\assets\evidence\state-folde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95" y="1625803"/>
            <a:ext cx="6210605" cy="36832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26703" y="5512003"/>
            <a:ext cx="24761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真实项目 state/ 目录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工具系统：蓝图先于组件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先确认整套故事节奏和每页合同，再让组件选择器进入受控搜索空间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197" y="1434694"/>
            <a:ext cx="51435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低保真蓝图：先看结构，不看精细设计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60197" y="1790395"/>
            <a:ext cx="5206594" cy="3289097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9" name="Image 1" descr="C:\西井\01项目\09-harness工程\leander-ppt-internal-sharing-v7-flow\assets\evidence\layout-blueprin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1867205"/>
            <a:ext cx="5054803" cy="306049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349594" y="1460297"/>
            <a:ext cx="0" cy="3899002"/>
          </a:xfrm>
          <a:prstGeom prst="line">
            <a:avLst/>
          </a:prstGeom>
          <a:noFill/>
          <a:ln w="20320">
            <a:solidFill>
              <a:srgbClr val="C51516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603797" y="1434694"/>
            <a:ext cx="4190695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BLUEPRINT CONTRACT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616598" y="1943100"/>
            <a:ext cx="1397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storyRole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128102" y="1943100"/>
            <a:ext cx="2920594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这一页在故事里承担什么作用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616598" y="2247595"/>
            <a:ext cx="4432097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16598" y="2501798"/>
            <a:ext cx="1397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visualSignature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128102" y="2501798"/>
            <a:ext cx="2920594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本页必须保留的视觉识别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616598" y="2806294"/>
            <a:ext cx="4432097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16598" y="3060497"/>
            <a:ext cx="1397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expressionMode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128102" y="3060497"/>
            <a:ext cx="2920594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关系应该怎样被看见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616598" y="3365906"/>
            <a:ext cx="4432097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16598" y="3619195"/>
            <a:ext cx="1397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screenshotSlots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128102" y="3619195"/>
            <a:ext cx="2920594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哪些真实证据必须预留位置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616598" y="3924605"/>
            <a:ext cx="4432097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16598" y="4177894"/>
            <a:ext cx="1397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candidateFamilies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128102" y="4177894"/>
            <a:ext cx="2920594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组件搜索从哪些关系族开始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616598" y="4483303"/>
            <a:ext cx="4432097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616598" y="4737506"/>
            <a:ext cx="1397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avoidSignatures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128102" y="4737506"/>
            <a:ext cx="2920594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哪些旧骨架禁止复用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616598" y="5042002"/>
            <a:ext cx="4432097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794906" y="5435194"/>
            <a:ext cx="4127602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蓝图决定搜索边界，但不等于最终组件。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工具系统：主题、组件和图片工具如何供给页面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工具系统不是组件库的别名，而是主题、组件和图片能力的统一入口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4594" y="2895905"/>
            <a:ext cx="1397203" cy="660197"/>
          </a:xfrm>
          <a:prstGeom prst="roundRect">
            <a:avLst>
              <a:gd name="adj" fmla="val 7756"/>
            </a:avLst>
          </a:prstGeom>
          <a:solidFill>
            <a:srgbClr val="07195A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34594" y="3047695"/>
            <a:ext cx="1397203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4594" y="3314700"/>
            <a:ext cx="139720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TOOL SYSTEM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2476195" y="1968703"/>
            <a:ext cx="0" cy="27688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031797" y="3226003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76195" y="1943100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57500" y="1638605"/>
            <a:ext cx="1651406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6510">
            <a:solidFill>
              <a:srgbClr val="07195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60497" y="1752905"/>
            <a:ext cx="12444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主题库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060497" y="2006194"/>
            <a:ext cx="12444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套主题风格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508906" y="1943100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476195" y="3327502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857500" y="3023006"/>
            <a:ext cx="1651406" cy="609905"/>
          </a:xfrm>
          <a:prstGeom prst="roundRect">
            <a:avLst>
              <a:gd name="adj" fmla="val 8396"/>
            </a:avLst>
          </a:prstGeom>
          <a:solidFill>
            <a:srgbClr val="FBECEB"/>
          </a:solidFill>
          <a:ln w="16510">
            <a:solidFill>
              <a:srgbClr val="C515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60497" y="3137306"/>
            <a:ext cx="12444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组件库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060497" y="3390595"/>
            <a:ext cx="12444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70 个可执行组件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508906" y="3327502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476195" y="4711903"/>
            <a:ext cx="3813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57500" y="4406494"/>
            <a:ext cx="1651406" cy="609905"/>
          </a:xfrm>
          <a:prstGeom prst="roundRect">
            <a:avLst>
              <a:gd name="adj" fmla="val 8396"/>
            </a:avLst>
          </a:prstGeom>
          <a:solidFill>
            <a:srgbClr val="FFFFFF"/>
          </a:solidFill>
          <a:ln w="16510">
            <a:solidFill>
              <a:srgbClr val="0719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060497" y="4520794"/>
            <a:ext cx="12444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图片工具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060497" y="4774997"/>
            <a:ext cx="12444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imageSlot + prompt-spec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508906" y="4711903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5080406" y="1410005"/>
            <a:ext cx="5715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主题预览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080406" y="1638605"/>
            <a:ext cx="2476195" cy="825703"/>
          </a:xfrm>
          <a:prstGeom prst="roundRect">
            <a:avLst>
              <a:gd name="adj" fmla="val 6202"/>
            </a:avLst>
          </a:prstGeom>
          <a:solidFill>
            <a:srgbClr val="F5F5F0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194706" y="1752905"/>
            <a:ext cx="761695" cy="44806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30" name="Shape 26"/>
          <p:cNvSpPr/>
          <p:nvPr/>
        </p:nvSpPr>
        <p:spPr>
          <a:xfrm>
            <a:off x="6629400" y="1854403"/>
            <a:ext cx="711403" cy="190195"/>
          </a:xfrm>
          <a:prstGeom prst="roundRect">
            <a:avLst>
              <a:gd name="adj" fmla="val 26923"/>
            </a:avLst>
          </a:prstGeom>
          <a:solidFill>
            <a:srgbClr val="C51516"/>
          </a:solidFill>
        </p:spPr>
      </p:sp>
      <p:sp>
        <p:nvSpPr>
          <p:cNvPr id="31" name="Shape 27"/>
          <p:cNvSpPr/>
          <p:nvPr/>
        </p:nvSpPr>
        <p:spPr>
          <a:xfrm>
            <a:off x="6629400" y="2120494"/>
            <a:ext cx="495605" cy="75895"/>
          </a:xfrm>
          <a:prstGeom prst="roundRect">
            <a:avLst>
              <a:gd name="adj" fmla="val 67470"/>
            </a:avLst>
          </a:prstGeom>
          <a:solidFill>
            <a:srgbClr val="07195A"/>
          </a:solidFill>
        </p:spPr>
      </p:sp>
      <p:sp>
        <p:nvSpPr>
          <p:cNvPr id="32" name="Text 28"/>
          <p:cNvSpPr/>
          <p:nvPr/>
        </p:nvSpPr>
        <p:spPr>
          <a:xfrm>
            <a:off x="5194706" y="2234794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Leander Base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6159398" y="2234794"/>
            <a:ext cx="12188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内部分享 / 暖白 / 西井红</a:t>
            </a:r>
            <a:endParaRPr lang="en-US" sz="600" dirty="0"/>
          </a:p>
        </p:txBody>
      </p:sp>
      <p:sp>
        <p:nvSpPr>
          <p:cNvPr id="34" name="Shape 30"/>
          <p:cNvSpPr/>
          <p:nvPr/>
        </p:nvSpPr>
        <p:spPr>
          <a:xfrm>
            <a:off x="7810805" y="1638605"/>
            <a:ext cx="2476195" cy="825703"/>
          </a:xfrm>
          <a:prstGeom prst="roundRect">
            <a:avLst>
              <a:gd name="adj" fmla="val 6202"/>
            </a:avLst>
          </a:prstGeom>
          <a:solidFill>
            <a:srgbClr val="F7FAFC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925105" y="1752905"/>
            <a:ext cx="761695" cy="44806"/>
          </a:xfrm>
          <a:prstGeom prst="rect">
            <a:avLst/>
          </a:prstGeom>
          <a:solidFill>
            <a:srgbClr val="1479C9"/>
          </a:solidFill>
        </p:spPr>
      </p:sp>
      <p:sp>
        <p:nvSpPr>
          <p:cNvPr id="36" name="Shape 32"/>
          <p:cNvSpPr/>
          <p:nvPr/>
        </p:nvSpPr>
        <p:spPr>
          <a:xfrm>
            <a:off x="9359798" y="1854403"/>
            <a:ext cx="711403" cy="190195"/>
          </a:xfrm>
          <a:prstGeom prst="roundRect">
            <a:avLst>
              <a:gd name="adj" fmla="val 26923"/>
            </a:avLst>
          </a:prstGeom>
          <a:solidFill>
            <a:srgbClr val="1479C9"/>
          </a:solidFill>
        </p:spPr>
      </p:sp>
      <p:sp>
        <p:nvSpPr>
          <p:cNvPr id="37" name="Shape 33"/>
          <p:cNvSpPr/>
          <p:nvPr/>
        </p:nvSpPr>
        <p:spPr>
          <a:xfrm>
            <a:off x="9359798" y="2120494"/>
            <a:ext cx="495605" cy="75895"/>
          </a:xfrm>
          <a:prstGeom prst="roundRect">
            <a:avLst>
              <a:gd name="adj" fmla="val 67470"/>
            </a:avLst>
          </a:prstGeom>
          <a:solidFill>
            <a:srgbClr val="07195A"/>
          </a:solidFill>
        </p:spPr>
      </p:sp>
      <p:sp>
        <p:nvSpPr>
          <p:cNvPr id="38" name="Text 34"/>
          <p:cNvSpPr/>
          <p:nvPr/>
        </p:nvSpPr>
        <p:spPr>
          <a:xfrm>
            <a:off x="7925105" y="2234794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Leander Global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8889797" y="2234794"/>
            <a:ext cx="12188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对外正式 / 冷白 / Azure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5080406" y="2794406"/>
            <a:ext cx="5715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组件预览：57 Base + 7 Editorial + 6 Bespoke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080406" y="3047695"/>
            <a:ext cx="1524305" cy="8001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257800" y="3276295"/>
            <a:ext cx="267005" cy="190195"/>
          </a:xfrm>
          <a:prstGeom prst="roundRect">
            <a:avLst>
              <a:gd name="adj" fmla="val 26923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537606" y="3372307"/>
            <a:ext cx="101498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651906" y="3276295"/>
            <a:ext cx="267005" cy="190195"/>
          </a:xfrm>
          <a:prstGeom prst="roundRect">
            <a:avLst>
              <a:gd name="adj" fmla="val 26923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930798" y="3372307"/>
            <a:ext cx="101498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045098" y="3276295"/>
            <a:ext cx="267005" cy="190195"/>
          </a:xfrm>
          <a:prstGeom prst="roundRect">
            <a:avLst>
              <a:gd name="adj" fmla="val 26923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080406" y="3631997"/>
            <a:ext cx="1524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6858000" y="3047695"/>
            <a:ext cx="1524305" cy="8001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023506" y="3276295"/>
            <a:ext cx="342900" cy="190195"/>
          </a:xfrm>
          <a:prstGeom prst="roundRect">
            <a:avLst>
              <a:gd name="adj" fmla="val 26923"/>
            </a:avLst>
          </a:prstGeom>
          <a:solidFill>
            <a:srgbClr val="07195A"/>
          </a:solidFill>
        </p:spPr>
      </p:sp>
      <p:sp>
        <p:nvSpPr>
          <p:cNvPr id="50" name="Shape 46"/>
          <p:cNvSpPr/>
          <p:nvPr/>
        </p:nvSpPr>
        <p:spPr>
          <a:xfrm>
            <a:off x="7366406" y="3372307"/>
            <a:ext cx="177394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543800" y="3174797"/>
            <a:ext cx="0" cy="381305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543800" y="3174797"/>
            <a:ext cx="139903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683703" y="3086100"/>
            <a:ext cx="457200" cy="177394"/>
          </a:xfrm>
          <a:prstGeom prst="roundRect">
            <a:avLst>
              <a:gd name="adj" fmla="val 28866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543800" y="3365906"/>
            <a:ext cx="139903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683703" y="3276295"/>
            <a:ext cx="457200" cy="177394"/>
          </a:xfrm>
          <a:prstGeom prst="roundRect">
            <a:avLst>
              <a:gd name="adj" fmla="val 28866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543800" y="3556102"/>
            <a:ext cx="139903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683703" y="3467405"/>
            <a:ext cx="457200" cy="177394"/>
          </a:xfrm>
          <a:prstGeom prst="roundRect">
            <a:avLst>
              <a:gd name="adj" fmla="val 28866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858000" y="3631997"/>
            <a:ext cx="1524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</a:t>
            </a:r>
            <a:endParaRPr lang="en-US" sz="750" dirty="0"/>
          </a:p>
        </p:txBody>
      </p:sp>
      <p:sp>
        <p:nvSpPr>
          <p:cNvPr id="59" name="Shape 55"/>
          <p:cNvSpPr/>
          <p:nvPr/>
        </p:nvSpPr>
        <p:spPr>
          <a:xfrm>
            <a:off x="8635594" y="3047695"/>
            <a:ext cx="1524305" cy="8001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813902" y="3149194"/>
            <a:ext cx="545897" cy="355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16</a:t>
            </a:r>
            <a:endParaRPr lang="en-US" sz="2200" dirty="0"/>
          </a:p>
        </p:txBody>
      </p:sp>
      <p:sp>
        <p:nvSpPr>
          <p:cNvPr id="61" name="Shape 57"/>
          <p:cNvSpPr/>
          <p:nvPr/>
        </p:nvSpPr>
        <p:spPr>
          <a:xfrm>
            <a:off x="9411005" y="3289097"/>
            <a:ext cx="533095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411005" y="3403397"/>
            <a:ext cx="5458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metric</a:t>
            </a:r>
            <a:endParaRPr lang="en-US" sz="600" dirty="0"/>
          </a:p>
        </p:txBody>
      </p:sp>
      <p:sp>
        <p:nvSpPr>
          <p:cNvPr id="63" name="Text 59"/>
          <p:cNvSpPr/>
          <p:nvPr/>
        </p:nvSpPr>
        <p:spPr>
          <a:xfrm>
            <a:off x="8635594" y="3631997"/>
            <a:ext cx="1524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5080406" y="4190695"/>
            <a:ext cx="57150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图片工具：只负责真实场景、产品示意和简单视觉隐喻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5080406" y="4470502"/>
            <a:ext cx="2667305" cy="838505"/>
          </a:xfrm>
          <a:prstGeom prst="roundRect">
            <a:avLst>
              <a:gd name="adj" fmla="val 6107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133795" y="4635094"/>
            <a:ext cx="444398" cy="4443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195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 flipV="1">
            <a:off x="5790895" y="4787798"/>
            <a:ext cx="368503" cy="304495"/>
          </a:xfrm>
          <a:prstGeom prst="line">
            <a:avLst/>
          </a:prstGeom>
          <a:noFill/>
          <a:ln w="19050">
            <a:solidFill>
              <a:srgbClr val="07195A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159398" y="4787798"/>
            <a:ext cx="520294" cy="355702"/>
          </a:xfrm>
          <a:prstGeom prst="line">
            <a:avLst/>
          </a:prstGeom>
          <a:noFill/>
          <a:ln w="19050">
            <a:solidFill>
              <a:srgbClr val="07195A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5232197" y="5143500"/>
            <a:ext cx="23618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IMAGE SLOT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01000" y="4470502"/>
            <a:ext cx="3174797" cy="83850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8153705" y="4597603"/>
            <a:ext cx="28703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prompt-spec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8153705" y="4851806"/>
            <a:ext cx="2870302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主体 / 构图 / 背景融合 / 禁止小字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生成后仍需页面 QA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工具系统：蓝图约束下的组件选择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蓝图已经决定表达边界；选择器只在边界内寻找最适配路线并留下证据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594" y="1537106"/>
            <a:ext cx="20958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蓝图合同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4594" y="1803197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决定搜索空间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2883103" y="3238805"/>
            <a:ext cx="267005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3301898" y="1537106"/>
            <a:ext cx="20958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候选路线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01898" y="1803197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四类工具都要评估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549494" y="3238805"/>
            <a:ext cx="267005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5969203" y="1537106"/>
            <a:ext cx="247619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适配过滤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969203" y="1803197"/>
            <a:ext cx="24761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关系优先，不按关键词硬套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598103" y="3238805"/>
            <a:ext cx="267005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9016898" y="1537106"/>
            <a:ext cx="2222906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绑定与复核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9016898" y="1803197"/>
            <a:ext cx="2222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选择必须进入实现和 QA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34594" y="2133295"/>
            <a:ext cx="2095805" cy="2691994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1651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00100" y="2349094"/>
            <a:ext cx="10917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storyRole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917497" y="2349094"/>
            <a:ext cx="6601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故事作用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00100" y="2590495"/>
            <a:ext cx="1765706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0100" y="2794406"/>
            <a:ext cx="10917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relationship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917497" y="2794406"/>
            <a:ext cx="6601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关系原语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00100" y="3034894"/>
            <a:ext cx="1765706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0100" y="3238805"/>
            <a:ext cx="10917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requiredSlots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1917497" y="3238805"/>
            <a:ext cx="6601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内容槽位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00100" y="3480206"/>
            <a:ext cx="1765706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0100" y="3683203"/>
            <a:ext cx="10917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candidateFamilies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1917497" y="3683203"/>
            <a:ext cx="6601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候选组件族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00100" y="3924605"/>
            <a:ext cx="1765706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0100" y="4127602"/>
            <a:ext cx="10917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avoidSignatures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917497" y="4127602"/>
            <a:ext cx="6601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禁止骨架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301898" y="2286000"/>
            <a:ext cx="2095805" cy="394106"/>
          </a:xfrm>
          <a:prstGeom prst="roundRect">
            <a:avLst>
              <a:gd name="adj" fmla="val 1299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54603" y="2413102"/>
            <a:ext cx="17903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component-library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301898" y="2870302"/>
            <a:ext cx="2095805" cy="394106"/>
          </a:xfrm>
          <a:prstGeom prst="roundRect">
            <a:avLst>
              <a:gd name="adj" fmla="val 1299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54603" y="2997403"/>
            <a:ext cx="17903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external-graphic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301898" y="3454603"/>
            <a:ext cx="2095805" cy="394106"/>
          </a:xfrm>
          <a:prstGeom prst="roundRect">
            <a:avLst>
              <a:gd name="adj" fmla="val 1299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454603" y="3581705"/>
            <a:ext cx="17903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image2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3301898" y="4038905"/>
            <a:ext cx="2095805" cy="394106"/>
          </a:xfrm>
          <a:prstGeom prst="roundRect">
            <a:avLst>
              <a:gd name="adj" fmla="val 1299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454603" y="4166006"/>
            <a:ext cx="17903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page-specific-custom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3429000" y="4724705"/>
            <a:ext cx="18416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没有路线可以被默认跳过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5969203" y="2133295"/>
            <a:ext cx="2476195" cy="2691994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6146597" y="2324405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6502298" y="2324405"/>
            <a:ext cx="8257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关系匹配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502298" y="2540203"/>
            <a:ext cx="1701698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能否表达序列、层级、对比或证据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6146597" y="2908706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6502298" y="2908706"/>
            <a:ext cx="8257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槽位与容量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502298" y="3124505"/>
            <a:ext cx="1701698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内容数量、图片槽位和标签是否装得下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6146597" y="3492094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502298" y="3492094"/>
            <a:ext cx="8257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证据与主题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6502298" y="3708806"/>
            <a:ext cx="1701698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截图、外部图和主题 token 是否适配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6146597" y="4076395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6502298" y="4076395"/>
            <a:ext cx="8257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风险排除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502298" y="4292194"/>
            <a:ext cx="1701698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避免重叠、误导连线和高密度硬套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9016898" y="2133295"/>
            <a:ext cx="2222906" cy="2691994"/>
          </a:xfrm>
          <a:prstGeom prst="roundRect">
            <a:avLst>
              <a:gd name="adj" fmla="val 2304"/>
            </a:avLst>
          </a:prstGeom>
          <a:solidFill>
            <a:srgbClr val="FBECEB"/>
          </a:solidFill>
          <a:ln w="1778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6" name="Text 52"/>
          <p:cNvSpPr/>
          <p:nvPr/>
        </p:nvSpPr>
        <p:spPr>
          <a:xfrm>
            <a:off x="9207094" y="2387498"/>
            <a:ext cx="18159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selectedRoute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9207094" y="2603297"/>
            <a:ext cx="18159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最终路线 + 覆盖理由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9207094" y="2819095"/>
            <a:ext cx="1828800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9207094" y="2920594"/>
            <a:ext cx="18159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rejectedRoutes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9207094" y="3137306"/>
            <a:ext cx="18159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为什么没有选其他路线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9207094" y="3353105"/>
            <a:ext cx="1828800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207094" y="3454603"/>
            <a:ext cx="18159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visualBinding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9207094" y="3670402"/>
            <a:ext cx="18159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page.js 实际绑定实现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9207094" y="3886200"/>
            <a:ext cx="1828800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207094" y="3987698"/>
            <a:ext cx="18159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qaProfile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9207094" y="4203497"/>
            <a:ext cx="18159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生成本页动态检查项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2222906" y="5410505"/>
            <a:ext cx="7746797" cy="317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蓝图定边界  →  四路线评估  →  适配过滤  →  绑定实现  →  动态 QA</a:t>
            </a:r>
            <a:endParaRPr lang="en-US" sz="1450" dirty="0"/>
          </a:p>
        </p:txBody>
      </p:sp>
      <p:sp>
        <p:nvSpPr>
          <p:cNvPr id="68" name="Shape 6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约束与恢复：把改动限制在最小页面切片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页面隔离让错误可定位、可回滚，并把重渲染限制在最小影响范围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197" y="1460297"/>
            <a:ext cx="20317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按页隔离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60197" y="1803197"/>
            <a:ext cx="1930298" cy="381305"/>
          </a:xfrm>
          <a:prstGeom prst="roundRect">
            <a:avLst>
              <a:gd name="adj" fmla="val 1342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0100" y="1917497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p15 工具资产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60197" y="2361895"/>
            <a:ext cx="1930298" cy="381305"/>
          </a:xfrm>
          <a:prstGeom prst="roundRect">
            <a:avLst>
              <a:gd name="adj" fmla="val 1342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0100" y="2476195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p16 组件选择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60197" y="2920594"/>
            <a:ext cx="1930298" cy="381305"/>
          </a:xfrm>
          <a:prstGeom prst="roundRect">
            <a:avLst>
              <a:gd name="adj" fmla="val 13429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0100" y="3034894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p17 约束与恢复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60197" y="3480206"/>
            <a:ext cx="1930298" cy="381305"/>
          </a:xfrm>
          <a:prstGeom prst="roundRect">
            <a:avLst>
              <a:gd name="adj" fmla="val 1342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0100" y="3594506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p18 动态 QA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60197" y="4038905"/>
            <a:ext cx="1930298" cy="381305"/>
          </a:xfrm>
          <a:prstGeom prst="roundRect">
            <a:avLst>
              <a:gd name="adj" fmla="val 1342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0100" y="4153205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p19 多 Agent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60197" y="4597603"/>
            <a:ext cx="1930298" cy="381305"/>
          </a:xfrm>
          <a:prstGeom prst="roundRect">
            <a:avLst>
              <a:gd name="adj" fmla="val 1342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0100" y="4711903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更多页面 …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90495" y="3111703"/>
            <a:ext cx="672998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63494" y="1511503"/>
            <a:ext cx="5206594" cy="3301898"/>
          </a:xfrm>
          <a:prstGeom prst="roundRect">
            <a:avLst>
              <a:gd name="adj" fmla="val 155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22" name="Image 1" descr="C:\西井\01项目\09-harness工程\leander-ppt-internal-sharing-v7-flow\assets\evidence\page-folde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397" y="1651406"/>
            <a:ext cx="4927702" cy="30230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53805" y="1460297"/>
            <a:ext cx="23490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影响范围逐级扩大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953805" y="1841602"/>
            <a:ext cx="2425903" cy="914400"/>
          </a:xfrm>
          <a:prstGeom prst="roundRect">
            <a:avLst>
              <a:gd name="adj" fmla="val 5600"/>
            </a:avLst>
          </a:prstGeom>
          <a:solidFill>
            <a:srgbClr val="FBECEB"/>
          </a:solidFill>
          <a:ln w="19050">
            <a:solidFill>
              <a:srgbClr val="C5151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53805" y="1841602"/>
            <a:ext cx="38405" cy="914400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26" name="Text 21"/>
          <p:cNvSpPr/>
          <p:nvPr/>
        </p:nvSpPr>
        <p:spPr>
          <a:xfrm>
            <a:off x="9144000" y="1994306"/>
            <a:ext cx="19943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页面级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144000" y="2234794"/>
            <a:ext cx="19943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只改当前 page.js / page.json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9144000" y="2553005"/>
            <a:ext cx="19943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重渲染当前页</a:t>
            </a:r>
            <a:endParaRPr lang="en-US" sz="650" dirty="0"/>
          </a:p>
        </p:txBody>
      </p:sp>
      <p:sp>
        <p:nvSpPr>
          <p:cNvPr id="29" name="Shape 24"/>
          <p:cNvSpPr/>
          <p:nvPr/>
        </p:nvSpPr>
        <p:spPr>
          <a:xfrm>
            <a:off x="8953805" y="3010205"/>
            <a:ext cx="2425903" cy="9144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953805" y="3010205"/>
            <a:ext cx="38405" cy="914400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31" name="Text 26"/>
          <p:cNvSpPr/>
          <p:nvPr/>
        </p:nvSpPr>
        <p:spPr>
          <a:xfrm>
            <a:off x="9144000" y="3161995"/>
            <a:ext cx="19943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组件级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9144000" y="3403397"/>
            <a:ext cx="19943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多个同类页面重复出现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9144000" y="3720694"/>
            <a:ext cx="19943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重渲染受影响页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8953805" y="4177894"/>
            <a:ext cx="2425903" cy="9144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53805" y="4177894"/>
            <a:ext cx="38405" cy="914400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36" name="Text 31"/>
          <p:cNvSpPr/>
          <p:nvPr/>
        </p:nvSpPr>
        <p:spPr>
          <a:xfrm>
            <a:off x="9144000" y="4330598"/>
            <a:ext cx="19943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主题 / 流程级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9144000" y="4572000"/>
            <a:ext cx="19943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 token 或 Gate 发生变化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9144000" y="4889297"/>
            <a:ext cx="19943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整套重新过门</a:t>
            </a:r>
            <a:endParaRPr lang="en-US" sz="650" dirty="0"/>
          </a:p>
        </p:txBody>
      </p:sp>
      <p:sp>
        <p:nvSpPr>
          <p:cNvPr id="39" name="Shape 3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评估与观测：固定底线、动态问题和渲染证据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同一套通用底线，叠加本页意图生成的动态检查，最后以真实渲染为证据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197" y="1498702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固定底线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60197" y="1752905"/>
            <a:ext cx="209580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149194" y="1498702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动态问题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149194" y="1752905"/>
            <a:ext cx="2095805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39105" y="1498702"/>
            <a:ext cx="26673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渲染证据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39105" y="1752905"/>
            <a:ext cx="266730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712403" y="1498702"/>
            <a:ext cx="26673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结构化结论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712403" y="1752905"/>
            <a:ext cx="266730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1403" y="2044598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1041502" y="2044598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文字不重叠 / 不裁切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041502" y="2337206"/>
            <a:ext cx="1600200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1403" y="2527402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1041502" y="2527402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字号、字体和间距一致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041502" y="2819095"/>
            <a:ext cx="1600200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1403" y="3010205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1041502" y="3010205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连线不穿框、不歪斜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41502" y="3301898"/>
            <a:ext cx="1600200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1403" y="3492094"/>
            <a:ext cx="2670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1041502" y="3492094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颜色必须有表达含义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041502" y="3784702"/>
            <a:ext cx="1600200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0" y="2006194"/>
            <a:ext cx="1981505" cy="444398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27502" y="2083003"/>
            <a:ext cx="5971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页面关系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987698" y="2070202"/>
            <a:ext cx="106710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 / 对比 / 证据是否表达正确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3200400" y="2590495"/>
            <a:ext cx="1981505" cy="444398"/>
          </a:xfrm>
          <a:prstGeom prst="roundRect">
            <a:avLst>
              <a:gd name="adj" fmla="val 11523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27502" y="2667305"/>
            <a:ext cx="5971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蓝图合同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987698" y="2654503"/>
            <a:ext cx="106710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表达模式、槽位和颜色焦点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3200400" y="3174797"/>
            <a:ext cx="1981505" cy="444398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27502" y="3251606"/>
            <a:ext cx="5971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路线绑定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987698" y="3238805"/>
            <a:ext cx="106710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选中的组件或图形是否真的被调用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3200400" y="3759098"/>
            <a:ext cx="1981505" cy="444398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27502" y="3834994"/>
            <a:ext cx="5971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事实边界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987698" y="3823106"/>
            <a:ext cx="106710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截图、数据和实施状态是否可追溯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5639105" y="1943100"/>
            <a:ext cx="2667305" cy="2730398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40" name="Image 1" descr="C:\西井\01项目\09-harness工程\leander-ppt-internal-sharing-v7-flow\assets\evidence\qa-rende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05" y="2070202"/>
            <a:ext cx="2438705" cy="147309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829300" y="3746297"/>
            <a:ext cx="22603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证据必须同时绑定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5829300" y="4051706"/>
            <a:ext cx="660197" cy="215798"/>
          </a:xfrm>
          <a:prstGeom prst="roundRect">
            <a:avLst>
              <a:gd name="adj" fmla="val 23729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829300" y="4121201"/>
            <a:ext cx="660197" cy="75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页面代码</a:t>
            </a:r>
            <a:endParaRPr lang="en-US" sz="600" dirty="0"/>
          </a:p>
        </p:txBody>
      </p:sp>
      <p:sp>
        <p:nvSpPr>
          <p:cNvPr id="44" name="Shape 39"/>
          <p:cNvSpPr/>
          <p:nvPr/>
        </p:nvSpPr>
        <p:spPr>
          <a:xfrm>
            <a:off x="6566306" y="4051706"/>
            <a:ext cx="660197" cy="215798"/>
          </a:xfrm>
          <a:prstGeom prst="roundRect">
            <a:avLst>
              <a:gd name="adj" fmla="val 23729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566306" y="4121201"/>
            <a:ext cx="660197" cy="75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页面合同</a:t>
            </a:r>
            <a:endParaRPr lang="en-US" sz="600" dirty="0"/>
          </a:p>
        </p:txBody>
      </p:sp>
      <p:sp>
        <p:nvSpPr>
          <p:cNvPr id="46" name="Shape 41"/>
          <p:cNvSpPr/>
          <p:nvPr/>
        </p:nvSpPr>
        <p:spPr>
          <a:xfrm>
            <a:off x="7302398" y="4051706"/>
            <a:ext cx="660197" cy="215798"/>
          </a:xfrm>
          <a:prstGeom prst="roundRect">
            <a:avLst>
              <a:gd name="adj" fmla="val 23729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302398" y="4121201"/>
            <a:ext cx="660197" cy="75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PNG 哈希</a:t>
            </a:r>
            <a:endParaRPr lang="en-US" sz="600" dirty="0"/>
          </a:p>
        </p:txBody>
      </p:sp>
      <p:sp>
        <p:nvSpPr>
          <p:cNvPr id="48" name="Shape 43"/>
          <p:cNvSpPr/>
          <p:nvPr/>
        </p:nvSpPr>
        <p:spPr>
          <a:xfrm>
            <a:off x="8712403" y="1943100"/>
            <a:ext cx="2667305" cy="2730398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651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8978494" y="2197303"/>
            <a:ext cx="21332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qa-result.zh.v2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8978494" y="2527402"/>
            <a:ext cx="2133295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PASS</a:t>
            </a:r>
            <a:endParaRPr lang="en-US" sz="2200" dirty="0"/>
          </a:p>
        </p:txBody>
      </p:sp>
      <p:sp>
        <p:nvSpPr>
          <p:cNvPr id="51" name="Text 46"/>
          <p:cNvSpPr/>
          <p:nvPr/>
        </p:nvSpPr>
        <p:spPr>
          <a:xfrm>
            <a:off x="8978494" y="3149194"/>
            <a:ext cx="4956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9525305" y="3149194"/>
            <a:ext cx="1587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逐条 PASS / FAIL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8978494" y="3353105"/>
            <a:ext cx="2133295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978494" y="3492094"/>
            <a:ext cx="4956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9525305" y="3492094"/>
            <a:ext cx="1587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 + 说明 + 哈希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978494" y="3696005"/>
            <a:ext cx="2133295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978494" y="3834994"/>
            <a:ext cx="4956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9525305" y="3834994"/>
            <a:ext cx="1587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保留未关闭事项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8978494" y="4038905"/>
            <a:ext cx="2133295" cy="0"/>
          </a:xfrm>
          <a:prstGeom prst="line">
            <a:avLst/>
          </a:prstGeom>
          <a:noFill/>
          <a:ln w="10160">
            <a:solidFill>
              <a:srgbClr val="D9D5CB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8978494" y="4177894"/>
            <a:ext cx="4956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9525305" y="4177894"/>
            <a:ext cx="1587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FIX-FIRST 后重渲染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2831897" y="3301898"/>
            <a:ext cx="2286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3" name="Shape 58"/>
          <p:cNvSpPr/>
          <p:nvPr/>
        </p:nvSpPr>
        <p:spPr>
          <a:xfrm>
            <a:off x="5320894" y="3301898"/>
            <a:ext cx="2286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4" name="Shape 59"/>
          <p:cNvSpPr/>
          <p:nvPr/>
        </p:nvSpPr>
        <p:spPr>
          <a:xfrm>
            <a:off x="8382305" y="3301898"/>
            <a:ext cx="241402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5" name="Shape 6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评估与观测：多 Agent 角色分工与交接证据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角色按事件参与，并通过交接文件留下可验证证据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1403" y="1473098"/>
            <a:ext cx="4826203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 -&gt; 触发事件 -&gt; 交接证据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11403" y="1765706"/>
            <a:ext cx="12060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260397" y="1765706"/>
            <a:ext cx="10799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784702" y="1765706"/>
            <a:ext cx="17775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产物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711403" y="2044598"/>
            <a:ext cx="1206094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7298" y="2133295"/>
            <a:ext cx="10543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策划师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006194" y="2203704"/>
            <a:ext cx="16550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2260397" y="2126894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故事变化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429000" y="2203704"/>
            <a:ext cx="241402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784702" y="2044598"/>
            <a:ext cx="1777594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73398" y="2133295"/>
            <a:ext cx="16002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outline.md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11403" y="2603297"/>
            <a:ext cx="1206094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7298" y="2691994"/>
            <a:ext cx="10543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布局架构师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006194" y="2762402"/>
            <a:ext cx="16550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2260397" y="2686507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布局变化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29000" y="2762402"/>
            <a:ext cx="241402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3784702" y="2603297"/>
            <a:ext cx="1777594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73398" y="2691994"/>
            <a:ext cx="16002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layout-blueprint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11403" y="3161995"/>
            <a:ext cx="1206094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87298" y="3251606"/>
            <a:ext cx="10543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视觉设计师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006194" y="3321101"/>
            <a:ext cx="16550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2260397" y="3245206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高视觉风险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429000" y="3321101"/>
            <a:ext cx="241402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3784702" y="3161995"/>
            <a:ext cx="1777594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73398" y="3251606"/>
            <a:ext cx="16002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视觉评审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11403" y="3720694"/>
            <a:ext cx="1206094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87298" y="3810305"/>
            <a:ext cx="10543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组件管理员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006194" y="3879799"/>
            <a:ext cx="16550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5" name="Text 31"/>
          <p:cNvSpPr/>
          <p:nvPr/>
        </p:nvSpPr>
        <p:spPr>
          <a:xfrm>
            <a:off x="2260397" y="3803904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低置信选择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429000" y="3879799"/>
            <a:ext cx="241402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3784702" y="3720694"/>
            <a:ext cx="1777594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873398" y="3810305"/>
            <a:ext cx="16002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选择说明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711403" y="4280306"/>
            <a:ext cx="1206094" cy="317297"/>
          </a:xfrm>
          <a:prstGeom prst="roundRect">
            <a:avLst>
              <a:gd name="adj" fmla="val 16138"/>
            </a:avLst>
          </a:prstGeom>
          <a:solidFill>
            <a:srgbClr val="FBECEB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87298" y="4369003"/>
            <a:ext cx="10543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质检员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006194" y="4438498"/>
            <a:ext cx="16550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2" name="Text 38"/>
          <p:cNvSpPr/>
          <p:nvPr/>
        </p:nvSpPr>
        <p:spPr>
          <a:xfrm>
            <a:off x="2260397" y="4362602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页面已渲染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3429000" y="4438498"/>
            <a:ext cx="241402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4" name="Shape 40"/>
          <p:cNvSpPr/>
          <p:nvPr/>
        </p:nvSpPr>
        <p:spPr>
          <a:xfrm>
            <a:off x="3784702" y="4280306"/>
            <a:ext cx="1777594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873398" y="4369003"/>
            <a:ext cx="16002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qa-result.json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711403" y="4839005"/>
            <a:ext cx="1206094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87298" y="4927702"/>
            <a:ext cx="10543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2006194" y="4997196"/>
            <a:ext cx="16550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9" name="Text 45"/>
          <p:cNvSpPr/>
          <p:nvPr/>
        </p:nvSpPr>
        <p:spPr>
          <a:xfrm>
            <a:off x="2260397" y="4921301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进入演练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3429000" y="4997196"/>
            <a:ext cx="241402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3784702" y="4839005"/>
            <a:ext cx="1777594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873398" y="4927702"/>
            <a:ext cx="16002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speaker-notes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5994806" y="1473098"/>
            <a:ext cx="0" cy="400050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349594" y="1473098"/>
            <a:ext cx="4826203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真实文件证据</a:t>
            </a:r>
            <a:endParaRPr lang="en-US" sz="1350" dirty="0"/>
          </a:p>
        </p:txBody>
      </p:sp>
      <p:sp>
        <p:nvSpPr>
          <p:cNvPr id="55" name="Shape 51"/>
          <p:cNvSpPr/>
          <p:nvPr/>
        </p:nvSpPr>
        <p:spPr>
          <a:xfrm>
            <a:off x="6349594" y="1803197"/>
            <a:ext cx="5029200" cy="1765706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56" name="Image 1" descr="C:\西井\01项目\09-harness工程\leander-ppt-internal-sharing-v7-flow\assets\evidence\agent-di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1917497"/>
            <a:ext cx="2730398" cy="1651406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9398203" y="2070202"/>
            <a:ext cx="1777594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角色规格是真实文件</a:t>
            </a:r>
            <a:endParaRPr lang="en-US" sz="1350" dirty="0"/>
          </a:p>
        </p:txBody>
      </p:sp>
      <p:sp>
        <p:nvSpPr>
          <p:cNvPr id="58" name="Text 53"/>
          <p:cNvSpPr/>
          <p:nvPr/>
        </p:nvSpPr>
        <p:spPr>
          <a:xfrm>
            <a:off x="9398203" y="2553005"/>
            <a:ext cx="1777594" cy="584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六个角色独立存储，职责、输入和输出边界可读取。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6349594" y="3708806"/>
            <a:ext cx="5029200" cy="1765706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5875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60" name="Image 2" descr="C:\西井\01项目\09-harness工程\leander-ppt-internal-sharing-v7-flow\assets\evidence\agent-markdown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894" y="3823106"/>
            <a:ext cx="2730398" cy="1651406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9398203" y="3974897"/>
            <a:ext cx="1777594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角色参与必须留下证据</a:t>
            </a:r>
            <a:endParaRPr lang="en-US" sz="1350" dirty="0"/>
          </a:p>
        </p:txBody>
      </p:sp>
      <p:sp>
        <p:nvSpPr>
          <p:cNvPr id="62" name="Text 56"/>
          <p:cNvSpPr/>
          <p:nvPr/>
        </p:nvSpPr>
        <p:spPr>
          <a:xfrm>
            <a:off x="9398203" y="4457700"/>
            <a:ext cx="1777594" cy="584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不是口头说“检查过”，而是输出 FIX-FIRST / PASS 与逐项依据。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711403" y="5663794"/>
            <a:ext cx="10668305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只有产出可校验文件，角色才算真正参与。</a:t>
            </a:r>
            <a:endParaRPr lang="en-US" sz="1500" dirty="0"/>
          </a:p>
        </p:txBody>
      </p:sp>
      <p:sp>
        <p:nvSpPr>
          <p:cNvPr id="64" name="Shape 58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自进化机制：问题记录、抽象、提升和衰减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先修当前问题，再判断是否值得进入公共规则；稳定后降权，避免检查集无限增长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998" y="1485900"/>
            <a:ext cx="666780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问题生命周期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61695" y="1943100"/>
            <a:ext cx="167609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2057400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01598" y="2311603"/>
            <a:ext cx="1397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原始反馈进入 LOG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2438705" y="2273198"/>
            <a:ext cx="368503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870302" y="1943100"/>
            <a:ext cx="167609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023006" y="2057400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归因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010205" y="2311603"/>
            <a:ext cx="1397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 / 组件 / 流程 / 规则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4546397" y="2273198"/>
            <a:ext cx="368503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977994" y="1943100"/>
            <a:ext cx="167609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30698" y="2057400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抽象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117897" y="2311603"/>
            <a:ext cx="1397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去掉项目语境，形成可检查动作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4977994" y="4317797"/>
            <a:ext cx="1676095" cy="660197"/>
          </a:xfrm>
          <a:prstGeom prst="roundRect">
            <a:avLst>
              <a:gd name="adj" fmla="val 7756"/>
            </a:avLst>
          </a:prstGeom>
          <a:solidFill>
            <a:srgbClr val="FBECEB"/>
          </a:solidFill>
          <a:ln w="1905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130698" y="4432097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117897" y="4686300"/>
            <a:ext cx="1397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 QA / 组件 / Gate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 flipH="1">
            <a:off x="4610405" y="4647895"/>
            <a:ext cx="368503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2870302" y="4317797"/>
            <a:ext cx="167609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3023006" y="4432097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010205" y="4686300"/>
            <a:ext cx="1397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重复出现或连续干净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 flipH="1">
            <a:off x="2501798" y="4647895"/>
            <a:ext cx="368503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761695" y="4317797"/>
            <a:ext cx="1676095" cy="660197"/>
          </a:xfrm>
          <a:prstGeom prst="roundRect">
            <a:avLst>
              <a:gd name="adj" fmla="val 775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14400" y="4432097"/>
            <a:ext cx="13716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衰减 / 归档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01598" y="4686300"/>
            <a:ext cx="13972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stable 后退出默认上下文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6655003" y="2273198"/>
            <a:ext cx="279806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933895" y="2273198"/>
            <a:ext cx="0" cy="2374697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H="1">
            <a:off x="6655003" y="4647895"/>
            <a:ext cx="279806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 flipH="1">
            <a:off x="533095" y="4647895"/>
            <a:ext cx="2286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533095" y="2273198"/>
            <a:ext cx="0" cy="2374697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33095" y="2273198"/>
            <a:ext cx="165506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2158898" y="3023006"/>
            <a:ext cx="3124505" cy="748894"/>
          </a:xfrm>
          <a:prstGeom prst="roundRect">
            <a:avLst>
              <a:gd name="adj" fmla="val 68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311603" y="3149194"/>
            <a:ext cx="28190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进入公共规则的条件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2311603" y="3429000"/>
            <a:ext cx="28190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 ≥ 2 次 / P0 硬错误 / 影响多个组件或多个 Deck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7302398" y="1498702"/>
            <a:ext cx="0" cy="400050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696505" y="1485900"/>
            <a:ext cx="37462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真实机制证据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7696505" y="1815998"/>
            <a:ext cx="3746297" cy="2984602"/>
          </a:xfrm>
          <a:prstGeom prst="roundRect">
            <a:avLst>
              <a:gd name="adj" fmla="val 171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pic>
        <p:nvPicPr>
          <p:cNvPr id="42" name="Image 1" descr="C:\西井\01项目\09-harness工程\leander-ppt-internal-sharing-v7-flow\assets\evidence\feedback-log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494" y="1968703"/>
            <a:ext cx="3467405" cy="2095805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848295" y="4292194"/>
            <a:ext cx="10030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QA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7848295" y="4496105"/>
            <a:ext cx="10030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通用与动态检查</a:t>
            </a:r>
            <a:endParaRPr lang="en-US" sz="650" dirty="0"/>
          </a:p>
        </p:txBody>
      </p:sp>
      <p:sp>
        <p:nvSpPr>
          <p:cNvPr id="45" name="Text 40"/>
          <p:cNvSpPr/>
          <p:nvPr/>
        </p:nvSpPr>
        <p:spPr>
          <a:xfrm>
            <a:off x="8991295" y="4292194"/>
            <a:ext cx="10030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Component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8991295" y="4496105"/>
            <a:ext cx="10030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关系和容量规则</a:t>
            </a:r>
            <a:endParaRPr lang="en-US" sz="650" dirty="0"/>
          </a:p>
        </p:txBody>
      </p:sp>
      <p:sp>
        <p:nvSpPr>
          <p:cNvPr id="47" name="Text 42"/>
          <p:cNvSpPr/>
          <p:nvPr/>
        </p:nvSpPr>
        <p:spPr>
          <a:xfrm>
            <a:off x="10134295" y="4292194"/>
            <a:ext cx="10030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Gate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0134295" y="4496105"/>
            <a:ext cx="10030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流程硬门禁</a:t>
            </a:r>
            <a:endParaRPr lang="en-US" sz="650" dirty="0"/>
          </a:p>
        </p:txBody>
      </p:sp>
      <p:sp>
        <p:nvSpPr>
          <p:cNvPr id="49" name="Shape 4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838505"/>
            <a:ext cx="3937406" cy="1587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D9D5CB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7500" dirty="0"/>
          </a:p>
        </p:txBody>
      </p:sp>
      <p:sp>
        <p:nvSpPr>
          <p:cNvPr id="4" name="Shape 1"/>
          <p:cNvSpPr/>
          <p:nvPr/>
        </p:nvSpPr>
        <p:spPr>
          <a:xfrm>
            <a:off x="660197" y="3301898"/>
            <a:ext cx="51206" cy="711403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914400" y="3174797"/>
            <a:ext cx="7492594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团队化协作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27202" y="3733495"/>
            <a:ext cx="6476695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把个人经验，变成可共享、可审查、可持续迭代的团队资产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团队协作：版本同步与自动迭代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建议机制：个人正常使用和迭代，系统按周完成预检、差异分类和公共池判断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41203" y="1041502"/>
            <a:ext cx="952805" cy="190195"/>
          </a:xfrm>
          <a:prstGeom prst="roundRect">
            <a:avLst>
              <a:gd name="adj" fmla="val 2692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41203" y="1098194"/>
            <a:ext cx="952805" cy="75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PROPOSED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660197" y="2247595"/>
            <a:ext cx="1574597" cy="901598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7298" y="2361895"/>
            <a:ext cx="13203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v0.1.0 基线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87298" y="2603297"/>
            <a:ext cx="132039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团队统一版本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MAJOR.MINOR.PATCH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806294" y="1574597"/>
            <a:ext cx="1498702" cy="737006"/>
          </a:xfrm>
          <a:prstGeom prst="roundRect">
            <a:avLst>
              <a:gd name="adj" fmla="val 6948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933395" y="1688897"/>
            <a:ext cx="12444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 A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933395" y="1930298"/>
            <a:ext cx="12444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按任务使用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新增组件 / 规则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2806294" y="3086100"/>
            <a:ext cx="1498702" cy="737006"/>
          </a:xfrm>
          <a:prstGeom prst="roundRect">
            <a:avLst>
              <a:gd name="adj" fmla="val 6948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933395" y="3200400"/>
            <a:ext cx="12444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 B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933395" y="3441802"/>
            <a:ext cx="12444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按任务使用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调整主题 / QA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2234794" y="2698394"/>
            <a:ext cx="291694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527402" y="1943100"/>
            <a:ext cx="0" cy="15115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527402" y="1943100"/>
            <a:ext cx="2157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2527402" y="3454603"/>
            <a:ext cx="2157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4826203" y="2247595"/>
            <a:ext cx="1397203" cy="901598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953305" y="2361895"/>
            <a:ext cx="1143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周度触发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53305" y="2603297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对比上次同步版本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自动启动本地流程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6730898" y="2247595"/>
            <a:ext cx="1397203" cy="901598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858000" y="2361895"/>
            <a:ext cx="1143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本地预检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58000" y="2603297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render / QA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敏感信息 / 授权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8635594" y="2247595"/>
            <a:ext cx="1397203" cy="901598"/>
          </a:xfrm>
          <a:prstGeom prst="roundRect">
            <a:avLst>
              <a:gd name="adj" fmla="val 5680"/>
            </a:avLst>
          </a:prstGeom>
          <a:solidFill>
            <a:srgbClr val="FFFFFF"/>
          </a:solidFill>
          <a:ln w="1524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8762695" y="2361895"/>
            <a:ext cx="1143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差异分类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8762695" y="2603297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 / 主题 / 规则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项目定制 / 敏感项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10541203" y="2247595"/>
            <a:ext cx="990295" cy="901598"/>
          </a:xfrm>
          <a:prstGeom prst="roundRect">
            <a:avLst>
              <a:gd name="adj" fmla="val 5680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10668305" y="2361895"/>
            <a:ext cx="7370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公共池判断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0668305" y="2603297"/>
            <a:ext cx="73700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可复用？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已脱敏？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4304995" y="1943100"/>
            <a:ext cx="2286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304995" y="3454603"/>
            <a:ext cx="2286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533595" y="1943100"/>
            <a:ext cx="0" cy="1511503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533595" y="2698394"/>
            <a:ext cx="228600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6223406" y="2698394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8128102" y="2698394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10032797" y="2698394"/>
            <a:ext cx="4443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10032797" y="4127602"/>
            <a:ext cx="1498702" cy="711403"/>
          </a:xfrm>
          <a:prstGeom prst="roundRect">
            <a:avLst>
              <a:gd name="adj" fmla="val 7198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10159898" y="4241902"/>
            <a:ext cx="12444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进入公共池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10159898" y="4483303"/>
            <a:ext cx="1244498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生成变更说明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自动创建 PR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7873898" y="4127602"/>
            <a:ext cx="1498702" cy="711403"/>
          </a:xfrm>
          <a:prstGeom prst="roundRect">
            <a:avLst>
              <a:gd name="adj" fmla="val 7198"/>
            </a:avLst>
          </a:prstGeom>
          <a:solidFill>
            <a:srgbClr val="FFFFFF"/>
          </a:solidFill>
          <a:ln w="1524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8001000" y="4241902"/>
            <a:ext cx="12444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留在项目内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8001000" y="4483303"/>
            <a:ext cx="1244498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深度定制、敏感信息</a:t>
            </a:r>
            <a:endParaRPr lang="en-US" sz="65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不上传公共仓库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11112703" y="3149194"/>
            <a:ext cx="0" cy="914400"/>
          </a:xfrm>
          <a:prstGeom prst="line">
            <a:avLst/>
          </a:prstGeom>
          <a:noFill/>
          <a:ln w="1651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10699394" y="3149194"/>
            <a:ext cx="0" cy="558698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 flipH="1">
            <a:off x="9588398" y="3708806"/>
            <a:ext cx="1110996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588398" y="3708806"/>
            <a:ext cx="0" cy="774497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 flipH="1">
            <a:off x="9435694" y="4483303"/>
            <a:ext cx="15270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2" name="Text 48"/>
          <p:cNvSpPr/>
          <p:nvPr/>
        </p:nvSpPr>
        <p:spPr>
          <a:xfrm>
            <a:off x="660197" y="4470502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MAJOR</a:t>
            </a:r>
            <a:endParaRPr lang="en-US" sz="650" dirty="0"/>
          </a:p>
        </p:txBody>
      </p:sp>
      <p:sp>
        <p:nvSpPr>
          <p:cNvPr id="53" name="Text 49"/>
          <p:cNvSpPr/>
          <p:nvPr/>
        </p:nvSpPr>
        <p:spPr>
          <a:xfrm>
            <a:off x="660197" y="4673498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流程/兼容性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660197" y="4889297"/>
            <a:ext cx="11045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006194" y="4470502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MINOR</a:t>
            </a:r>
            <a:endParaRPr lang="en-US" sz="650" dirty="0"/>
          </a:p>
        </p:txBody>
      </p:sp>
      <p:sp>
        <p:nvSpPr>
          <p:cNvPr id="56" name="Text 52"/>
          <p:cNvSpPr/>
          <p:nvPr/>
        </p:nvSpPr>
        <p:spPr>
          <a:xfrm>
            <a:off x="2006194" y="4673498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新增公共能力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2006194" y="4889297"/>
            <a:ext cx="11045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353105" y="4470502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PATCH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3353105" y="4673498"/>
            <a:ext cx="120609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局部修复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3353105" y="4889297"/>
            <a:ext cx="1104595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团队协作：共享边界与公共池治理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建议机制：先抽象逻辑能力，再判断复用、脱敏和授权边界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41203" y="1041502"/>
            <a:ext cx="952805" cy="190195"/>
          </a:xfrm>
          <a:prstGeom prst="roundRect">
            <a:avLst>
              <a:gd name="adj" fmla="val 26923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41203" y="1098194"/>
            <a:ext cx="952805" cy="75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PROPOSED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660197" y="1511503"/>
            <a:ext cx="31117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候选资产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60197" y="1854403"/>
            <a:ext cx="2984602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7298" y="1949501"/>
            <a:ext cx="2730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关系型组件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60197" y="2311603"/>
            <a:ext cx="2984602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7298" y="2406701"/>
            <a:ext cx="2730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主题 token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60197" y="2768803"/>
            <a:ext cx="2984602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7298" y="2863901"/>
            <a:ext cx="2730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 QA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60197" y="3226003"/>
            <a:ext cx="2984602" cy="317297"/>
          </a:xfrm>
          <a:prstGeom prst="roundRect">
            <a:avLst>
              <a:gd name="adj" fmla="val 16138"/>
            </a:avLst>
          </a:prstGeom>
          <a:solidFill>
            <a:srgbClr val="FFFFFF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7298" y="3321101"/>
            <a:ext cx="2730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经验规则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60197" y="3683203"/>
            <a:ext cx="2984602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7298" y="3778301"/>
            <a:ext cx="2730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项目模板 / 截图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60197" y="4140403"/>
            <a:ext cx="2984602" cy="317297"/>
          </a:xfrm>
          <a:prstGeom prst="roundRect">
            <a:avLst>
              <a:gd name="adj" fmla="val 16138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7298" y="4235501"/>
            <a:ext cx="27303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客户数据 / 敏感材料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44798" y="2012594"/>
            <a:ext cx="2916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44798" y="2469794"/>
            <a:ext cx="2916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644798" y="2926994"/>
            <a:ext cx="2916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644798" y="3384194"/>
            <a:ext cx="2916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644798" y="3841394"/>
            <a:ext cx="2916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44798" y="4298594"/>
            <a:ext cx="2916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937406" y="2012594"/>
            <a:ext cx="0" cy="228600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937406" y="2222906"/>
            <a:ext cx="476402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4508906" y="1511503"/>
            <a:ext cx="27303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三层过滤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4476902" y="1930298"/>
            <a:ext cx="2730398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604004" y="2044598"/>
            <a:ext cx="24761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可复用性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604004" y="2273198"/>
            <a:ext cx="24761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是否脱离当前项目仍能表达同类关系？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5842102" y="2514600"/>
            <a:ext cx="0" cy="215798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4731106" y="2794406"/>
            <a:ext cx="2222906" cy="584302"/>
          </a:xfrm>
          <a:prstGeom prst="roundRect">
            <a:avLst>
              <a:gd name="adj" fmla="val 8764"/>
            </a:avLst>
          </a:prstGeom>
          <a:solidFill>
            <a:srgbClr val="FBECEB"/>
          </a:solidFill>
          <a:ln w="1905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4858207" y="2908706"/>
            <a:ext cx="19687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脱敏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858207" y="3137306"/>
            <a:ext cx="19687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是否移除客户、项目和内部数据？</a:t>
            </a:r>
            <a:endParaRPr lang="en-US" sz="650" dirty="0"/>
          </a:p>
        </p:txBody>
      </p:sp>
      <p:sp>
        <p:nvSpPr>
          <p:cNvPr id="38" name="Shape 34"/>
          <p:cNvSpPr/>
          <p:nvPr/>
        </p:nvSpPr>
        <p:spPr>
          <a:xfrm>
            <a:off x="5842102" y="3377794"/>
            <a:ext cx="0" cy="215798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4984394" y="3657600"/>
            <a:ext cx="1714500" cy="584302"/>
          </a:xfrm>
          <a:prstGeom prst="roundRect">
            <a:avLst>
              <a:gd name="adj" fmla="val 8764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5111496" y="3771900"/>
            <a:ext cx="14602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授权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5111496" y="4000500"/>
            <a:ext cx="14602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素材和案例是否允许进入公共池？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6698894" y="3949294"/>
            <a:ext cx="996696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696505" y="2222906"/>
            <a:ext cx="0" cy="2413102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064094" y="1511503"/>
            <a:ext cx="32388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治理结果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7696505" y="2311603"/>
            <a:ext cx="30449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8064094" y="1930298"/>
            <a:ext cx="3238805" cy="76169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8064094" y="1930298"/>
            <a:ext cx="51206" cy="761695"/>
          </a:xfrm>
          <a:prstGeom prst="rect">
            <a:avLst/>
          </a:prstGeom>
          <a:solidFill>
            <a:srgbClr val="07195A"/>
          </a:solidFill>
        </p:spPr>
      </p:sp>
      <p:sp>
        <p:nvSpPr>
          <p:cNvPr id="48" name="Text 44"/>
          <p:cNvSpPr/>
          <p:nvPr/>
        </p:nvSpPr>
        <p:spPr>
          <a:xfrm>
            <a:off x="8292694" y="2083003"/>
            <a:ext cx="9902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公共池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9334195" y="2057400"/>
            <a:ext cx="1752905" cy="3941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通用组件、主题 token、QA 规则、已抽象经验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7696505" y="3403397"/>
            <a:ext cx="304495" cy="0"/>
          </a:xfrm>
          <a:prstGeom prst="line">
            <a:avLst/>
          </a:prstGeom>
          <a:noFill/>
          <a:ln w="1778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8064094" y="3023006"/>
            <a:ext cx="3238805" cy="761695"/>
          </a:xfrm>
          <a:prstGeom prst="roundRect">
            <a:avLst>
              <a:gd name="adj" fmla="val 6723"/>
            </a:avLst>
          </a:prstGeom>
          <a:solidFill>
            <a:srgbClr val="FBECEB"/>
          </a:solidFill>
          <a:ln w="1905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8064094" y="3023006"/>
            <a:ext cx="51206" cy="761695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3" name="Text 49"/>
          <p:cNvSpPr/>
          <p:nvPr/>
        </p:nvSpPr>
        <p:spPr>
          <a:xfrm>
            <a:off x="8292694" y="3174797"/>
            <a:ext cx="9902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人工确认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9334195" y="3149194"/>
            <a:ext cx="1752905" cy="3941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项目模板、衍生组件、案例截图、外部素材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7696505" y="4496105"/>
            <a:ext cx="304495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8064094" y="4114800"/>
            <a:ext cx="3238805" cy="761695"/>
          </a:xfrm>
          <a:prstGeom prst="roundRect">
            <a:avLst>
              <a:gd name="adj" fmla="val 6723"/>
            </a:avLst>
          </a:prstGeom>
          <a:solidFill>
            <a:srgbClr val="F3F6FA"/>
          </a:solidFill>
          <a:ln w="13970">
            <a:solidFill>
              <a:srgbClr val="66666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7" name="Shape 53"/>
          <p:cNvSpPr/>
          <p:nvPr/>
        </p:nvSpPr>
        <p:spPr>
          <a:xfrm>
            <a:off x="8064094" y="4114800"/>
            <a:ext cx="51206" cy="761695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58" name="Text 54"/>
          <p:cNvSpPr/>
          <p:nvPr/>
        </p:nvSpPr>
        <p:spPr>
          <a:xfrm>
            <a:off x="8292694" y="4267505"/>
            <a:ext cx="9902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留在项目内</a:t>
            </a:r>
            <a:endParaRPr lang="en-US" sz="1050" dirty="0"/>
          </a:p>
        </p:txBody>
      </p:sp>
      <p:sp>
        <p:nvSpPr>
          <p:cNvPr id="59" name="Text 55"/>
          <p:cNvSpPr/>
          <p:nvPr/>
        </p:nvSpPr>
        <p:spPr>
          <a:xfrm>
            <a:off x="9334195" y="4241902"/>
            <a:ext cx="1752905" cy="3941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客户数据、深度定制内容、未授权素材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方法迁移：Harness 可复用到哪些任务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同一套能力框架可以迁移，但每个场景填入的工具、证据和规则不同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197" y="1434694"/>
            <a:ext cx="27303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 七个能力层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851306" y="1968703"/>
            <a:ext cx="0" cy="3174797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7298" y="1962302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9906" y="1930298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执行编排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87298" y="2482596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79906" y="2451506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上下文管理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87298" y="3003804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79906" y="2971800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状态和记忆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7298" y="3524098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9906" y="3492094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工具系统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87298" y="4045306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79906" y="4013302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约束与恢复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87298" y="4565599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79906" y="4533595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评估与观测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87298" y="5086807"/>
            <a:ext cx="127102" cy="127102"/>
          </a:xfrm>
          <a:prstGeom prst="ellipse">
            <a:avLst/>
          </a:prstGeom>
          <a:solidFill>
            <a:srgbClr val="0719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79906" y="5054803"/>
            <a:ext cx="19046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自进化机制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365906" y="1867205"/>
            <a:ext cx="14602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可迁移的共同条件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403397" y="2425903"/>
            <a:ext cx="13844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重复出现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581705" y="2691994"/>
            <a:ext cx="1028700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03397" y="3174797"/>
            <a:ext cx="13844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交付标准明确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581705" y="3441802"/>
            <a:ext cx="1028700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03397" y="3924605"/>
            <a:ext cx="13844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需要持续反馈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581705" y="4190695"/>
            <a:ext cx="1028700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098902" y="3517697"/>
            <a:ext cx="1891894" cy="0"/>
          </a:xfrm>
          <a:prstGeom prst="line">
            <a:avLst/>
          </a:prstGeom>
          <a:noFill/>
          <a:ln w="2032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31" name="Text 27"/>
          <p:cNvSpPr/>
          <p:nvPr/>
        </p:nvSpPr>
        <p:spPr>
          <a:xfrm>
            <a:off x="5270602" y="1434694"/>
            <a:ext cx="1143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6832397" y="1434694"/>
            <a:ext cx="19046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怎么用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9080906" y="1434694"/>
            <a:ext cx="2286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解决什么问题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5270602" y="1688897"/>
            <a:ext cx="6120994" cy="0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70602" y="1930298"/>
            <a:ext cx="3429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689397" y="1917497"/>
            <a:ext cx="1206094" cy="3557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PRD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832397" y="1930298"/>
            <a:ext cx="1917497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Brief、里程碑、评审 Gate、版本状态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9080906" y="1930298"/>
            <a:ext cx="2222906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减少结构漂移、评审遗漏和反复解释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270602" y="2527402"/>
            <a:ext cx="6120994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270602" y="2857500"/>
            <a:ext cx="3429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689397" y="2844698"/>
            <a:ext cx="1206094" cy="3557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数据分析报告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832397" y="2857500"/>
            <a:ext cx="1917497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口径合同、数据来源、图表工具、结论 QA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9080906" y="2857500"/>
            <a:ext cx="2222906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避免口径混乱，让结论和证据可追溯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270602" y="3454603"/>
            <a:ext cx="6120994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270602" y="3784702"/>
            <a:ext cx="3429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689397" y="3771900"/>
            <a:ext cx="1206094" cy="3557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培训材料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32397" y="3784702"/>
            <a:ext cx="1917497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课程大纲、材料路由、案例库、讲稿复核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9080906" y="3784702"/>
            <a:ext cx="2222906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降低更新成本，保持讲解结构一致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5270602" y="4381805"/>
            <a:ext cx="6120994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270602" y="4711903"/>
            <a:ext cx="3429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5689397" y="4699102"/>
            <a:ext cx="1206094" cy="3557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竞品研究</a:t>
            </a:r>
            <a:endParaRPr lang="en-US" sz="1050" dirty="0"/>
          </a:p>
        </p:txBody>
      </p:sp>
      <p:sp>
        <p:nvSpPr>
          <p:cNvPr id="52" name="Text 48"/>
          <p:cNvSpPr/>
          <p:nvPr/>
        </p:nvSpPr>
        <p:spPr>
          <a:xfrm>
            <a:off x="6832397" y="4711903"/>
            <a:ext cx="1917497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检索策略、证据标签、对比框架、观点校验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9080906" y="4711903"/>
            <a:ext cx="2222906" cy="4059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减少重复检索，避免无来源判断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5270602" y="5309006"/>
            <a:ext cx="6120994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使用收益：从一次交付到生产能力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把一份 PPT 的投入拆到步骤：先算清时间，再看返工、复用与积累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505" y="1587398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BEFORE / 传统方式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38505" y="1854403"/>
            <a:ext cx="3301898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全程手工推进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38505" y="2247595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总耗时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828800" y="2146097"/>
            <a:ext cx="2667305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7</a:t>
            </a:r>
            <a:r>
              <a:rPr lang="zh-CN" altLang="en-US" sz="20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小时</a:t>
            </a:r>
            <a:endParaRPr lang="zh-CN" altLang="en-US" sz="20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38505" y="2577694"/>
            <a:ext cx="3937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框架搭建 + 素材整理 + 内容补充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38505" y="3086100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8505" y="3226003"/>
            <a:ext cx="355702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295705" y="3187598"/>
            <a:ext cx="20317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框架搭建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8505" y="3606394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8505" y="3746297"/>
            <a:ext cx="355702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295705" y="3708806"/>
            <a:ext cx="20317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素材整理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38505" y="4127602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8505" y="4267505"/>
            <a:ext cx="355702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295705" y="4229100"/>
            <a:ext cx="20317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内容补充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38505" y="4647895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346497" y="3226003"/>
            <a:ext cx="1498702" cy="0"/>
          </a:xfrm>
          <a:prstGeom prst="line">
            <a:avLst/>
          </a:prstGeom>
          <a:noFill/>
          <a:ln w="2540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26" name="Text 22"/>
          <p:cNvSpPr/>
          <p:nvPr/>
        </p:nvSpPr>
        <p:spPr>
          <a:xfrm>
            <a:off x="5346497" y="2870302"/>
            <a:ext cx="1498702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从全程手工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到人机分工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416698" y="1587398"/>
            <a:ext cx="1651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AFTER / AI 协作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416698" y="1854403"/>
            <a:ext cx="3301898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先定大纲，再生成细改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7416698" y="2247595"/>
            <a:ext cx="10799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总耗时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406994" y="2146097"/>
            <a:ext cx="2667305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</a:t>
            </a:r>
            <a:r>
              <a:rPr lang="zh-CN" altLang="en-US" sz="20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小时</a:t>
            </a:r>
            <a:endParaRPr lang="zh-CN" altLang="en-US" sz="2000" b="1" dirty="0">
              <a:solidFill>
                <a:srgbClr val="C5151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416698" y="2577694"/>
            <a:ext cx="3937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1–2 h 大纲 + AI 初稿 + 人工细改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416698" y="3086100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16698" y="3226003"/>
            <a:ext cx="355702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873898" y="3187598"/>
            <a:ext cx="20317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整理大纲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10007194" y="3187598"/>
            <a:ext cx="13459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1–2 h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416698" y="3606394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16698" y="3746297"/>
            <a:ext cx="355702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873898" y="3708806"/>
            <a:ext cx="20317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生成初稿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7416698" y="4127602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416698" y="4267505"/>
            <a:ext cx="355702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873898" y="4229100"/>
            <a:ext cx="20317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人工细改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416698" y="4647895"/>
            <a:ext cx="3937406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943100" y="5232197"/>
            <a:ext cx="2031797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少返工</a:t>
            </a:r>
            <a:endParaRPr lang="en-US" sz="1700" dirty="0"/>
          </a:p>
        </p:txBody>
      </p:sp>
      <p:sp>
        <p:nvSpPr>
          <p:cNvPr id="46" name="Text 42"/>
          <p:cNvSpPr/>
          <p:nvPr/>
        </p:nvSpPr>
        <p:spPr>
          <a:xfrm>
            <a:off x="1943100" y="5600700"/>
            <a:ext cx="20317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先定结构，问题更早暴露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244998" y="5232197"/>
            <a:ext cx="2031797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</a:t>
            </a:r>
            <a:endParaRPr lang="en-US" sz="1700" dirty="0"/>
          </a:p>
        </p:txBody>
      </p:sp>
      <p:sp>
        <p:nvSpPr>
          <p:cNvPr id="48" name="Text 44"/>
          <p:cNvSpPr/>
          <p:nvPr/>
        </p:nvSpPr>
        <p:spPr>
          <a:xfrm>
            <a:off x="5244998" y="5600700"/>
            <a:ext cx="20317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流程、组件和资料重复利用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8546897" y="5232197"/>
            <a:ext cx="2031797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能积累</a:t>
            </a:r>
            <a:endParaRPr lang="en-US" sz="1700" dirty="0"/>
          </a:p>
        </p:txBody>
      </p:sp>
      <p:sp>
        <p:nvSpPr>
          <p:cNvPr id="50" name="Text 46"/>
          <p:cNvSpPr/>
          <p:nvPr/>
        </p:nvSpPr>
        <p:spPr>
          <a:xfrm>
            <a:off x="8546897" y="5600700"/>
            <a:ext cx="2031797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反馈进入下一轮规则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2" name="Text 31"/>
          <p:cNvSpPr/>
          <p:nvPr/>
        </p:nvSpPr>
        <p:spPr>
          <a:xfrm>
            <a:off x="10007829" y="3708298"/>
            <a:ext cx="13459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1-2 h</a:t>
            </a:r>
            <a:endParaRPr lang="en-US" sz="1050" dirty="0"/>
          </a:p>
        </p:txBody>
      </p:sp>
      <p:sp>
        <p:nvSpPr>
          <p:cNvPr id="53" name="Text 31"/>
          <p:cNvSpPr/>
          <p:nvPr/>
        </p:nvSpPr>
        <p:spPr>
          <a:xfrm>
            <a:off x="10008464" y="4228363"/>
            <a:ext cx="13459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1-2 h</a:t>
            </a:r>
            <a:endParaRPr lang="en-US" sz="1050" dirty="0"/>
          </a:p>
        </p:txBody>
      </p:sp>
      <p:sp>
        <p:nvSpPr>
          <p:cNvPr id="54" name="Text 31"/>
          <p:cNvSpPr/>
          <p:nvPr/>
        </p:nvSpPr>
        <p:spPr>
          <a:xfrm>
            <a:off x="3430499" y="3187598"/>
            <a:ext cx="13459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1–2 h</a:t>
            </a:r>
            <a:endParaRPr lang="en-US" sz="105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55" name="Text 31"/>
          <p:cNvSpPr/>
          <p:nvPr/>
        </p:nvSpPr>
        <p:spPr>
          <a:xfrm>
            <a:off x="3431134" y="3708298"/>
            <a:ext cx="13459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3-4 h</a:t>
            </a:r>
            <a:endParaRPr lang="en-US" sz="105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3431769" y="4228363"/>
            <a:ext cx="13459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3-4 h</a:t>
            </a:r>
            <a:endParaRPr lang="en-US" sz="105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学习路径：参考资料与拆解方法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先看官方实践，再拆目录、产物和门禁，最后把自己的高频任务做成最小 Harness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7395" y="1537106"/>
            <a:ext cx="4700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282903" y="1548994"/>
            <a:ext cx="4406494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code</a:t>
            </a: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panose="020B0502020202020204" pitchFamily="34" charset="-120"/>
              </a:rPr>
              <a:t>秘密花园的个人空间</a:t>
            </a:r>
            <a:endParaRPr lang="en-US" sz="105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82903" y="1790395"/>
            <a:ext cx="5206594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dirty="0"/>
              <a:t> https://b23.tv/WgpuP35</a:t>
            </a:r>
            <a:endParaRPr lang="en-US" altLang="zh-CN" sz="900" dirty="0"/>
          </a:p>
        </p:txBody>
      </p:sp>
      <p:sp>
        <p:nvSpPr>
          <p:cNvPr id="10" name="Text 6"/>
          <p:cNvSpPr/>
          <p:nvPr/>
        </p:nvSpPr>
        <p:spPr>
          <a:xfrm>
            <a:off x="6006694" y="1574597"/>
            <a:ext cx="18159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实战</a:t>
            </a:r>
            <a:r>
              <a:rPr lang="zh-CN" alt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</a:t>
            </a:r>
            <a:endParaRPr lang="zh-CN" altLang="en-US" sz="900" dirty="0">
              <a:solidFill>
                <a:srgbClr val="3D3A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282903" y="2120494"/>
            <a:ext cx="6452006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7395" y="2374697"/>
            <a:ext cx="4700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282903" y="2387498"/>
            <a:ext cx="4406494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panose="020B0502020202020204" pitchFamily="34" charset="-120"/>
              </a:rPr>
              <a:t>马克的技术工作坊</a:t>
            </a:r>
            <a:endParaRPr lang="en-US" sz="105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282903" y="2628900"/>
            <a:ext cx="5206594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dirty="0"/>
              <a:t> https://b23.tv/zZpXKI6</a:t>
            </a:r>
            <a:endParaRPr lang="en-US" altLang="zh-CN" sz="900" dirty="0"/>
          </a:p>
        </p:txBody>
      </p:sp>
      <p:sp>
        <p:nvSpPr>
          <p:cNvPr id="15" name="Text 11"/>
          <p:cNvSpPr/>
          <p:nvPr/>
        </p:nvSpPr>
        <p:spPr>
          <a:xfrm>
            <a:off x="6006694" y="2413102"/>
            <a:ext cx="18159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</a:t>
            </a:r>
            <a:r>
              <a:rPr lang="zh-CN" alt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</a:t>
            </a:r>
            <a:endParaRPr lang="zh-CN" altLang="en-US" sz="900" dirty="0">
              <a:solidFill>
                <a:srgbClr val="3D3A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282903" y="2958998"/>
            <a:ext cx="6452006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7395" y="3213202"/>
            <a:ext cx="4700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282903" y="3226003"/>
            <a:ext cx="4406494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IT</a:t>
            </a: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panose="020B0502020202020204" pitchFamily="34" charset="-120"/>
              </a:rPr>
              <a:t>咖啡馆</a:t>
            </a:r>
            <a:endParaRPr lang="en-US" sz="105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282903" y="3467405"/>
            <a:ext cx="5206594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dirty="0"/>
              <a:t> https://b23.tv/jjqWQDs</a:t>
            </a:r>
            <a:endParaRPr lang="en-US" altLang="zh-CN" sz="900" dirty="0"/>
          </a:p>
        </p:txBody>
      </p:sp>
      <p:sp>
        <p:nvSpPr>
          <p:cNvPr id="20" name="Text 16"/>
          <p:cNvSpPr/>
          <p:nvPr/>
        </p:nvSpPr>
        <p:spPr>
          <a:xfrm>
            <a:off x="6006694" y="3251606"/>
            <a:ext cx="18159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9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定期</a:t>
            </a:r>
            <a:r>
              <a:rPr lang="zh-CN" altLang="en-US" sz="9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资讯</a:t>
            </a:r>
            <a:endParaRPr lang="zh-CN" altLang="en-US" sz="900" dirty="0">
              <a:solidFill>
                <a:srgbClr val="3D3A32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1282903" y="3797503"/>
            <a:ext cx="6452006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7395" y="4051706"/>
            <a:ext cx="4700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1282903" y="4063594"/>
            <a:ext cx="4406494" cy="1773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  <a:sym typeface="+mn-ea"/>
              </a:rPr>
              <a:t>Codex</a:t>
            </a: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panose="020B0502020202020204" pitchFamily="34" charset="-120"/>
                <a:sym typeface="+mn-ea"/>
              </a:rPr>
              <a:t>配置任务，定时推送至</a:t>
            </a: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panose="020B0502020202020204" pitchFamily="34" charset="-120"/>
                <a:sym typeface="+mn-ea"/>
              </a:rPr>
              <a:t>飞书</a:t>
            </a:r>
            <a:endParaRPr lang="en-US" sz="105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entury Gothic" panose="020B0502020202020204" pitchFamily="34" charset="-120"/>
              <a:sym typeface="+mn-ea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282903" y="4304995"/>
            <a:ext cx="5206594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u="sng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每日</a:t>
            </a:r>
            <a:r>
              <a:rPr lang="en-US" altLang="zh-CN" sz="900" u="sng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AI</a:t>
            </a:r>
            <a:r>
              <a:rPr lang="zh-CN" altLang="en-US" sz="900" u="sng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领域热点资讯</a:t>
            </a:r>
            <a:r>
              <a:rPr lang="zh-CN" altLang="en-US" sz="900" u="sng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十条</a:t>
            </a:r>
            <a:endParaRPr lang="zh-CN" altLang="en-US" sz="900" u="sng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6006694" y="4089197"/>
            <a:ext cx="18159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zh-CN" alt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</a:t>
            </a:r>
            <a:r>
              <a:rPr lang="zh-CN" alt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资讯</a:t>
            </a:r>
            <a:endParaRPr lang="zh-CN" altLang="en-US" sz="900" dirty="0">
              <a:solidFill>
                <a:srgbClr val="3D3A3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1282903" y="4635094"/>
            <a:ext cx="6452006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" y="4889297"/>
            <a:ext cx="4700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1282903" y="4902098"/>
            <a:ext cx="4406494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内部拆解 · web-video-presentation / Leander-PPT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282903" y="5143500"/>
            <a:ext cx="5206594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Local Skill · SKILL.md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06694" y="4927702"/>
            <a:ext cx="1815998" cy="291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Gate / 蓝图 / 渲染 QA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1282903" y="5473598"/>
            <a:ext cx="6452006" cy="0"/>
          </a:xfrm>
          <a:prstGeom prst="line">
            <a:avLst/>
          </a:prstGeom>
          <a:noFill/>
          <a:ln w="11430">
            <a:solidFill>
              <a:srgbClr val="D9D5C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178394" y="1434694"/>
            <a:ext cx="0" cy="4166006"/>
          </a:xfrm>
          <a:prstGeom prst="line">
            <a:avLst/>
          </a:prstGeom>
          <a:noFill/>
          <a:ln w="13970">
            <a:solidFill>
              <a:srgbClr val="D9D5C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35594" y="1485900"/>
            <a:ext cx="2476195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拆解方法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8826703" y="2120494"/>
            <a:ext cx="0" cy="2920594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725205" y="2083003"/>
            <a:ext cx="202997" cy="202997"/>
          </a:xfrm>
          <a:prstGeom prst="roundRect">
            <a:avLst>
              <a:gd name="adj" fmla="val 25225"/>
            </a:avLst>
          </a:prstGeom>
          <a:solidFill>
            <a:srgbClr val="07195A"/>
          </a:solidFill>
        </p:spPr>
      </p:sp>
      <p:sp>
        <p:nvSpPr>
          <p:cNvPr id="36" name="Text 32"/>
          <p:cNvSpPr/>
          <p:nvPr/>
        </p:nvSpPr>
        <p:spPr>
          <a:xfrm>
            <a:off x="9118397" y="1994306"/>
            <a:ext cx="20189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看行业实例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118397" y="2260397"/>
            <a:ext cx="2018995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先理解复杂任务为什么需要 Harness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725205" y="2984602"/>
            <a:ext cx="202997" cy="202997"/>
          </a:xfrm>
          <a:prstGeom prst="roundRect">
            <a:avLst>
              <a:gd name="adj" fmla="val 25225"/>
            </a:avLst>
          </a:prstGeom>
          <a:solidFill>
            <a:srgbClr val="C51516"/>
          </a:solidFill>
        </p:spPr>
      </p:sp>
      <p:sp>
        <p:nvSpPr>
          <p:cNvPr id="39" name="Text 35"/>
          <p:cNvSpPr/>
          <p:nvPr/>
        </p:nvSpPr>
        <p:spPr>
          <a:xfrm>
            <a:off x="9118397" y="2895905"/>
            <a:ext cx="20189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拆目录与产物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118397" y="3161995"/>
            <a:ext cx="2018995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 Skill、references、pages 和 output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8725205" y="3886200"/>
            <a:ext cx="202997" cy="202997"/>
          </a:xfrm>
          <a:prstGeom prst="roundRect">
            <a:avLst>
              <a:gd name="adj" fmla="val 25225"/>
            </a:avLst>
          </a:prstGeom>
          <a:solidFill>
            <a:srgbClr val="07195A"/>
          </a:solidFill>
        </p:spPr>
      </p:sp>
      <p:sp>
        <p:nvSpPr>
          <p:cNvPr id="42" name="Text 38"/>
          <p:cNvSpPr/>
          <p:nvPr/>
        </p:nvSpPr>
        <p:spPr>
          <a:xfrm>
            <a:off x="9118397" y="3797503"/>
            <a:ext cx="20189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 Gate 与证据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9118397" y="4063594"/>
            <a:ext cx="2018995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识别什么会阻断、什么证明已完成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725205" y="4787798"/>
            <a:ext cx="202997" cy="202997"/>
          </a:xfrm>
          <a:prstGeom prst="roundRect">
            <a:avLst>
              <a:gd name="adj" fmla="val 25225"/>
            </a:avLst>
          </a:prstGeom>
          <a:solidFill>
            <a:srgbClr val="07195A"/>
          </a:solidFill>
        </p:spPr>
      </p:sp>
      <p:sp>
        <p:nvSpPr>
          <p:cNvPr id="45" name="Text 41"/>
          <p:cNvSpPr/>
          <p:nvPr/>
        </p:nvSpPr>
        <p:spPr>
          <a:xfrm>
            <a:off x="9118397" y="4699102"/>
            <a:ext cx="20189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搭最小 Harness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9118397" y="4966106"/>
            <a:ext cx="2018995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从一个高频、反复返工的任务开始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14500" y="2463394"/>
            <a:ext cx="8762695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把海侧最后一米，做成西井长期的技术壁垒。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47995" y="3238805"/>
            <a:ext cx="12957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73398" y="3504895"/>
            <a:ext cx="4444898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Make a Well Change.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635094" y="5435194"/>
            <a:ext cx="2920594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西井科技  |  岸桥自动化系统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6983</Words>
  <Application>WPS 演示</Application>
  <PresentationFormat>On-screen Show (16:9)</PresentationFormat>
  <Paragraphs>1223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Century Gothic</vt:lpstr>
      <vt:lpstr>Century Gothic</vt:lpstr>
      <vt:lpstr>Century Gothic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Westwell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Leander PPT</dc:creator>
  <dc:subject>PptxGenJS Presentation</dc:subject>
  <cp:lastModifiedBy>某在斯</cp:lastModifiedBy>
  <cp:revision>6</cp:revision>
  <dcterms:created xsi:type="dcterms:W3CDTF">2026-07-15T07:00:00Z</dcterms:created>
  <dcterms:modified xsi:type="dcterms:W3CDTF">2026-07-24T15:05:22Z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347DF3690EF543A08D4A3375E4299743_13</vt:lpwstr>
  </property>
  <property fmtid="{D5CDD505-2E9C-101B-9397-08002B2CF9AE}" pid="3" name="KSOProductBuildVer">
    <vt:lpwstr>2052-12.1.0.23125</vt:lpwstr>
  </property>
</Properties>
</file>