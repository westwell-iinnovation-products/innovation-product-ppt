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Command</c:v>
                </c:pt>
              </c:strCache>
            </c:strRef>
          </c:tx>
          <c:spPr>
            <a:solidFill>
              <a:srgbClr val="00B0F0"/>
            </a:solidFill>
            <a:ln w="38100" cap="flat">
              <a:solidFill>
                <a:srgbClr val="00B0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0F0"/>
              </a:solidFill>
              <a:ln w="9525" cap="flat">
                <a:solidFill>
                  <a:srgbClr val="00B0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  <c:pt idx="6">
                    <c:v>T6</c:v>
                  </c:pt>
                  <c:pt idx="7">
                    <c:v>T7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32</c:v>
                </c:pt>
                <c:pt idx="2">
                  <c:v>46</c:v>
                </c:pt>
                <c:pt idx="3">
                  <c:v>55</c:v>
                </c:pt>
                <c:pt idx="4">
                  <c:v>58</c:v>
                </c:pt>
                <c:pt idx="5">
                  <c:v>63</c:v>
                </c:pt>
                <c:pt idx="6">
                  <c:v>67</c:v>
                </c:pt>
                <c:pt idx="7">
                  <c:v>70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2060"/>
            </a:solidFill>
            <a:ln w="38100" cap="flat">
              <a:solidFill>
                <a:srgbClr val="0020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2060"/>
              </a:solidFill>
              <a:ln w="9525" cap="flat">
                <a:solidFill>
                  <a:srgbClr val="0020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  <c:pt idx="6">
                    <c:v>T6</c:v>
                  </c:pt>
                  <c:pt idx="7">
                    <c:v>T7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18</c:v>
                </c:pt>
                <c:pt idx="1">
                  <c:v>29</c:v>
                </c:pt>
                <c:pt idx="2">
                  <c:v>40</c:v>
                </c:pt>
                <c:pt idx="3">
                  <c:v>48</c:v>
                </c:pt>
                <c:pt idx="4">
                  <c:v>54</c:v>
                </c:pt>
                <c:pt idx="5">
                  <c:v>60</c:v>
                </c:pt>
                <c:pt idx="6">
                  <c:v>65</c:v>
                </c:pt>
                <c:pt idx="7">
                  <c:v>69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Deviation</c:v>
                </c:pt>
              </c:strCache>
            </c:strRef>
          </c:tx>
          <c:spPr>
            <a:solidFill>
              <a:srgbClr val="0070C0"/>
            </a:solidFill>
            <a:ln w="38100" cap="flat">
              <a:solidFill>
                <a:srgbClr val="0070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0C0"/>
              </a:solidFill>
              <a:ln w="9525" cap="flat">
                <a:solidFill>
                  <a:srgbClr val="0070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  <c:pt idx="6">
                    <c:v>T6</c:v>
                  </c:pt>
                  <c:pt idx="7">
                    <c:v>T7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206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F2A37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p01 路 Fleet Coordination Platform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p02 路 Technical Overview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p03 路 One Product System: Platform to Field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p04 路 Services and Interfaces Stay Separate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p05 路 Operations Need Configurable Flow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p06 路 One Process Governs Model Releases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p07 路 Planning Uses Five Explicit Stages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p08 路 Planning Evidence Combines Four Signals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p09 路 Control Events Stay Visible in Trends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p10 路 Recovery Needs Clear Boundaries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p11 路 Three Systems Share One ETA Loop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p12 路 Editable Workflow in a Public-Safe Context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p13 路 One Product System. Clear Interfaces. Verifiable Evidence.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0197" y="2286000"/>
            <a:ext cx="1041410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Fleet Coordination Platform</a:t>
            </a:r>
            <a:endParaRPr lang="en-US" sz="4200" dirty="0"/>
          </a:p>
        </p:txBody>
      </p:sp>
      <p:sp>
        <p:nvSpPr>
          <p:cNvPr id="5" name="Shape 1"/>
          <p:cNvSpPr/>
          <p:nvPr/>
        </p:nvSpPr>
        <p:spPr>
          <a:xfrm>
            <a:off x="685800" y="3187598"/>
            <a:ext cx="5842102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lgDash"/>
          </a:ln>
        </p:spPr>
      </p:sp>
      <p:sp>
        <p:nvSpPr>
          <p:cNvPr id="6" name="Text 2"/>
          <p:cNvSpPr/>
          <p:nvPr/>
        </p:nvSpPr>
        <p:spPr>
          <a:xfrm>
            <a:off x="685800" y="3327502"/>
            <a:ext cx="9525305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public-safe, editable reference for architecture, workflow and evidence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85800" y="5702198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SYSTEMS · WORKFLOWS · EVIDENCE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4594" y="6032297"/>
            <a:ext cx="444489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TECHNICAL SAMPLE</a:t>
            </a:r>
            <a:endParaRPr lang="en-US" sz="700" dirty="0"/>
          </a:p>
        </p:txBody>
      </p:sp>
      <p:pic>
        <p:nvPicPr>
          <p:cNvPr id="9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Overview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59436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Five topics move from product structure to public-safe field evidence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615745" y="2876702"/>
            <a:ext cx="8961120" cy="0"/>
          </a:xfrm>
          <a:prstGeom prst="line">
            <a:avLst/>
          </a:prstGeom>
          <a:noFill/>
          <a:ln w="25400">
            <a:solidFill>
              <a:srgbClr val="D8E0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94637" y="2876702"/>
            <a:ext cx="1452982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1411834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</p:sp>
      <p:sp>
        <p:nvSpPr>
          <p:cNvPr id="10" name="Text 6"/>
          <p:cNvSpPr/>
          <p:nvPr/>
        </p:nvSpPr>
        <p:spPr>
          <a:xfrm>
            <a:off x="1411834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9905" y="3295498"/>
            <a:ext cx="2011680" cy="15873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09905" y="3295498"/>
            <a:ext cx="2011680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3" name="Text 9"/>
          <p:cNvSpPr/>
          <p:nvPr/>
        </p:nvSpPr>
        <p:spPr>
          <a:xfrm>
            <a:off x="787298" y="3473806"/>
            <a:ext cx="165597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87298" y="3778301"/>
            <a:ext cx="16559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Platform, control and equipment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800100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B0F0"/>
          </a:solidFill>
          <a:ln/>
        </p:spPr>
      </p:sp>
      <p:sp>
        <p:nvSpPr>
          <p:cNvPr id="16" name="Text 12"/>
          <p:cNvSpPr/>
          <p:nvPr/>
        </p:nvSpPr>
        <p:spPr>
          <a:xfrm>
            <a:off x="927202" y="4197096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800100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B0F0"/>
          </a:solidFill>
          <a:ln/>
        </p:spPr>
      </p:sp>
      <p:sp>
        <p:nvSpPr>
          <p:cNvPr id="18" name="Text 14"/>
          <p:cNvSpPr/>
          <p:nvPr/>
        </p:nvSpPr>
        <p:spPr>
          <a:xfrm>
            <a:off x="927202" y="4464101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Interfaces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4134917" y="2876702"/>
            <a:ext cx="1452982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3652114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21" name="Text 17"/>
          <p:cNvSpPr/>
          <p:nvPr/>
        </p:nvSpPr>
        <p:spPr>
          <a:xfrm>
            <a:off x="3652114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850185" y="3295498"/>
            <a:ext cx="2011680" cy="15873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850185" y="3295498"/>
            <a:ext cx="2011680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4" name="Text 20"/>
          <p:cNvSpPr/>
          <p:nvPr/>
        </p:nvSpPr>
        <p:spPr>
          <a:xfrm>
            <a:off x="3027578" y="3473806"/>
            <a:ext cx="165597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Workflow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3027578" y="3778301"/>
            <a:ext cx="16559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Configurable operating logic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040380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27" name="Text 23"/>
          <p:cNvSpPr/>
          <p:nvPr/>
        </p:nvSpPr>
        <p:spPr>
          <a:xfrm>
            <a:off x="3167482" y="4197096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Rules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3040380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29" name="Text 25"/>
          <p:cNvSpPr/>
          <p:nvPr/>
        </p:nvSpPr>
        <p:spPr>
          <a:xfrm>
            <a:off x="3167482" y="4464101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6375197" y="2876702"/>
            <a:ext cx="1452982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5892394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32" name="Text 28"/>
          <p:cNvSpPr/>
          <p:nvPr/>
        </p:nvSpPr>
        <p:spPr>
          <a:xfrm>
            <a:off x="5892394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090465" y="3295498"/>
            <a:ext cx="2011680" cy="15873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5090465" y="3295498"/>
            <a:ext cx="2011680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5" name="Text 31"/>
          <p:cNvSpPr/>
          <p:nvPr/>
        </p:nvSpPr>
        <p:spPr>
          <a:xfrm>
            <a:off x="5267858" y="3473806"/>
            <a:ext cx="165597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Planning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5267858" y="3778301"/>
            <a:ext cx="16559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Five explicit technical stages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5280660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38" name="Text 34"/>
          <p:cNvSpPr/>
          <p:nvPr/>
        </p:nvSpPr>
        <p:spPr>
          <a:xfrm>
            <a:off x="5407762" y="4197096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Segmentation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5280660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40" name="Text 36"/>
          <p:cNvSpPr/>
          <p:nvPr/>
        </p:nvSpPr>
        <p:spPr>
          <a:xfrm>
            <a:off x="5407762" y="4464101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Arbitration</a:t>
            </a:r>
            <a:endParaRPr lang="en-US" sz="700" dirty="0"/>
          </a:p>
        </p:txBody>
      </p:sp>
      <p:sp>
        <p:nvSpPr>
          <p:cNvPr id="41" name="Shape 37"/>
          <p:cNvSpPr/>
          <p:nvPr/>
        </p:nvSpPr>
        <p:spPr>
          <a:xfrm>
            <a:off x="8615477" y="2876702"/>
            <a:ext cx="1452982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8132674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43" name="Text 39"/>
          <p:cNvSpPr/>
          <p:nvPr/>
        </p:nvSpPr>
        <p:spPr>
          <a:xfrm>
            <a:off x="8132674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7330745" y="3295498"/>
            <a:ext cx="2011680" cy="15873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7330745" y="3295498"/>
            <a:ext cx="2011680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6" name="Text 42"/>
          <p:cNvSpPr/>
          <p:nvPr/>
        </p:nvSpPr>
        <p:spPr>
          <a:xfrm>
            <a:off x="7508138" y="3473806"/>
            <a:ext cx="165597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7508138" y="3778301"/>
            <a:ext cx="16559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Geometry, rules and simulation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7520940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49" name="Text 45"/>
          <p:cNvSpPr/>
          <p:nvPr/>
        </p:nvSpPr>
        <p:spPr>
          <a:xfrm>
            <a:off x="7648042" y="4197096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Series</a:t>
            </a:r>
            <a:endParaRPr lang="en-US" sz="700" dirty="0"/>
          </a:p>
        </p:txBody>
      </p:sp>
      <p:sp>
        <p:nvSpPr>
          <p:cNvPr id="50" name="Shape 46"/>
          <p:cNvSpPr/>
          <p:nvPr/>
        </p:nvSpPr>
        <p:spPr>
          <a:xfrm>
            <a:off x="7520940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51" name="Text 47"/>
          <p:cNvSpPr/>
          <p:nvPr/>
        </p:nvSpPr>
        <p:spPr>
          <a:xfrm>
            <a:off x="7648042" y="4464101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Events</a:t>
            </a:r>
            <a:endParaRPr lang="en-US" sz="700" dirty="0"/>
          </a:p>
        </p:txBody>
      </p:sp>
      <p:sp>
        <p:nvSpPr>
          <p:cNvPr id="52" name="Shape 48"/>
          <p:cNvSpPr/>
          <p:nvPr/>
        </p:nvSpPr>
        <p:spPr>
          <a:xfrm>
            <a:off x="10372954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53" name="Text 49"/>
          <p:cNvSpPr/>
          <p:nvPr/>
        </p:nvSpPr>
        <p:spPr>
          <a:xfrm>
            <a:off x="10372954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9571025" y="3295498"/>
            <a:ext cx="2011680" cy="15873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9571025" y="3295498"/>
            <a:ext cx="2011680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6" name="Text 52"/>
          <p:cNvSpPr/>
          <p:nvPr/>
        </p:nvSpPr>
        <p:spPr>
          <a:xfrm>
            <a:off x="9748418" y="3473806"/>
            <a:ext cx="165597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Field</a:t>
            </a:r>
            <a:endParaRPr lang="en-US" sz="1150" dirty="0"/>
          </a:p>
        </p:txBody>
      </p:sp>
      <p:sp>
        <p:nvSpPr>
          <p:cNvPr id="57" name="Text 53"/>
          <p:cNvSpPr/>
          <p:nvPr/>
        </p:nvSpPr>
        <p:spPr>
          <a:xfrm>
            <a:off x="9748418" y="3778301"/>
            <a:ext cx="16559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Editable mechanism in context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9761220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59" name="Text 55"/>
          <p:cNvSpPr/>
          <p:nvPr/>
        </p:nvSpPr>
        <p:spPr>
          <a:xfrm>
            <a:off x="9888322" y="4197096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UI</a:t>
            </a:r>
            <a:endParaRPr lang="en-US" sz="700" dirty="0"/>
          </a:p>
        </p:txBody>
      </p:sp>
      <p:sp>
        <p:nvSpPr>
          <p:cNvPr id="60" name="Shape 56"/>
          <p:cNvSpPr/>
          <p:nvPr/>
        </p:nvSpPr>
        <p:spPr>
          <a:xfrm>
            <a:off x="9761220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61" name="Text 57"/>
          <p:cNvSpPr/>
          <p:nvPr/>
        </p:nvSpPr>
        <p:spPr>
          <a:xfrm>
            <a:off x="9888322" y="4464101"/>
            <a:ext cx="149138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Generated scene</a:t>
            </a:r>
            <a:endParaRPr lang="en-US" sz="700" dirty="0"/>
          </a:p>
        </p:txBody>
      </p:sp>
      <p:pic>
        <p:nvPicPr>
          <p:cNvPr id="62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9588398" y="558698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STEPNAV</a:t>
            </a:r>
            <a:endParaRPr lang="en-US" sz="400" dirty="0"/>
          </a:p>
        </p:txBody>
      </p:sp>
      <p:sp>
        <p:nvSpPr>
          <p:cNvPr id="64" name="Shape 59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65" name="Shape 60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P02</a:t>
            </a:r>
            <a:endParaRPr lang="en-US" sz="450" dirty="0"/>
          </a:p>
        </p:txBody>
      </p:sp>
      <p:sp>
        <p:nvSpPr>
          <p:cNvPr id="67" name="Shape 62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68" name="Text 63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REFERENCE-DERIVED THEME SAMPLE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Product System: Platform to Field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public-safe product diagram links orchestration, control services and field equipment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777594"/>
            <a:ext cx="3556102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220" kern="0" dirty="0">
                <a:solidFill>
                  <a:srgbClr val="0070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FIELD INTELLIGENCE</a:t>
            </a:r>
            <a:endParaRPr lang="en-US" sz="600" dirty="0"/>
          </a:p>
        </p:txBody>
      </p:sp>
      <p:sp>
        <p:nvSpPr>
          <p:cNvPr id="8" name="Shape 4"/>
          <p:cNvSpPr/>
          <p:nvPr/>
        </p:nvSpPr>
        <p:spPr>
          <a:xfrm>
            <a:off x="609905" y="2070202"/>
            <a:ext cx="4889297" cy="16514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8797" y="2572207"/>
            <a:ext cx="1015898" cy="698602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 w="17780">
            <a:solidFill>
              <a:srgbClr val="0070C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7494" y="2648102"/>
            <a:ext cx="2542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888797" y="2812694"/>
            <a:ext cx="101589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88797" y="3041294"/>
            <a:ext cx="10158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+ state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1904695" y="2920594"/>
            <a:ext cx="381305" cy="0"/>
          </a:xfrm>
          <a:prstGeom prst="line">
            <a:avLst/>
          </a:prstGeom>
          <a:noFill/>
          <a:ln w="2032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286000" y="2286000"/>
            <a:ext cx="1015898" cy="698602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374697" y="2361895"/>
            <a:ext cx="2542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2286000" y="2527402"/>
            <a:ext cx="101589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286000" y="2756002"/>
            <a:ext cx="10158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context</a:t>
            </a:r>
            <a:endParaRPr lang="en-US" sz="600" dirty="0"/>
          </a:p>
        </p:txBody>
      </p:sp>
      <p:sp>
        <p:nvSpPr>
          <p:cNvPr id="18" name="Shape 14"/>
          <p:cNvSpPr/>
          <p:nvPr/>
        </p:nvSpPr>
        <p:spPr>
          <a:xfrm>
            <a:off x="3301898" y="2635301"/>
            <a:ext cx="381305" cy="0"/>
          </a:xfrm>
          <a:prstGeom prst="line">
            <a:avLst/>
          </a:prstGeom>
          <a:noFill/>
          <a:ln w="2032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683203" y="2572207"/>
            <a:ext cx="1015898" cy="698602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 w="17780">
            <a:solidFill>
              <a:srgbClr val="0070C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71900" y="2648102"/>
            <a:ext cx="2542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3683203" y="2812694"/>
            <a:ext cx="101589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683203" y="3041294"/>
            <a:ext cx="10158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+ guidance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761695" y="3480206"/>
            <a:ext cx="457200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capability chain · no customer-specific implementation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5499202" y="2736799"/>
            <a:ext cx="533095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6032297" y="1777594"/>
            <a:ext cx="4699102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220" kern="0" dirty="0">
                <a:solidFill>
                  <a:srgbClr val="0070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 ARCHITECTURE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6032297" y="2070202"/>
            <a:ext cx="1777594" cy="444398"/>
          </a:xfrm>
          <a:prstGeom prst="rect">
            <a:avLst/>
          </a:prstGeom>
          <a:solidFill>
            <a:srgbClr val="7A8087"/>
          </a:solidFill>
          <a:ln w="12700">
            <a:solidFill>
              <a:srgbClr val="7A808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032297" y="2152498"/>
            <a:ext cx="17775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032297" y="2330806"/>
            <a:ext cx="1777594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Services</a:t>
            </a:r>
            <a:endParaRPr lang="en-US" sz="500" dirty="0"/>
          </a:p>
        </p:txBody>
      </p:sp>
      <p:sp>
        <p:nvSpPr>
          <p:cNvPr id="29" name="Shape 25"/>
          <p:cNvSpPr/>
          <p:nvPr/>
        </p:nvSpPr>
        <p:spPr>
          <a:xfrm>
            <a:off x="6032297" y="2654503"/>
            <a:ext cx="1777594" cy="444398"/>
          </a:xfrm>
          <a:prstGeom prst="rect">
            <a:avLst/>
          </a:prstGeom>
          <a:solidFill>
            <a:srgbClr val="DBEBF8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032297" y="2736799"/>
            <a:ext cx="17775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032297" y="2915107"/>
            <a:ext cx="1777594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Services</a:t>
            </a:r>
            <a:endParaRPr lang="en-US" sz="500" dirty="0"/>
          </a:p>
        </p:txBody>
      </p:sp>
      <p:sp>
        <p:nvSpPr>
          <p:cNvPr id="32" name="Shape 28"/>
          <p:cNvSpPr/>
          <p:nvPr/>
        </p:nvSpPr>
        <p:spPr>
          <a:xfrm>
            <a:off x="6032297" y="3238805"/>
            <a:ext cx="1777594" cy="444398"/>
          </a:xfrm>
          <a:prstGeom prst="rect">
            <a:avLst/>
          </a:prstGeom>
          <a:solidFill>
            <a:srgbClr val="7A8087"/>
          </a:solidFill>
          <a:ln w="12700">
            <a:solidFill>
              <a:srgbClr val="7A808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032297" y="3321101"/>
            <a:ext cx="17775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032297" y="3498494"/>
            <a:ext cx="1777594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Services</a:t>
            </a:r>
            <a:endParaRPr lang="en-US" sz="500" dirty="0"/>
          </a:p>
        </p:txBody>
      </p:sp>
      <p:sp>
        <p:nvSpPr>
          <p:cNvPr id="35" name="Shape 31"/>
          <p:cNvSpPr/>
          <p:nvPr/>
        </p:nvSpPr>
        <p:spPr>
          <a:xfrm>
            <a:off x="8255203" y="2361895"/>
            <a:ext cx="1904695" cy="748894"/>
          </a:xfrm>
          <a:prstGeom prst="roundRect">
            <a:avLst>
              <a:gd name="adj" fmla="val 15263"/>
            </a:avLst>
          </a:prstGeom>
          <a:solidFill>
            <a:srgbClr val="06A84F"/>
          </a:solidFill>
          <a:ln w="38100">
            <a:solidFill>
              <a:srgbClr val="77777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255203" y="2572207"/>
            <a:ext cx="1904695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8255203" y="2844698"/>
            <a:ext cx="19046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7F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product core</a:t>
            </a:r>
            <a:endParaRPr lang="en-US" sz="550" dirty="0"/>
          </a:p>
        </p:txBody>
      </p:sp>
      <p:sp>
        <p:nvSpPr>
          <p:cNvPr id="38" name="Shape 34"/>
          <p:cNvSpPr/>
          <p:nvPr/>
        </p:nvSpPr>
        <p:spPr>
          <a:xfrm>
            <a:off x="10668305" y="2070202"/>
            <a:ext cx="1143000" cy="609905"/>
          </a:xfrm>
          <a:prstGeom prst="rect">
            <a:avLst/>
          </a:prstGeom>
          <a:solidFill>
            <a:srgbClr val="DBEBF8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668305" y="2197303"/>
            <a:ext cx="114300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0668305" y="2419502"/>
            <a:ext cx="1143000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Interface</a:t>
            </a:r>
            <a:endParaRPr lang="en-US" sz="500" dirty="0"/>
          </a:p>
        </p:txBody>
      </p:sp>
      <p:sp>
        <p:nvSpPr>
          <p:cNvPr id="41" name="Shape 37"/>
          <p:cNvSpPr/>
          <p:nvPr/>
        </p:nvSpPr>
        <p:spPr>
          <a:xfrm>
            <a:off x="10668305" y="2946197"/>
            <a:ext cx="1143000" cy="609905"/>
          </a:xfrm>
          <a:prstGeom prst="rect">
            <a:avLst/>
          </a:prstGeom>
          <a:solidFill>
            <a:srgbClr val="7A8087"/>
          </a:solidFill>
          <a:ln w="12700">
            <a:solidFill>
              <a:srgbClr val="7A808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0668305" y="3073298"/>
            <a:ext cx="114300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0668305" y="3295498"/>
            <a:ext cx="1143000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Interface</a:t>
            </a:r>
            <a:endParaRPr lang="en-US" sz="500" dirty="0"/>
          </a:p>
        </p:txBody>
      </p:sp>
      <p:sp>
        <p:nvSpPr>
          <p:cNvPr id="44" name="Shape 40"/>
          <p:cNvSpPr/>
          <p:nvPr/>
        </p:nvSpPr>
        <p:spPr>
          <a:xfrm>
            <a:off x="7810805" y="2292401"/>
            <a:ext cx="444398" cy="444398"/>
          </a:xfrm>
          <a:prstGeom prst="line">
            <a:avLst/>
          </a:prstGeom>
          <a:noFill/>
          <a:ln w="15240">
            <a:solidFill>
              <a:srgbClr val="777777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 flipV="1">
            <a:off x="7810805" y="2736799"/>
            <a:ext cx="444398" cy="139903"/>
          </a:xfrm>
          <a:prstGeom prst="line">
            <a:avLst/>
          </a:prstGeom>
          <a:noFill/>
          <a:ln w="15240">
            <a:solidFill>
              <a:srgbClr val="777777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 flipV="1">
            <a:off x="7810805" y="2736799"/>
            <a:ext cx="444398" cy="724205"/>
          </a:xfrm>
          <a:prstGeom prst="line">
            <a:avLst/>
          </a:prstGeom>
          <a:noFill/>
          <a:ln w="15240">
            <a:solidFill>
              <a:srgbClr val="777777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 flipV="1">
            <a:off x="10159898" y="2374697"/>
            <a:ext cx="508406" cy="362102"/>
          </a:xfrm>
          <a:prstGeom prst="line">
            <a:avLst/>
          </a:prstGeom>
          <a:noFill/>
          <a:ln w="15240">
            <a:solidFill>
              <a:srgbClr val="77777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0159898" y="2736799"/>
            <a:ext cx="508406" cy="514807"/>
          </a:xfrm>
          <a:prstGeom prst="line">
            <a:avLst/>
          </a:prstGeom>
          <a:noFill/>
          <a:ln w="15240">
            <a:solidFill>
              <a:srgbClr val="77777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09905" y="4159606"/>
            <a:ext cx="112014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09905" y="4229100"/>
            <a:ext cx="3301898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220" kern="0" dirty="0">
                <a:solidFill>
                  <a:srgbClr val="0070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FIELD EQUIPMENT LAYER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9207094" y="3111703"/>
            <a:ext cx="0" cy="1358798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143000" y="4470502"/>
            <a:ext cx="10134295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7556602" y="4280306"/>
            <a:ext cx="1460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INTERFACE BUS</a:t>
            </a:r>
            <a:endParaRPr lang="en-US" sz="500" dirty="0"/>
          </a:p>
        </p:txBody>
      </p:sp>
      <p:sp>
        <p:nvSpPr>
          <p:cNvPr id="54" name="Shape 50"/>
          <p:cNvSpPr/>
          <p:nvPr/>
        </p:nvSpPr>
        <p:spPr>
          <a:xfrm>
            <a:off x="1593799" y="4470502"/>
            <a:ext cx="0" cy="241402"/>
          </a:xfrm>
          <a:prstGeom prst="line">
            <a:avLst/>
          </a:prstGeom>
          <a:noFill/>
          <a:ln w="17780">
            <a:solidFill>
              <a:srgbClr val="0070C0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609905" y="4711903"/>
            <a:ext cx="1968703" cy="698602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748894" y="4889297"/>
            <a:ext cx="304495" cy="304495"/>
          </a:xfrm>
          <a:prstGeom prst="roundRect">
            <a:avLst>
              <a:gd name="adj" fmla="val 24925"/>
            </a:avLst>
          </a:prstGeom>
          <a:solidFill>
            <a:srgbClr val="DBEBF8"/>
          </a:solidFill>
          <a:ln/>
        </p:spPr>
      </p:sp>
      <p:sp>
        <p:nvSpPr>
          <p:cNvPr id="57" name="Text 53"/>
          <p:cNvSpPr/>
          <p:nvPr/>
        </p:nvSpPr>
        <p:spPr>
          <a:xfrm>
            <a:off x="1181405" y="4826203"/>
            <a:ext cx="12060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1181405" y="5054803"/>
            <a:ext cx="12060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600" dirty="0"/>
          </a:p>
        </p:txBody>
      </p:sp>
      <p:sp>
        <p:nvSpPr>
          <p:cNvPr id="59" name="Shape 55"/>
          <p:cNvSpPr/>
          <p:nvPr/>
        </p:nvSpPr>
        <p:spPr>
          <a:xfrm>
            <a:off x="3829507" y="4470502"/>
            <a:ext cx="0" cy="241402"/>
          </a:xfrm>
          <a:prstGeom prst="line">
            <a:avLst/>
          </a:prstGeom>
          <a:noFill/>
          <a:ln w="17780">
            <a:solidFill>
              <a:srgbClr val="0070C0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2844698" y="4711903"/>
            <a:ext cx="1968703" cy="698602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 w="25400">
            <a:solidFill>
              <a:srgbClr val="0070C0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984602" y="4889297"/>
            <a:ext cx="304495" cy="304495"/>
          </a:xfrm>
          <a:prstGeom prst="roundRect">
            <a:avLst>
              <a:gd name="adj" fmla="val 24925"/>
            </a:avLst>
          </a:prstGeom>
          <a:solidFill>
            <a:srgbClr val="0070C0"/>
          </a:solidFill>
          <a:ln/>
        </p:spPr>
      </p:sp>
      <p:sp>
        <p:nvSpPr>
          <p:cNvPr id="62" name="Text 58"/>
          <p:cNvSpPr/>
          <p:nvPr/>
        </p:nvSpPr>
        <p:spPr>
          <a:xfrm>
            <a:off x="3416198" y="4826203"/>
            <a:ext cx="12060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3416198" y="5054803"/>
            <a:ext cx="12060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600" dirty="0"/>
          </a:p>
        </p:txBody>
      </p:sp>
      <p:sp>
        <p:nvSpPr>
          <p:cNvPr id="64" name="Shape 60"/>
          <p:cNvSpPr/>
          <p:nvPr/>
        </p:nvSpPr>
        <p:spPr>
          <a:xfrm>
            <a:off x="6064301" y="4470502"/>
            <a:ext cx="0" cy="241402"/>
          </a:xfrm>
          <a:prstGeom prst="line">
            <a:avLst/>
          </a:prstGeom>
          <a:noFill/>
          <a:ln w="17780">
            <a:solidFill>
              <a:srgbClr val="0070C0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080406" y="4711903"/>
            <a:ext cx="1968703" cy="698602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219395" y="4889297"/>
            <a:ext cx="304495" cy="304495"/>
          </a:xfrm>
          <a:prstGeom prst="roundRect">
            <a:avLst>
              <a:gd name="adj" fmla="val 24925"/>
            </a:avLst>
          </a:prstGeom>
          <a:solidFill>
            <a:srgbClr val="DBEBF8"/>
          </a:solidFill>
          <a:ln/>
        </p:spPr>
      </p:sp>
      <p:sp>
        <p:nvSpPr>
          <p:cNvPr id="67" name="Text 63"/>
          <p:cNvSpPr/>
          <p:nvPr/>
        </p:nvSpPr>
        <p:spPr>
          <a:xfrm>
            <a:off x="5651906" y="4826203"/>
            <a:ext cx="12060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5651906" y="5054803"/>
            <a:ext cx="12060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600" dirty="0"/>
          </a:p>
        </p:txBody>
      </p:sp>
      <p:sp>
        <p:nvSpPr>
          <p:cNvPr id="69" name="Shape 65"/>
          <p:cNvSpPr/>
          <p:nvPr/>
        </p:nvSpPr>
        <p:spPr>
          <a:xfrm>
            <a:off x="8299094" y="4470502"/>
            <a:ext cx="0" cy="241402"/>
          </a:xfrm>
          <a:prstGeom prst="line">
            <a:avLst/>
          </a:prstGeom>
          <a:noFill/>
          <a:ln w="17780">
            <a:solidFill>
              <a:srgbClr val="0070C0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315200" y="4711903"/>
            <a:ext cx="1968703" cy="698602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455103" y="4889297"/>
            <a:ext cx="304495" cy="304495"/>
          </a:xfrm>
          <a:prstGeom prst="roundRect">
            <a:avLst>
              <a:gd name="adj" fmla="val 24925"/>
            </a:avLst>
          </a:prstGeom>
          <a:solidFill>
            <a:srgbClr val="DBEBF8"/>
          </a:solidFill>
          <a:ln/>
        </p:spPr>
      </p:sp>
      <p:sp>
        <p:nvSpPr>
          <p:cNvPr id="72" name="Text 68"/>
          <p:cNvSpPr/>
          <p:nvPr/>
        </p:nvSpPr>
        <p:spPr>
          <a:xfrm>
            <a:off x="7886700" y="4826203"/>
            <a:ext cx="12060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WORKSTATIONS</a:t>
            </a:r>
            <a:endParaRPr lang="en-US" sz="900" dirty="0"/>
          </a:p>
        </p:txBody>
      </p:sp>
      <p:sp>
        <p:nvSpPr>
          <p:cNvPr id="73" name="Text 69"/>
          <p:cNvSpPr/>
          <p:nvPr/>
        </p:nvSpPr>
        <p:spPr>
          <a:xfrm>
            <a:off x="7886700" y="5054803"/>
            <a:ext cx="12060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control</a:t>
            </a:r>
            <a:endParaRPr lang="en-US" sz="600" dirty="0"/>
          </a:p>
        </p:txBody>
      </p:sp>
      <p:sp>
        <p:nvSpPr>
          <p:cNvPr id="74" name="Shape 70"/>
          <p:cNvSpPr/>
          <p:nvPr/>
        </p:nvSpPr>
        <p:spPr>
          <a:xfrm>
            <a:off x="10534802" y="4470502"/>
            <a:ext cx="0" cy="241402"/>
          </a:xfrm>
          <a:prstGeom prst="line">
            <a:avLst/>
          </a:prstGeom>
          <a:noFill/>
          <a:ln w="17780">
            <a:solidFill>
              <a:srgbClr val="0070C0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9549994" y="4711903"/>
            <a:ext cx="1968703" cy="698602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9689897" y="4889297"/>
            <a:ext cx="304495" cy="304495"/>
          </a:xfrm>
          <a:prstGeom prst="roundRect">
            <a:avLst>
              <a:gd name="adj" fmla="val 24925"/>
            </a:avLst>
          </a:prstGeom>
          <a:solidFill>
            <a:srgbClr val="DBEBF8"/>
          </a:solidFill>
          <a:ln/>
        </p:spPr>
      </p:sp>
      <p:sp>
        <p:nvSpPr>
          <p:cNvPr id="77" name="Text 73"/>
          <p:cNvSpPr/>
          <p:nvPr/>
        </p:nvSpPr>
        <p:spPr>
          <a:xfrm>
            <a:off x="10121494" y="4826203"/>
            <a:ext cx="12060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GATEWAYS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10121494" y="5054803"/>
            <a:ext cx="12060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600" dirty="0"/>
          </a:p>
        </p:txBody>
      </p:sp>
      <p:sp>
        <p:nvSpPr>
          <p:cNvPr id="79" name="Text 75"/>
          <p:cNvSpPr/>
          <p:nvPr/>
        </p:nvSpPr>
        <p:spPr>
          <a:xfrm>
            <a:off x="609905" y="5639105"/>
            <a:ext cx="112014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 system · clear interfaces · editable public-safe architecture</a:t>
            </a:r>
            <a:endParaRPr lang="en-US" sz="900" dirty="0"/>
          </a:p>
        </p:txBody>
      </p:sp>
      <p:pic>
        <p:nvPicPr>
          <p:cNvPr id="80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Services and Interfaces Stay Separate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Stable product services remain distinct from project-facing interfaces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873606"/>
            <a:ext cx="10972800" cy="381305"/>
          </a:xfrm>
          <a:prstGeom prst="roundRect">
            <a:avLst>
              <a:gd name="adj" fmla="val 23261"/>
            </a:avLst>
          </a:prstGeom>
          <a:solidFill>
            <a:srgbClr val="002060"/>
          </a:solidFill>
          <a:ln/>
        </p:spPr>
      </p:sp>
      <p:sp>
        <p:nvSpPr>
          <p:cNvPr id="8" name="Text 4"/>
          <p:cNvSpPr/>
          <p:nvPr/>
        </p:nvSpPr>
        <p:spPr>
          <a:xfrm>
            <a:off x="761695" y="1923898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APPLICATION INTERFACES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09905" y="2102206"/>
            <a:ext cx="1097280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Planning · Operations · Evidence Consumption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609905" y="2330806"/>
            <a:ext cx="3581705" cy="660197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9905" y="2330806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2" name="Text 8"/>
          <p:cNvSpPr/>
          <p:nvPr/>
        </p:nvSpPr>
        <p:spPr>
          <a:xfrm>
            <a:off x="724205" y="2445106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Planning API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24205" y="2673706"/>
            <a:ext cx="33531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Goals, priorities and constraints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304995" y="2330806"/>
            <a:ext cx="3581705" cy="660197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04995" y="2330806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2"/>
          <p:cNvSpPr/>
          <p:nvPr/>
        </p:nvSpPr>
        <p:spPr>
          <a:xfrm>
            <a:off x="4419295" y="2445106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Operations UI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419295" y="2673706"/>
            <a:ext cx="33531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Tasks, state and confirmations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8001000" y="2330806"/>
            <a:ext cx="3581705" cy="660197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01000" y="2330806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0" name="Text 16"/>
          <p:cNvSpPr/>
          <p:nvPr/>
        </p:nvSpPr>
        <p:spPr>
          <a:xfrm>
            <a:off x="8115300" y="2445106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 API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115300" y="2673706"/>
            <a:ext cx="33531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Events, source and timestamps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609905" y="3079699"/>
            <a:ext cx="10972800" cy="381305"/>
          </a:xfrm>
          <a:prstGeom prst="roundRect">
            <a:avLst>
              <a:gd name="adj" fmla="val 23261"/>
            </a:avLst>
          </a:prstGeom>
          <a:solidFill>
            <a:srgbClr val="00B0F0"/>
          </a:solidFill>
          <a:ln/>
        </p:spPr>
      </p:sp>
      <p:sp>
        <p:nvSpPr>
          <p:cNvPr id="23" name="Text 19"/>
          <p:cNvSpPr/>
          <p:nvPr/>
        </p:nvSpPr>
        <p:spPr>
          <a:xfrm>
            <a:off x="761695" y="3130906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ORCHESTRATION CORE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09905" y="3308299"/>
            <a:ext cx="1097280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Rules · State · Workflow · Versioning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609905" y="3536899"/>
            <a:ext cx="3581705" cy="761695"/>
          </a:xfrm>
          <a:prstGeom prst="roundRect">
            <a:avLst>
              <a:gd name="adj" fmla="val 150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9905" y="3536899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7" name="Text 23"/>
          <p:cNvSpPr/>
          <p:nvPr/>
        </p:nvSpPr>
        <p:spPr>
          <a:xfrm>
            <a:off x="724205" y="3651199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Rule Engine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4205" y="3879799"/>
            <a:ext cx="33531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Evaluates operating conditions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4304995" y="3536899"/>
            <a:ext cx="3581705" cy="761695"/>
          </a:xfrm>
          <a:prstGeom prst="roundRect">
            <a:avLst>
              <a:gd name="adj" fmla="val 15006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304995" y="3536899"/>
            <a:ext cx="3581705" cy="3200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1" name="Text 27"/>
          <p:cNvSpPr/>
          <p:nvPr/>
        </p:nvSpPr>
        <p:spPr>
          <a:xfrm>
            <a:off x="4419295" y="3651199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Workflow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419295" y="3879799"/>
            <a:ext cx="33531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Advances governed state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8001000" y="3536899"/>
            <a:ext cx="3581705" cy="761695"/>
          </a:xfrm>
          <a:prstGeom prst="roundRect">
            <a:avLst>
              <a:gd name="adj" fmla="val 150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001000" y="3536899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5" name="Text 31"/>
          <p:cNvSpPr/>
          <p:nvPr/>
        </p:nvSpPr>
        <p:spPr>
          <a:xfrm>
            <a:off x="8115300" y="3651199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Versioning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115300" y="3879799"/>
            <a:ext cx="33531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Publishes recoverable definitions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609905" y="4388206"/>
            <a:ext cx="10972800" cy="381305"/>
          </a:xfrm>
          <a:prstGeom prst="roundRect">
            <a:avLst>
              <a:gd name="adj" fmla="val 23261"/>
            </a:avLst>
          </a:prstGeom>
          <a:solidFill>
            <a:srgbClr val="002060"/>
          </a:solidFill>
          <a:ln/>
        </p:spPr>
      </p:sp>
      <p:sp>
        <p:nvSpPr>
          <p:cNvPr id="38" name="Text 34"/>
          <p:cNvSpPr/>
          <p:nvPr/>
        </p:nvSpPr>
        <p:spPr>
          <a:xfrm>
            <a:off x="761695" y="4438498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SUPPORTING SERVICES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9905" y="4616806"/>
            <a:ext cx="1097280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· Identity · Monitoring · Integration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609905" y="4845406"/>
            <a:ext cx="3581705" cy="660197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09905" y="4845406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2" name="Text 38"/>
          <p:cNvSpPr/>
          <p:nvPr/>
        </p:nvSpPr>
        <p:spPr>
          <a:xfrm>
            <a:off x="724205" y="4959706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724205" y="5188306"/>
            <a:ext cx="33531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Models facts and relations</a:t>
            </a:r>
            <a:endParaRPr lang="en-US" sz="700" dirty="0"/>
          </a:p>
        </p:txBody>
      </p:sp>
      <p:sp>
        <p:nvSpPr>
          <p:cNvPr id="44" name="Shape 40"/>
          <p:cNvSpPr/>
          <p:nvPr/>
        </p:nvSpPr>
        <p:spPr>
          <a:xfrm>
            <a:off x="4304995" y="4845406"/>
            <a:ext cx="3581705" cy="660197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4304995" y="4845406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6" name="Text 42"/>
          <p:cNvSpPr/>
          <p:nvPr/>
        </p:nvSpPr>
        <p:spPr>
          <a:xfrm>
            <a:off x="4419295" y="4959706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Identity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4419295" y="5188306"/>
            <a:ext cx="33531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Roles and responsibility</a:t>
            </a:r>
            <a:endParaRPr lang="en-US" sz="700" dirty="0"/>
          </a:p>
        </p:txBody>
      </p:sp>
      <p:sp>
        <p:nvSpPr>
          <p:cNvPr id="48" name="Shape 44"/>
          <p:cNvSpPr/>
          <p:nvPr/>
        </p:nvSpPr>
        <p:spPr>
          <a:xfrm>
            <a:off x="8001000" y="4845406"/>
            <a:ext cx="3581705" cy="660197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8001000" y="4845406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0" name="Text 46"/>
          <p:cNvSpPr/>
          <p:nvPr/>
        </p:nvSpPr>
        <p:spPr>
          <a:xfrm>
            <a:off x="8115300" y="4959706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8115300" y="5188306"/>
            <a:ext cx="33531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Observes state and health</a:t>
            </a:r>
            <a:endParaRPr lang="en-US" sz="700" dirty="0"/>
          </a:p>
        </p:txBody>
      </p:sp>
      <p:pic>
        <p:nvPicPr>
          <p:cNvPr id="52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9588398" y="558698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ARCHLAYERED</a:t>
            </a:r>
            <a:endParaRPr lang="en-US" sz="400" dirty="0"/>
          </a:p>
        </p:txBody>
      </p:sp>
      <p:sp>
        <p:nvSpPr>
          <p:cNvPr id="54" name="Shape 49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55" name="Shape 50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P04</a:t>
            </a:r>
            <a:endParaRPr lang="en-US" sz="450" dirty="0"/>
          </a:p>
        </p:txBody>
      </p:sp>
      <p:sp>
        <p:nvSpPr>
          <p:cNvPr id="57" name="Shape 52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58" name="Text 53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ILLUSTRATION · NOT REAL DEPLOYMENT OR OPERATING DATA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Operations Need Configurable Flow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Configuration changes sequence and policy without changing the shared execution core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561795"/>
            <a:ext cx="57150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CONFIGURABLE TASK FLOW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133295" y="2298802"/>
            <a:ext cx="800100" cy="0"/>
          </a:xfrm>
          <a:prstGeom prst="line">
            <a:avLst/>
          </a:prstGeom>
          <a:noFill/>
          <a:ln w="2540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609905" y="1981505"/>
            <a:ext cx="1473098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09905" y="1981505"/>
            <a:ext cx="38405" cy="63459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1" name="Text 7"/>
          <p:cNvSpPr/>
          <p:nvPr/>
        </p:nvSpPr>
        <p:spPr>
          <a:xfrm>
            <a:off x="748894" y="2133295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Receive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48894" y="2349094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goal + scope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4508906" y="2298802"/>
            <a:ext cx="800100" cy="0"/>
          </a:xfrm>
          <a:prstGeom prst="line">
            <a:avLst/>
          </a:prstGeom>
          <a:noFill/>
          <a:ln w="2540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984602" y="1981505"/>
            <a:ext cx="1473098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984602" y="1981505"/>
            <a:ext cx="38405" cy="63459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2"/>
          <p:cNvSpPr/>
          <p:nvPr/>
        </p:nvSpPr>
        <p:spPr>
          <a:xfrm>
            <a:off x="3124505" y="2133295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Validate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124505" y="2349094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rules + state</a:t>
            </a:r>
            <a:endParaRPr lang="en-US" sz="650" dirty="0"/>
          </a:p>
        </p:txBody>
      </p:sp>
      <p:sp>
        <p:nvSpPr>
          <p:cNvPr id="18" name="Shape 14"/>
          <p:cNvSpPr/>
          <p:nvPr/>
        </p:nvSpPr>
        <p:spPr>
          <a:xfrm>
            <a:off x="6883603" y="2298802"/>
            <a:ext cx="800100" cy="0"/>
          </a:xfrm>
          <a:prstGeom prst="line">
            <a:avLst/>
          </a:prstGeom>
          <a:noFill/>
          <a:ln w="2540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359298" y="1981505"/>
            <a:ext cx="1473098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778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59298" y="1981505"/>
            <a:ext cx="38405" cy="63459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1" name="Text 17"/>
          <p:cNvSpPr/>
          <p:nvPr/>
        </p:nvSpPr>
        <p:spPr>
          <a:xfrm>
            <a:off x="5499202" y="2133295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Allocate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499202" y="2349094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resource + role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9258300" y="2298802"/>
            <a:ext cx="800100" cy="0"/>
          </a:xfrm>
          <a:prstGeom prst="line">
            <a:avLst/>
          </a:prstGeom>
          <a:noFill/>
          <a:ln w="2540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7733995" y="1981505"/>
            <a:ext cx="1473098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733995" y="1981505"/>
            <a:ext cx="38405" cy="63459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6" name="Text 22"/>
          <p:cNvSpPr/>
          <p:nvPr/>
        </p:nvSpPr>
        <p:spPr>
          <a:xfrm>
            <a:off x="7873898" y="2133295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Execute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873898" y="2349094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action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10109606" y="1981505"/>
            <a:ext cx="1473098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10109606" y="1981505"/>
            <a:ext cx="38405" cy="63459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0" name="Text 26"/>
          <p:cNvSpPr/>
          <p:nvPr/>
        </p:nvSpPr>
        <p:spPr>
          <a:xfrm>
            <a:off x="10248595" y="2133295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0248595" y="2349094"/>
            <a:ext cx="12188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 + receipt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609905" y="3073298"/>
            <a:ext cx="57150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WORKFLOW DEFINITION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9905" y="3480206"/>
            <a:ext cx="2628900" cy="1574597"/>
          </a:xfrm>
          <a:prstGeom prst="roundRect">
            <a:avLst>
              <a:gd name="adj" fmla="val 72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09905" y="3480206"/>
            <a:ext cx="2628900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5" name="Text 31"/>
          <p:cNvSpPr/>
          <p:nvPr/>
        </p:nvSpPr>
        <p:spPr>
          <a:xfrm>
            <a:off x="761695" y="3657600"/>
            <a:ext cx="23244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 Model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761695" y="3949294"/>
            <a:ext cx="23244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761695" y="4317797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Objects, inputs and expected outputs.</a:t>
            </a:r>
            <a:endParaRPr lang="en-US" sz="700" dirty="0"/>
          </a:p>
        </p:txBody>
      </p:sp>
      <p:sp>
        <p:nvSpPr>
          <p:cNvPr id="38" name="Shape 34"/>
          <p:cNvSpPr/>
          <p:nvPr/>
        </p:nvSpPr>
        <p:spPr>
          <a:xfrm>
            <a:off x="3390595" y="3480206"/>
            <a:ext cx="2628900" cy="1574597"/>
          </a:xfrm>
          <a:prstGeom prst="roundRect">
            <a:avLst>
              <a:gd name="adj" fmla="val 72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3390595" y="3480206"/>
            <a:ext cx="2628900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0" name="Text 36"/>
          <p:cNvSpPr/>
          <p:nvPr/>
        </p:nvSpPr>
        <p:spPr>
          <a:xfrm>
            <a:off x="3543300" y="3657600"/>
            <a:ext cx="23244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Rules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3543300" y="3949294"/>
            <a:ext cx="23244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3543300" y="4317797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Conditions, priorities and blocking states.</a:t>
            </a:r>
            <a:endParaRPr lang="en-US" sz="700" dirty="0"/>
          </a:p>
        </p:txBody>
      </p:sp>
      <p:sp>
        <p:nvSpPr>
          <p:cNvPr id="43" name="Shape 39"/>
          <p:cNvSpPr/>
          <p:nvPr/>
        </p:nvSpPr>
        <p:spPr>
          <a:xfrm>
            <a:off x="6172200" y="3480206"/>
            <a:ext cx="2628900" cy="1574597"/>
          </a:xfrm>
          <a:prstGeom prst="roundRect">
            <a:avLst>
              <a:gd name="adj" fmla="val 72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172200" y="3480206"/>
            <a:ext cx="2628900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5" name="Text 41"/>
          <p:cNvSpPr/>
          <p:nvPr/>
        </p:nvSpPr>
        <p:spPr>
          <a:xfrm>
            <a:off x="6324905" y="3657600"/>
            <a:ext cx="23244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Services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6324905" y="3949294"/>
            <a:ext cx="23244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6324905" y="4317797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Reusable execution and evidence services.</a:t>
            </a:r>
            <a:endParaRPr lang="en-US" sz="700" dirty="0"/>
          </a:p>
        </p:txBody>
      </p:sp>
      <p:sp>
        <p:nvSpPr>
          <p:cNvPr id="48" name="Shape 44"/>
          <p:cNvSpPr/>
          <p:nvPr/>
        </p:nvSpPr>
        <p:spPr>
          <a:xfrm>
            <a:off x="8953805" y="3480206"/>
            <a:ext cx="2628900" cy="1574597"/>
          </a:xfrm>
          <a:prstGeom prst="roundRect">
            <a:avLst>
              <a:gd name="adj" fmla="val 72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8953805" y="3480206"/>
            <a:ext cx="2628900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0" name="Text 46"/>
          <p:cNvSpPr/>
          <p:nvPr/>
        </p:nvSpPr>
        <p:spPr>
          <a:xfrm>
            <a:off x="9105595" y="3657600"/>
            <a:ext cx="23244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Roles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9105595" y="3949294"/>
            <a:ext cx="23244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9105595" y="4317797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Responsibility, confirmation and override.</a:t>
            </a:r>
            <a:endParaRPr lang="en-US" sz="700" dirty="0"/>
          </a:p>
        </p:txBody>
      </p:sp>
      <p:sp>
        <p:nvSpPr>
          <p:cNvPr id="53" name="Shape 49"/>
          <p:cNvSpPr/>
          <p:nvPr/>
        </p:nvSpPr>
        <p:spPr>
          <a:xfrm>
            <a:off x="609905" y="5587898"/>
            <a:ext cx="10972800" cy="418795"/>
          </a:xfrm>
          <a:prstGeom prst="roundRect">
            <a:avLst>
              <a:gd name="adj" fmla="val 2117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12902" y="5702198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WORKFLOW EXAMPLE · NOT A REAL CUSTOMER CONFIGURATION</a:t>
            </a:r>
            <a:endParaRPr lang="en-US" sz="800" dirty="0"/>
          </a:p>
        </p:txBody>
      </p:sp>
      <p:pic>
        <p:nvPicPr>
          <p:cNvPr id="55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9588398" y="558698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WORKFLOWCONFIG</a:t>
            </a:r>
            <a:endParaRPr lang="en-US" sz="400" dirty="0"/>
          </a:p>
        </p:txBody>
      </p:sp>
      <p:sp>
        <p:nvSpPr>
          <p:cNvPr id="57" name="Shape 52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58" name="Shape 53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P05</a:t>
            </a:r>
            <a:endParaRPr lang="en-US" sz="450" dirty="0"/>
          </a:p>
        </p:txBody>
      </p:sp>
      <p:sp>
        <p:nvSpPr>
          <p:cNvPr id="60" name="Shape 55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61" name="Text 56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ILLUSTRATION · NOT REAL DEPLOYMENT OR OPERATING DATA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Process Governs Model Releases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neutral editable workbench replaces source UI while preserving the evidence layout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587398"/>
            <a:ext cx="2361895" cy="3810305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09905" y="1587398"/>
            <a:ext cx="2361895" cy="317297"/>
          </a:xfrm>
          <a:prstGeom prst="roundRect">
            <a:avLst>
              <a:gd name="adj" fmla="val 27954"/>
            </a:avLst>
          </a:prstGeom>
          <a:solidFill>
            <a:srgbClr val="002060"/>
          </a:solidFill>
          <a:ln/>
        </p:spPr>
      </p:sp>
      <p:sp>
        <p:nvSpPr>
          <p:cNvPr id="9" name="Text 5"/>
          <p:cNvSpPr/>
          <p:nvPr/>
        </p:nvSpPr>
        <p:spPr>
          <a:xfrm>
            <a:off x="609905" y="1669694"/>
            <a:ext cx="23618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对象树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61695" y="2115007"/>
            <a:ext cx="51206" cy="512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11" name="Text 7"/>
          <p:cNvSpPr/>
          <p:nvPr/>
        </p:nvSpPr>
        <p:spPr>
          <a:xfrm>
            <a:off x="888797" y="2057400"/>
            <a:ext cx="1917497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Model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88797" y="2234794"/>
            <a:ext cx="1917497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tasks + roles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685800" y="2476195"/>
            <a:ext cx="2210105" cy="368503"/>
          </a:xfrm>
          <a:prstGeom prst="roundRect">
            <a:avLst>
              <a:gd name="adj" fmla="val 24069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1695" y="2572207"/>
            <a:ext cx="51206" cy="51206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</p:sp>
      <p:sp>
        <p:nvSpPr>
          <p:cNvPr id="15" name="Text 11"/>
          <p:cNvSpPr/>
          <p:nvPr/>
        </p:nvSpPr>
        <p:spPr>
          <a:xfrm>
            <a:off x="888797" y="2514600"/>
            <a:ext cx="1917497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Validate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88797" y="2691994"/>
            <a:ext cx="1917497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rules + paths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761695" y="3029407"/>
            <a:ext cx="51206" cy="512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18" name="Text 14"/>
          <p:cNvSpPr/>
          <p:nvPr/>
        </p:nvSpPr>
        <p:spPr>
          <a:xfrm>
            <a:off x="888797" y="2971800"/>
            <a:ext cx="1917497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Publish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88797" y="3149194"/>
            <a:ext cx="1917497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version + receipt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761695" y="3486607"/>
            <a:ext cx="51206" cy="512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21" name="Text 17"/>
          <p:cNvSpPr/>
          <p:nvPr/>
        </p:nvSpPr>
        <p:spPr>
          <a:xfrm>
            <a:off x="888797" y="3429000"/>
            <a:ext cx="1917497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A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Monitor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88797" y="3606394"/>
            <a:ext cx="1917497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events + health</a:t>
            </a:r>
            <a:endParaRPr lang="en-US" sz="600" dirty="0"/>
          </a:p>
        </p:txBody>
      </p:sp>
      <p:sp>
        <p:nvSpPr>
          <p:cNvPr id="23" name="Shape 19"/>
          <p:cNvSpPr/>
          <p:nvPr/>
        </p:nvSpPr>
        <p:spPr>
          <a:xfrm>
            <a:off x="3124505" y="1587398"/>
            <a:ext cx="5435194" cy="381030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124505" y="1587398"/>
            <a:ext cx="5435194" cy="317297"/>
          </a:xfrm>
          <a:prstGeom prst="roundRect">
            <a:avLst>
              <a:gd name="adj" fmla="val 27954"/>
            </a:avLst>
          </a:prstGeom>
          <a:solidFill>
            <a:srgbClr val="002060"/>
          </a:solidFill>
          <a:ln/>
        </p:spPr>
      </p:sp>
      <p:sp>
        <p:nvSpPr>
          <p:cNvPr id="25" name="Text 21"/>
          <p:cNvSpPr/>
          <p:nvPr/>
        </p:nvSpPr>
        <p:spPr>
          <a:xfrm>
            <a:off x="3124505" y="1669694"/>
            <a:ext cx="5435194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地图预览（OSM 线框 + 作业对象）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276295" y="2057400"/>
            <a:ext cx="5130698" cy="2743200"/>
          </a:xfrm>
          <a:prstGeom prst="roundRect">
            <a:avLst>
              <a:gd name="adj" fmla="val 4167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429000" y="2438705"/>
            <a:ext cx="4826203" cy="0"/>
          </a:xfrm>
          <a:prstGeom prst="line">
            <a:avLst/>
          </a:prstGeom>
          <a:noFill/>
          <a:ln w="38100">
            <a:solidFill>
              <a:srgbClr val="00206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040734" y="3151937"/>
            <a:ext cx="114300" cy="114300"/>
          </a:xfrm>
          <a:prstGeom prst="roundRect">
            <a:avLst>
              <a:gd name="adj" fmla="val 50400"/>
            </a:avLst>
          </a:prstGeom>
          <a:solidFill>
            <a:srgbClr val="002060"/>
          </a:solidFill>
          <a:ln/>
        </p:spPr>
      </p:sp>
      <p:sp>
        <p:nvSpPr>
          <p:cNvPr id="29" name="Text 25"/>
          <p:cNvSpPr/>
          <p:nvPr/>
        </p:nvSpPr>
        <p:spPr>
          <a:xfrm>
            <a:off x="4198925" y="3133649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5169103" y="3151937"/>
            <a:ext cx="114300" cy="114300"/>
          </a:xfrm>
          <a:prstGeom prst="roundRect">
            <a:avLst>
              <a:gd name="adj" fmla="val 50400"/>
            </a:avLst>
          </a:prstGeom>
          <a:solidFill>
            <a:srgbClr val="00B0F0"/>
          </a:solidFill>
          <a:ln/>
        </p:spPr>
      </p:sp>
      <p:sp>
        <p:nvSpPr>
          <p:cNvPr id="31" name="Text 27"/>
          <p:cNvSpPr/>
          <p:nvPr/>
        </p:nvSpPr>
        <p:spPr>
          <a:xfrm>
            <a:off x="5328209" y="3133649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Rule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6400800" y="2768803"/>
            <a:ext cx="114300" cy="114300"/>
          </a:xfrm>
          <a:prstGeom prst="roundRect">
            <a:avLst>
              <a:gd name="adj" fmla="val 50400"/>
            </a:avLst>
          </a:prstGeom>
          <a:solidFill>
            <a:srgbClr val="002060"/>
          </a:solidFill>
          <a:ln/>
        </p:spPr>
      </p:sp>
      <p:sp>
        <p:nvSpPr>
          <p:cNvPr id="33" name="Text 29"/>
          <p:cNvSpPr/>
          <p:nvPr/>
        </p:nvSpPr>
        <p:spPr>
          <a:xfrm>
            <a:off x="6558991" y="2749601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Approve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6400800" y="3700577"/>
            <a:ext cx="114300" cy="114300"/>
          </a:xfrm>
          <a:prstGeom prst="roundRect">
            <a:avLst>
              <a:gd name="adj" fmla="val 50400"/>
            </a:avLst>
          </a:prstGeom>
          <a:solidFill>
            <a:srgbClr val="002060"/>
          </a:solidFill>
          <a:ln/>
        </p:spPr>
      </p:sp>
      <p:sp>
        <p:nvSpPr>
          <p:cNvPr id="35" name="Text 31"/>
          <p:cNvSpPr/>
          <p:nvPr/>
        </p:nvSpPr>
        <p:spPr>
          <a:xfrm>
            <a:off x="6558991" y="3682289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Return</a:t>
            </a:r>
            <a:endParaRPr lang="en-US" sz="650" dirty="0"/>
          </a:p>
        </p:txBody>
      </p:sp>
      <p:sp>
        <p:nvSpPr>
          <p:cNvPr id="36" name="Shape 32"/>
          <p:cNvSpPr/>
          <p:nvPr/>
        </p:nvSpPr>
        <p:spPr>
          <a:xfrm>
            <a:off x="7529170" y="3151937"/>
            <a:ext cx="114300" cy="114300"/>
          </a:xfrm>
          <a:prstGeom prst="roundRect">
            <a:avLst>
              <a:gd name="adj" fmla="val 50400"/>
            </a:avLst>
          </a:prstGeom>
          <a:solidFill>
            <a:srgbClr val="002060"/>
          </a:solidFill>
          <a:ln/>
        </p:spPr>
      </p:sp>
      <p:sp>
        <p:nvSpPr>
          <p:cNvPr id="37" name="Text 33"/>
          <p:cNvSpPr/>
          <p:nvPr/>
        </p:nvSpPr>
        <p:spPr>
          <a:xfrm>
            <a:off x="7688275" y="3133649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Publish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3276295" y="4902098"/>
            <a:ext cx="51306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对象：船舶 · 岸桥 QC · VPB · 锁站 TS · 堆场 · 场桥 YC · 车辆 · 充电位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8712403" y="1587398"/>
            <a:ext cx="2870302" cy="3810305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8712403" y="1587398"/>
            <a:ext cx="2870302" cy="317297"/>
          </a:xfrm>
          <a:prstGeom prst="roundRect">
            <a:avLst>
              <a:gd name="adj" fmla="val 27954"/>
            </a:avLst>
          </a:prstGeom>
          <a:solidFill>
            <a:srgbClr val="00B0F0"/>
          </a:solidFill>
          <a:ln/>
        </p:spPr>
      </p:sp>
      <p:sp>
        <p:nvSpPr>
          <p:cNvPr id="41" name="Text 37"/>
          <p:cNvSpPr/>
          <p:nvPr/>
        </p:nvSpPr>
        <p:spPr>
          <a:xfrm>
            <a:off x="8712403" y="1669694"/>
            <a:ext cx="28703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属性卡 · 当前选中对象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8876995" y="2083003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Selected Node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8876995" y="2247595"/>
            <a:ext cx="25402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Validation Rule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876995" y="2488997"/>
            <a:ext cx="2540203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76995" y="2616098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Input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8876995" y="2781605"/>
            <a:ext cx="25402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+ Constraint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8876995" y="3023006"/>
            <a:ext cx="2540203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876995" y="3149194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Output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8876995" y="3314700"/>
            <a:ext cx="25402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 / Return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8876995" y="3556102"/>
            <a:ext cx="2540203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876995" y="3683203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Owner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8876995" y="3847795"/>
            <a:ext cx="25402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Workflow Maintainer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876995" y="4089197"/>
            <a:ext cx="2540203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876995" y="4216298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Version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8876995" y="4381805"/>
            <a:ext cx="25402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Illustrative v1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8876995" y="4623206"/>
            <a:ext cx="2540203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pic>
        <p:nvPicPr>
          <p:cNvPr id="57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9588398" y="558698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WORKBENCHMOCK</a:t>
            </a:r>
            <a:endParaRPr lang="en-US" sz="400" dirty="0"/>
          </a:p>
        </p:txBody>
      </p:sp>
      <p:sp>
        <p:nvSpPr>
          <p:cNvPr id="59" name="Shape 54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60" name="Shape 55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P06</a:t>
            </a:r>
            <a:endParaRPr lang="en-US" sz="450" dirty="0"/>
          </a:p>
        </p:txBody>
      </p:sp>
      <p:sp>
        <p:nvSpPr>
          <p:cNvPr id="62" name="Shape 57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63" name="Text 58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ILLUSTRATION · NOT REAL DEPLOYMENT OR OPERATING DATA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Planning Uses Five Explicit Stages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stage produces inspectable evidence before the next decision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707185" y="3187598"/>
            <a:ext cx="8778240" cy="0"/>
          </a:xfrm>
          <a:prstGeom prst="line">
            <a:avLst/>
          </a:prstGeom>
          <a:noFill/>
          <a:ln w="25400">
            <a:solidFill>
              <a:srgbClr val="D8E0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97380" y="3187598"/>
            <a:ext cx="1813255" cy="0"/>
          </a:xfrm>
          <a:prstGeom prst="line">
            <a:avLst/>
          </a:prstGeom>
          <a:noFill/>
          <a:ln w="1778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711403" y="1891894"/>
            <a:ext cx="1991563" cy="1003097"/>
          </a:xfrm>
          <a:prstGeom prst="roundRect">
            <a:avLst>
              <a:gd name="adj" fmla="val 1139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11403" y="1891894"/>
            <a:ext cx="1991563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1" name="Text 7"/>
          <p:cNvSpPr/>
          <p:nvPr/>
        </p:nvSpPr>
        <p:spPr>
          <a:xfrm>
            <a:off x="812902" y="2018995"/>
            <a:ext cx="178856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Ingest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12902" y="2247595"/>
            <a:ext cx="178856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geometry, task and current state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1707185" y="2895905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56728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15" name="Text 11"/>
          <p:cNvSpPr/>
          <p:nvPr/>
        </p:nvSpPr>
        <p:spPr>
          <a:xfrm>
            <a:off x="156728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091940" y="3187598"/>
            <a:ext cx="1813255" cy="0"/>
          </a:xfrm>
          <a:prstGeom prst="line">
            <a:avLst/>
          </a:prstGeom>
          <a:noFill/>
          <a:ln w="1778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2905963" y="3480206"/>
            <a:ext cx="1991563" cy="1003097"/>
          </a:xfrm>
          <a:prstGeom prst="roundRect">
            <a:avLst>
              <a:gd name="adj" fmla="val 1139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905963" y="3480206"/>
            <a:ext cx="1991563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9" name="Text 15"/>
          <p:cNvSpPr/>
          <p:nvPr/>
        </p:nvSpPr>
        <p:spPr>
          <a:xfrm>
            <a:off x="3007462" y="3606394"/>
            <a:ext cx="178856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007462" y="3834994"/>
            <a:ext cx="178856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space and operating windows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3901745" y="3187598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76184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23" name="Text 19"/>
          <p:cNvSpPr/>
          <p:nvPr/>
        </p:nvSpPr>
        <p:spPr>
          <a:xfrm>
            <a:off x="376184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286500" y="3187598"/>
            <a:ext cx="1813255" cy="0"/>
          </a:xfrm>
          <a:prstGeom prst="line">
            <a:avLst/>
          </a:prstGeom>
          <a:noFill/>
          <a:ln w="1778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100523" y="1891894"/>
            <a:ext cx="1991563" cy="1003097"/>
          </a:xfrm>
          <a:prstGeom prst="roundRect">
            <a:avLst>
              <a:gd name="adj" fmla="val 1139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100523" y="1891894"/>
            <a:ext cx="1991563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7" name="Text 23"/>
          <p:cNvSpPr/>
          <p:nvPr/>
        </p:nvSpPr>
        <p:spPr>
          <a:xfrm>
            <a:off x="5202022" y="2018995"/>
            <a:ext cx="178856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Generate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202022" y="2247595"/>
            <a:ext cx="178856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 feasible candidates</a:t>
            </a:r>
            <a:endParaRPr lang="en-US" sz="650" dirty="0"/>
          </a:p>
        </p:txBody>
      </p:sp>
      <p:sp>
        <p:nvSpPr>
          <p:cNvPr id="29" name="Shape 25"/>
          <p:cNvSpPr/>
          <p:nvPr/>
        </p:nvSpPr>
        <p:spPr>
          <a:xfrm>
            <a:off x="6096305" y="2895905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95640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31" name="Text 27"/>
          <p:cNvSpPr/>
          <p:nvPr/>
        </p:nvSpPr>
        <p:spPr>
          <a:xfrm>
            <a:off x="595640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481060" y="3187598"/>
            <a:ext cx="1813255" cy="0"/>
          </a:xfrm>
          <a:prstGeom prst="line">
            <a:avLst/>
          </a:prstGeom>
          <a:noFill/>
          <a:ln w="1778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7295083" y="3480206"/>
            <a:ext cx="1991563" cy="1003097"/>
          </a:xfrm>
          <a:prstGeom prst="roundRect">
            <a:avLst>
              <a:gd name="adj" fmla="val 11395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295083" y="3480206"/>
            <a:ext cx="1991563" cy="3200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5" name="Text 31"/>
          <p:cNvSpPr/>
          <p:nvPr/>
        </p:nvSpPr>
        <p:spPr>
          <a:xfrm>
            <a:off x="7396582" y="3606394"/>
            <a:ext cx="178856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Arbitrate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7396582" y="3834994"/>
            <a:ext cx="178856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compare conflicts and priorities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8290865" y="3187598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15096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</p:sp>
      <p:sp>
        <p:nvSpPr>
          <p:cNvPr id="39" name="Text 35"/>
          <p:cNvSpPr/>
          <p:nvPr/>
        </p:nvSpPr>
        <p:spPr>
          <a:xfrm>
            <a:off x="815096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9489643" y="1891894"/>
            <a:ext cx="1991563" cy="1003097"/>
          </a:xfrm>
          <a:prstGeom prst="roundRect">
            <a:avLst>
              <a:gd name="adj" fmla="val 1139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9489643" y="1891894"/>
            <a:ext cx="1991563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2" name="Text 38"/>
          <p:cNvSpPr/>
          <p:nvPr/>
        </p:nvSpPr>
        <p:spPr>
          <a:xfrm>
            <a:off x="9591142" y="2018995"/>
            <a:ext cx="178856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Publish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9591142" y="2247595"/>
            <a:ext cx="178856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emit task, rationale and version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10485425" y="2895905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034552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46" name="Text 42"/>
          <p:cNvSpPr/>
          <p:nvPr/>
        </p:nvSpPr>
        <p:spPr>
          <a:xfrm>
            <a:off x="1034552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09905" y="5613502"/>
            <a:ext cx="10972800" cy="418795"/>
          </a:xfrm>
          <a:prstGeom prst="roundRect">
            <a:avLst>
              <a:gd name="adj" fmla="val 2117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12902" y="5727802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TECHNICAL FLOW · NOT A REAL PLANNING ALGORITHM OR DEPLOYMENT</a:t>
            </a:r>
            <a:endParaRPr lang="en-US" sz="800" dirty="0"/>
          </a:p>
        </p:txBody>
      </p:sp>
      <p:pic>
        <p:nvPicPr>
          <p:cNvPr id="49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9588398" y="558698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PROCESSTIMELINE</a:t>
            </a:r>
            <a:endParaRPr lang="en-US" sz="400" dirty="0"/>
          </a:p>
        </p:txBody>
      </p:sp>
      <p:sp>
        <p:nvSpPr>
          <p:cNvPr id="51" name="Shape 46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52" name="Shape 47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P07</a:t>
            </a:r>
            <a:endParaRPr lang="en-US" sz="450" dirty="0"/>
          </a:p>
        </p:txBody>
      </p:sp>
      <p:sp>
        <p:nvSpPr>
          <p:cNvPr id="54" name="Shape 49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55" name="Text 50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ILLUSTRATION · NOT REAL DEPLOYMENT OR OPERATING DATA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Planning Evidence Combines Four Signals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single screenshot is treated as proof; each artifact answers a different validation question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90295" y="1746504"/>
            <a:ext cx="3174797" cy="1079906"/>
          </a:xfrm>
          <a:prstGeom prst="roundRect">
            <a:avLst>
              <a:gd name="adj" fmla="val 10584"/>
            </a:avLst>
          </a:prstGeom>
          <a:solidFill>
            <a:srgbClr val="E5F5FD"/>
          </a:solidFill>
          <a:ln w="1905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194206" y="2294230"/>
            <a:ext cx="330098" cy="97841"/>
          </a:xfrm>
          <a:prstGeom prst="roundRect">
            <a:avLst>
              <a:gd name="adj" fmla="val 23364"/>
            </a:avLst>
          </a:prstGeom>
          <a:ln w="20320">
            <a:solidFill>
              <a:srgbClr val="00B0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94206" y="2196389"/>
            <a:ext cx="330098" cy="97841"/>
          </a:xfrm>
          <a:prstGeom prst="roundRect">
            <a:avLst>
              <a:gd name="adj" fmla="val 23364"/>
            </a:avLst>
          </a:prstGeom>
          <a:ln w="20320">
            <a:solidFill>
              <a:srgbClr val="00B0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94206" y="2098548"/>
            <a:ext cx="330098" cy="97841"/>
          </a:xfrm>
          <a:prstGeom prst="roundRect">
            <a:avLst>
              <a:gd name="adj" fmla="val 23364"/>
            </a:avLst>
          </a:prstGeom>
          <a:ln w="20320">
            <a:solidFill>
              <a:srgbClr val="00B0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727302" y="2000707"/>
            <a:ext cx="22229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727302" y="2266798"/>
            <a:ext cx="2222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can the object move?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508906" y="1746504"/>
            <a:ext cx="3174797" cy="1079906"/>
          </a:xfrm>
          <a:prstGeom prst="roundRect">
            <a:avLst>
              <a:gd name="adj" fmla="val 1058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11903" y="2076602"/>
            <a:ext cx="330098" cy="330098"/>
          </a:xfrm>
          <a:prstGeom prst="roundRect">
            <a:avLst>
              <a:gd name="adj" fmla="val 21884"/>
            </a:avLst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47565" y="2162556"/>
            <a:ext cx="258775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OK</a:t>
            </a:r>
            <a:endParaRPr lang="en-US" sz="1130" dirty="0"/>
          </a:p>
        </p:txBody>
      </p:sp>
      <p:sp>
        <p:nvSpPr>
          <p:cNvPr id="16" name="Text 12"/>
          <p:cNvSpPr/>
          <p:nvPr/>
        </p:nvSpPr>
        <p:spPr>
          <a:xfrm>
            <a:off x="5244998" y="2000707"/>
            <a:ext cx="22229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Constraints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244998" y="2266798"/>
            <a:ext cx="2222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states are infeasible?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8026603" y="1746504"/>
            <a:ext cx="3174797" cy="1079906"/>
          </a:xfrm>
          <a:prstGeom prst="roundRect">
            <a:avLst>
              <a:gd name="adj" fmla="val 1058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0" y="2076602"/>
            <a:ext cx="330098" cy="330098"/>
          </a:xfrm>
          <a:prstGeom prst="ellipse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70748" y="2131466"/>
            <a:ext cx="24780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7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2167" dirty="0"/>
          </a:p>
        </p:txBody>
      </p:sp>
      <p:sp>
        <p:nvSpPr>
          <p:cNvPr id="21" name="Text 17"/>
          <p:cNvSpPr/>
          <p:nvPr/>
        </p:nvSpPr>
        <p:spPr>
          <a:xfrm>
            <a:off x="8762695" y="2000707"/>
            <a:ext cx="22229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Candidates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762695" y="2266798"/>
            <a:ext cx="2222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alternatives were generated?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990295" y="3054096"/>
            <a:ext cx="3174797" cy="1079906"/>
          </a:xfrm>
          <a:prstGeom prst="roundRect">
            <a:avLst>
              <a:gd name="adj" fmla="val 1058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1232611" y="3578962"/>
            <a:ext cx="58522" cy="87782"/>
          </a:xfrm>
          <a:prstGeom prst="rect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329538" y="3510382"/>
            <a:ext cx="58522" cy="155448"/>
          </a:xfrm>
          <a:prstGeom prst="rect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426464" y="3442716"/>
            <a:ext cx="58522" cy="223114"/>
          </a:xfrm>
          <a:prstGeom prst="rect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94206" y="3665830"/>
            <a:ext cx="330098" cy="0"/>
          </a:xfrm>
          <a:prstGeom prst="line">
            <a:avLst/>
          </a:prstGeom>
          <a:noFill/>
          <a:ln w="20320">
            <a:solidFill>
              <a:srgbClr val="00206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727302" y="3308299"/>
            <a:ext cx="22229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727302" y="3575304"/>
            <a:ext cx="2222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does logic behave over time?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4508906" y="3054096"/>
            <a:ext cx="3174797" cy="1079906"/>
          </a:xfrm>
          <a:prstGeom prst="roundRect">
            <a:avLst>
              <a:gd name="adj" fmla="val 1058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37506" y="3384194"/>
            <a:ext cx="279806" cy="330098"/>
          </a:xfrm>
          <a:prstGeom prst="roundRect">
            <a:avLst>
              <a:gd name="adj" fmla="val 11438"/>
            </a:avLst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800600" y="3504895"/>
            <a:ext cx="152705" cy="0"/>
          </a:xfrm>
          <a:prstGeom prst="line">
            <a:avLst/>
          </a:prstGeom>
          <a:noFill/>
          <a:ln w="20320">
            <a:solidFill>
              <a:srgbClr val="00206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00600" y="3588106"/>
            <a:ext cx="152705" cy="0"/>
          </a:xfrm>
          <a:prstGeom prst="line">
            <a:avLst/>
          </a:prstGeom>
          <a:noFill/>
          <a:ln w="20320">
            <a:solidFill>
              <a:srgbClr val="00206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244998" y="3308299"/>
            <a:ext cx="22229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Events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5244998" y="3575304"/>
            <a:ext cx="2222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branch or recovery fired?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8026603" y="3054096"/>
            <a:ext cx="3174797" cy="1079906"/>
          </a:xfrm>
          <a:prstGeom prst="roundRect">
            <a:avLst>
              <a:gd name="adj" fmla="val 1058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229600" y="3384194"/>
            <a:ext cx="330098" cy="330098"/>
          </a:xfrm>
          <a:prstGeom prst="ellipse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297266" y="3451860"/>
            <a:ext cx="194767" cy="194767"/>
          </a:xfrm>
          <a:prstGeom prst="ellipse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357616" y="3512210"/>
            <a:ext cx="74981" cy="74981"/>
          </a:xfrm>
          <a:prstGeom prst="ellipse">
            <a:avLst/>
          </a:prstGeom>
          <a:ln/>
        </p:spPr>
      </p:sp>
      <p:sp>
        <p:nvSpPr>
          <p:cNvPr id="40" name="Text 36"/>
          <p:cNvSpPr/>
          <p:nvPr/>
        </p:nvSpPr>
        <p:spPr>
          <a:xfrm>
            <a:off x="8762695" y="3308299"/>
            <a:ext cx="22229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8762695" y="3575304"/>
            <a:ext cx="2222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remains to be tested on site?</a:t>
            </a:r>
            <a:endParaRPr lang="en-US" sz="700" dirty="0"/>
          </a:p>
        </p:txBody>
      </p:sp>
      <p:pic>
        <p:nvPicPr>
          <p:cNvPr id="42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9588398" y="254203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SCENARIOBANKGRID</a:t>
            </a:r>
            <a:endParaRPr lang="en-US" sz="400" dirty="0"/>
          </a:p>
        </p:txBody>
      </p:sp>
      <p:sp>
        <p:nvSpPr>
          <p:cNvPr id="44" name="Shape 39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45" name="Shape 40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P08</a:t>
            </a:r>
            <a:endParaRPr lang="en-US" sz="450" dirty="0"/>
          </a:p>
        </p:txBody>
      </p:sp>
      <p:sp>
        <p:nvSpPr>
          <p:cNvPr id="47" name="Shape 42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48" name="Text 43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ILLUSTRATION · NOT REAL DEPLOYMENT OR OPERATING DATA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Control Events Stay Visible in Trends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shape and event timing are interpreted together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761695" y="1505102"/>
          <a:ext cx="10668305" cy="39556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3"/>
          <p:cNvSpPr/>
          <p:nvPr/>
        </p:nvSpPr>
        <p:spPr>
          <a:xfrm>
            <a:off x="609905" y="5512003"/>
            <a:ext cx="10972800" cy="418795"/>
          </a:xfrm>
          <a:prstGeom prst="roundRect">
            <a:avLst>
              <a:gd name="adj" fmla="val 2117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2902" y="5626303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ILLUSTRATIVE SERIES · VALUES AND EVENTS DO NOT REPRESENT REAL EQUIPMENT PERFORMANCE</a:t>
            </a:r>
            <a:endParaRPr lang="en-US" sz="800" dirty="0"/>
          </a:p>
        </p:txBody>
      </p:sp>
      <p:pic>
        <p:nvPicPr>
          <p:cNvPr id="10" name="Image 1" descr="theme/assets/footer-westw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88398" y="558698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LINECHART</a:t>
            </a:r>
            <a:endParaRPr lang="en-US" sz="400" dirty="0"/>
          </a:p>
        </p:txBody>
      </p:sp>
      <p:sp>
        <p:nvSpPr>
          <p:cNvPr id="12" name="Shape 6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13" name="Shape 7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P09</a:t>
            </a:r>
            <a:endParaRPr lang="en-US" sz="450" dirty="0"/>
          </a:p>
        </p:txBody>
      </p:sp>
      <p:sp>
        <p:nvSpPr>
          <p:cNvPr id="15" name="Shape 9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16" name="Text 10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ILLUSTRATION · NOT REAL DEPLOYMENT OR OPERATING DATA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Recovery Needs Clear Boundaries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Recovery changes local state first, then propagates only verified impact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953305" y="2863901"/>
            <a:ext cx="2286000" cy="875995"/>
          </a:xfrm>
          <a:prstGeom prst="roundRect">
            <a:avLst>
              <a:gd name="adj" fmla="val 13048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143500" y="3086100"/>
            <a:ext cx="1904695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RECOVERY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BOUNDARY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81905" y="3377794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propagation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 flipH="1" flipV="1">
            <a:off x="3079699" y="2018995"/>
            <a:ext cx="1873606" cy="1282903"/>
          </a:xfrm>
          <a:prstGeom prst="line">
            <a:avLst/>
          </a:prstGeom>
          <a:noFill/>
          <a:ln w="13970">
            <a:solidFill>
              <a:srgbClr val="D8E0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" y="1727302"/>
            <a:ext cx="1968703" cy="584302"/>
          </a:xfrm>
          <a:prstGeom prst="roundRect">
            <a:avLst>
              <a:gd name="adj" fmla="val 195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212494" y="1854403"/>
            <a:ext cx="330098" cy="330098"/>
          </a:xfrm>
          <a:prstGeom prst="ellipse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80160" y="1922069"/>
            <a:ext cx="194767" cy="194767"/>
          </a:xfrm>
          <a:prstGeom prst="ellipse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40510" y="1981505"/>
            <a:ext cx="74981" cy="74981"/>
          </a:xfrm>
          <a:prstGeom prst="ellipse">
            <a:avLst/>
          </a:prstGeom>
          <a:ln/>
        </p:spPr>
      </p:sp>
      <p:sp>
        <p:nvSpPr>
          <p:cNvPr id="15" name="Text 11"/>
          <p:cNvSpPr/>
          <p:nvPr/>
        </p:nvSpPr>
        <p:spPr>
          <a:xfrm>
            <a:off x="1645006" y="1880006"/>
            <a:ext cx="1282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645006" y="2070202"/>
            <a:ext cx="12829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observe state loss</a:t>
            </a:r>
            <a:endParaRPr lang="en-US" sz="580" dirty="0"/>
          </a:p>
        </p:txBody>
      </p:sp>
      <p:sp>
        <p:nvSpPr>
          <p:cNvPr id="17" name="Shape 13"/>
          <p:cNvSpPr/>
          <p:nvPr/>
        </p:nvSpPr>
        <p:spPr>
          <a:xfrm flipV="1">
            <a:off x="6096305" y="2057400"/>
            <a:ext cx="0" cy="806501"/>
          </a:xfrm>
          <a:prstGeom prst="line">
            <a:avLst/>
          </a:prstGeom>
          <a:noFill/>
          <a:ln w="20320">
            <a:solidFill>
              <a:srgbClr val="00B0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11496" y="1473098"/>
            <a:ext cx="1968703" cy="584302"/>
          </a:xfrm>
          <a:prstGeom prst="roundRect">
            <a:avLst>
              <a:gd name="adj" fmla="val 19562"/>
            </a:avLst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12994" y="1600200"/>
            <a:ext cx="330098" cy="330098"/>
          </a:xfrm>
          <a:prstGeom prst="roundRect">
            <a:avLst>
              <a:gd name="adj" fmla="val 21884"/>
            </a:avLst>
          </a:prstGeom>
          <a:ln w="20320">
            <a:solidFill>
              <a:srgbClr val="00B0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49570" y="1686154"/>
            <a:ext cx="258775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OK</a:t>
            </a:r>
            <a:endParaRPr lang="en-US" sz="1130" dirty="0"/>
          </a:p>
        </p:txBody>
      </p:sp>
      <p:sp>
        <p:nvSpPr>
          <p:cNvPr id="21" name="Text 17"/>
          <p:cNvSpPr/>
          <p:nvPr/>
        </p:nvSpPr>
        <p:spPr>
          <a:xfrm>
            <a:off x="5645506" y="1625803"/>
            <a:ext cx="1282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Isolate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645506" y="1815998"/>
            <a:ext cx="12829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stop unsafe propagation</a:t>
            </a:r>
            <a:endParaRPr lang="en-US" sz="580" dirty="0"/>
          </a:p>
        </p:txBody>
      </p:sp>
      <p:sp>
        <p:nvSpPr>
          <p:cNvPr id="23" name="Shape 19"/>
          <p:cNvSpPr/>
          <p:nvPr/>
        </p:nvSpPr>
        <p:spPr>
          <a:xfrm flipV="1">
            <a:off x="7239305" y="2018995"/>
            <a:ext cx="1873606" cy="1282903"/>
          </a:xfrm>
          <a:prstGeom prst="line">
            <a:avLst/>
          </a:prstGeom>
          <a:noFill/>
          <a:ln w="13970">
            <a:solidFill>
              <a:srgbClr val="D8E0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111996" y="1727302"/>
            <a:ext cx="1968703" cy="584302"/>
          </a:xfrm>
          <a:prstGeom prst="roundRect">
            <a:avLst>
              <a:gd name="adj" fmla="val 195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252814" y="2048256"/>
            <a:ext cx="58522" cy="87782"/>
          </a:xfrm>
          <a:prstGeom prst="rect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349740" y="1980590"/>
            <a:ext cx="58522" cy="155448"/>
          </a:xfrm>
          <a:prstGeom prst="rect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446666" y="1912925"/>
            <a:ext cx="58522" cy="223114"/>
          </a:xfrm>
          <a:prstGeom prst="rect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213494" y="2136038"/>
            <a:ext cx="330098" cy="0"/>
          </a:xfrm>
          <a:prstGeom prst="line">
            <a:avLst/>
          </a:prstGeom>
          <a:noFill/>
          <a:ln w="20320">
            <a:solidFill>
              <a:srgbClr val="00206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646006" y="1880006"/>
            <a:ext cx="1282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Recompute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646006" y="2070202"/>
            <a:ext cx="12829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generate local alternatives</a:t>
            </a:r>
            <a:endParaRPr lang="en-US" sz="580" dirty="0"/>
          </a:p>
        </p:txBody>
      </p:sp>
      <p:sp>
        <p:nvSpPr>
          <p:cNvPr id="31" name="Shape 27"/>
          <p:cNvSpPr/>
          <p:nvPr/>
        </p:nvSpPr>
        <p:spPr>
          <a:xfrm flipH="1">
            <a:off x="3079699" y="3301898"/>
            <a:ext cx="1873606" cy="1257300"/>
          </a:xfrm>
          <a:prstGeom prst="line">
            <a:avLst/>
          </a:prstGeom>
          <a:noFill/>
          <a:ln w="13970">
            <a:solidFill>
              <a:srgbClr val="D8E0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10996" y="4267505"/>
            <a:ext cx="1968703" cy="584302"/>
          </a:xfrm>
          <a:prstGeom prst="roundRect">
            <a:avLst>
              <a:gd name="adj" fmla="val 195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1212494" y="4394606"/>
            <a:ext cx="330098" cy="330098"/>
          </a:xfrm>
          <a:prstGeom prst="ellipse">
            <a:avLst/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254557" y="4449470"/>
            <a:ext cx="24780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7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2167" dirty="0"/>
          </a:p>
        </p:txBody>
      </p:sp>
      <p:sp>
        <p:nvSpPr>
          <p:cNvPr id="35" name="Text 31"/>
          <p:cNvSpPr/>
          <p:nvPr/>
        </p:nvSpPr>
        <p:spPr>
          <a:xfrm>
            <a:off x="1645006" y="4419295"/>
            <a:ext cx="1282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Arbitrate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645006" y="4610405"/>
            <a:ext cx="12829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resolve shared conflicts</a:t>
            </a:r>
            <a:endParaRPr lang="en-US" sz="580" dirty="0"/>
          </a:p>
        </p:txBody>
      </p:sp>
      <p:sp>
        <p:nvSpPr>
          <p:cNvPr id="37" name="Shape 33"/>
          <p:cNvSpPr/>
          <p:nvPr/>
        </p:nvSpPr>
        <p:spPr>
          <a:xfrm>
            <a:off x="6096305" y="3739896"/>
            <a:ext cx="0" cy="793699"/>
          </a:xfrm>
          <a:prstGeom prst="line">
            <a:avLst/>
          </a:prstGeom>
          <a:noFill/>
          <a:ln w="13970">
            <a:solidFill>
              <a:srgbClr val="D8E0E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111496" y="4533595"/>
            <a:ext cx="1968703" cy="584302"/>
          </a:xfrm>
          <a:prstGeom prst="roundRect">
            <a:avLst>
              <a:gd name="adj" fmla="val 195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5238598" y="4660697"/>
            <a:ext cx="279806" cy="330098"/>
          </a:xfrm>
          <a:prstGeom prst="roundRect">
            <a:avLst>
              <a:gd name="adj" fmla="val 11438"/>
            </a:avLst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302606" y="4781398"/>
            <a:ext cx="152705" cy="0"/>
          </a:xfrm>
          <a:prstGeom prst="line">
            <a:avLst/>
          </a:prstGeom>
          <a:noFill/>
          <a:ln w="20320">
            <a:solidFill>
              <a:srgbClr val="00206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302606" y="4863694"/>
            <a:ext cx="152705" cy="0"/>
          </a:xfrm>
          <a:prstGeom prst="line">
            <a:avLst/>
          </a:prstGeom>
          <a:noFill/>
          <a:ln w="20320">
            <a:solidFill>
              <a:srgbClr val="00206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645506" y="4686300"/>
            <a:ext cx="1282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5645506" y="4876495"/>
            <a:ext cx="12829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accept a new valid state</a:t>
            </a:r>
            <a:endParaRPr lang="en-US" sz="580" dirty="0"/>
          </a:p>
        </p:txBody>
      </p:sp>
      <p:sp>
        <p:nvSpPr>
          <p:cNvPr id="44" name="Shape 40"/>
          <p:cNvSpPr/>
          <p:nvPr/>
        </p:nvSpPr>
        <p:spPr>
          <a:xfrm>
            <a:off x="7239305" y="3301898"/>
            <a:ext cx="1873606" cy="1257300"/>
          </a:xfrm>
          <a:prstGeom prst="line">
            <a:avLst/>
          </a:prstGeom>
          <a:noFill/>
          <a:ln w="13970">
            <a:solidFill>
              <a:srgbClr val="D8E0E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111996" y="4267505"/>
            <a:ext cx="1968703" cy="584302"/>
          </a:xfrm>
          <a:prstGeom prst="roundRect">
            <a:avLst>
              <a:gd name="adj" fmla="val 195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9213494" y="4612234"/>
            <a:ext cx="330098" cy="97841"/>
          </a:xfrm>
          <a:prstGeom prst="roundRect">
            <a:avLst>
              <a:gd name="adj" fmla="val 23364"/>
            </a:avLst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213494" y="4514393"/>
            <a:ext cx="330098" cy="97841"/>
          </a:xfrm>
          <a:prstGeom prst="roundRect">
            <a:avLst>
              <a:gd name="adj" fmla="val 23364"/>
            </a:avLst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213494" y="4416552"/>
            <a:ext cx="330098" cy="97841"/>
          </a:xfrm>
          <a:prstGeom prst="roundRect">
            <a:avLst>
              <a:gd name="adj" fmla="val 23364"/>
            </a:avLst>
          </a:prstGeom>
          <a:ln w="20320">
            <a:solidFill>
              <a:srgbClr val="00206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646006" y="4419295"/>
            <a:ext cx="1282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Propagate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9646006" y="4610405"/>
            <a:ext cx="12829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affected neighbors</a:t>
            </a:r>
            <a:endParaRPr lang="en-US" sz="580" dirty="0"/>
          </a:p>
        </p:txBody>
      </p:sp>
      <p:sp>
        <p:nvSpPr>
          <p:cNvPr id="51" name="Shape 47"/>
          <p:cNvSpPr/>
          <p:nvPr/>
        </p:nvSpPr>
        <p:spPr>
          <a:xfrm>
            <a:off x="609905" y="5639105"/>
            <a:ext cx="10972800" cy="418795"/>
          </a:xfrm>
          <a:prstGeom prst="roundRect">
            <a:avLst>
              <a:gd name="adj" fmla="val 2117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12902" y="5753405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recovery mechanism must make its propagation boundary and human override visible.</a:t>
            </a:r>
            <a:endParaRPr lang="en-US" sz="800" dirty="0"/>
          </a:p>
        </p:txBody>
      </p:sp>
      <p:pic>
        <p:nvPicPr>
          <p:cNvPr id="53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9588398" y="254203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HUBSPOKECAPABILITY</a:t>
            </a:r>
            <a:endParaRPr lang="en-US" sz="400" dirty="0"/>
          </a:p>
        </p:txBody>
      </p:sp>
      <p:sp>
        <p:nvSpPr>
          <p:cNvPr id="55" name="Shape 50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56" name="Shape 51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P10</a:t>
            </a:r>
            <a:endParaRPr lang="en-US" sz="450" dirty="0"/>
          </a:p>
        </p:txBody>
      </p:sp>
      <p:sp>
        <p:nvSpPr>
          <p:cNvPr id="58" name="Shape 53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59" name="Text 54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ILLUSTRATION · NOT REAL DEPLOYMENT OR OPERATING DATA</a:t>
            </a:r>
            <a:endParaRPr lang="en-US" sz="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Systems Share One ETA Loop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layer contributes evidence without collapsing ownership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904695"/>
            <a:ext cx="10972800" cy="381305"/>
          </a:xfrm>
          <a:prstGeom prst="roundRect">
            <a:avLst>
              <a:gd name="adj" fmla="val 23261"/>
            </a:avLst>
          </a:prstGeom>
          <a:solidFill>
            <a:srgbClr val="002060"/>
          </a:solidFill>
          <a:ln/>
        </p:spPr>
      </p:sp>
      <p:sp>
        <p:nvSpPr>
          <p:cNvPr id="8" name="Text 4"/>
          <p:cNvSpPr/>
          <p:nvPr/>
        </p:nvSpPr>
        <p:spPr>
          <a:xfrm>
            <a:off x="761695" y="1955902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 OUTPUTS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09905" y="2133295"/>
            <a:ext cx="1097280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ETA · Sequence · Operating Window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609905" y="2361895"/>
            <a:ext cx="3581705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9905" y="2361895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2" name="Text 8"/>
          <p:cNvSpPr/>
          <p:nvPr/>
        </p:nvSpPr>
        <p:spPr>
          <a:xfrm>
            <a:off x="724205" y="247619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ETA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24205" y="270479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Expected milestone time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304995" y="2361895"/>
            <a:ext cx="3581705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04995" y="2361895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2"/>
          <p:cNvSpPr/>
          <p:nvPr/>
        </p:nvSpPr>
        <p:spPr>
          <a:xfrm>
            <a:off x="4419295" y="247619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Sequence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419295" y="270479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Ordered task relation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8001000" y="2361895"/>
            <a:ext cx="3581705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01000" y="2361895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0" name="Text 16"/>
          <p:cNvSpPr/>
          <p:nvPr/>
        </p:nvSpPr>
        <p:spPr>
          <a:xfrm>
            <a:off x="8115300" y="247619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115300" y="270479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Feasible operating interval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609905" y="3086100"/>
            <a:ext cx="10972800" cy="381305"/>
          </a:xfrm>
          <a:prstGeom prst="roundRect">
            <a:avLst>
              <a:gd name="adj" fmla="val 23261"/>
            </a:avLst>
          </a:prstGeom>
          <a:solidFill>
            <a:srgbClr val="00B0F0"/>
          </a:solidFill>
          <a:ln/>
        </p:spPr>
      </p:sp>
      <p:sp>
        <p:nvSpPr>
          <p:cNvPr id="23" name="Text 19"/>
          <p:cNvSpPr/>
          <p:nvPr/>
        </p:nvSpPr>
        <p:spPr>
          <a:xfrm>
            <a:off x="761695" y="3137306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SCHEDULING MODEL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09905" y="3314700"/>
            <a:ext cx="1097280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· Constraints · Confidence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609905" y="3543300"/>
            <a:ext cx="3581705" cy="748894"/>
          </a:xfrm>
          <a:prstGeom prst="roundRect">
            <a:avLst>
              <a:gd name="adj" fmla="val 1526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9905" y="3543300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7" name="Text 23"/>
          <p:cNvSpPr/>
          <p:nvPr/>
        </p:nvSpPr>
        <p:spPr>
          <a:xfrm>
            <a:off x="724205" y="3657600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4205" y="3886200"/>
            <a:ext cx="335310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Current object and task state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4304995" y="3543300"/>
            <a:ext cx="3581705" cy="748894"/>
          </a:xfrm>
          <a:prstGeom prst="roundRect">
            <a:avLst>
              <a:gd name="adj" fmla="val 15263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304995" y="3543300"/>
            <a:ext cx="3581705" cy="3200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1" name="Text 27"/>
          <p:cNvSpPr/>
          <p:nvPr/>
        </p:nvSpPr>
        <p:spPr>
          <a:xfrm>
            <a:off x="4419295" y="3657600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419295" y="3886200"/>
            <a:ext cx="335310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ETA and impact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8001000" y="3543300"/>
            <a:ext cx="3581705" cy="748894"/>
          </a:xfrm>
          <a:prstGeom prst="roundRect">
            <a:avLst>
              <a:gd name="adj" fmla="val 1526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001000" y="3543300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5" name="Text 31"/>
          <p:cNvSpPr/>
          <p:nvPr/>
        </p:nvSpPr>
        <p:spPr>
          <a:xfrm>
            <a:off x="8115300" y="3657600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115300" y="3886200"/>
            <a:ext cx="335310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Quality and confirmation status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609905" y="4381805"/>
            <a:ext cx="10972800" cy="381305"/>
          </a:xfrm>
          <a:prstGeom prst="roundRect">
            <a:avLst>
              <a:gd name="adj" fmla="val 23261"/>
            </a:avLst>
          </a:prstGeom>
          <a:solidFill>
            <a:srgbClr val="002060"/>
          </a:solidFill>
          <a:ln/>
        </p:spPr>
      </p:sp>
      <p:sp>
        <p:nvSpPr>
          <p:cNvPr id="38" name="Text 34"/>
          <p:cNvSpPr/>
          <p:nvPr/>
        </p:nvSpPr>
        <p:spPr>
          <a:xfrm>
            <a:off x="761695" y="4432097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PERCEPTION INPUTS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9905" y="4610405"/>
            <a:ext cx="1097280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Events · Geometry · Device Status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609905" y="4839005"/>
            <a:ext cx="3581705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09905" y="4839005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2" name="Text 38"/>
          <p:cNvSpPr/>
          <p:nvPr/>
        </p:nvSpPr>
        <p:spPr>
          <a:xfrm>
            <a:off x="724205" y="495330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Events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724205" y="518190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Timestamped operating facts</a:t>
            </a:r>
            <a:endParaRPr lang="en-US" sz="700" dirty="0"/>
          </a:p>
        </p:txBody>
      </p:sp>
      <p:sp>
        <p:nvSpPr>
          <p:cNvPr id="44" name="Shape 40"/>
          <p:cNvSpPr/>
          <p:nvPr/>
        </p:nvSpPr>
        <p:spPr>
          <a:xfrm>
            <a:off x="4304995" y="4839005"/>
            <a:ext cx="3581705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4304995" y="4839005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6" name="Text 42"/>
          <p:cNvSpPr/>
          <p:nvPr/>
        </p:nvSpPr>
        <p:spPr>
          <a:xfrm>
            <a:off x="4419295" y="495330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Geometry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4419295" y="518190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Position and relation</a:t>
            </a:r>
            <a:endParaRPr lang="en-US" sz="700" dirty="0"/>
          </a:p>
        </p:txBody>
      </p:sp>
      <p:sp>
        <p:nvSpPr>
          <p:cNvPr id="48" name="Shape 44"/>
          <p:cNvSpPr/>
          <p:nvPr/>
        </p:nvSpPr>
        <p:spPr>
          <a:xfrm>
            <a:off x="8001000" y="4839005"/>
            <a:ext cx="3581705" cy="634594"/>
          </a:xfrm>
          <a:prstGeom prst="roundRect">
            <a:avLst>
              <a:gd name="adj" fmla="val 18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8001000" y="4839005"/>
            <a:ext cx="3581705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0" name="Text 46"/>
          <p:cNvSpPr/>
          <p:nvPr/>
        </p:nvSpPr>
        <p:spPr>
          <a:xfrm>
            <a:off x="8115300" y="495330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Device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8115300" y="5181905"/>
            <a:ext cx="33531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Capability and availability</a:t>
            </a:r>
            <a:endParaRPr lang="en-US" sz="700" dirty="0"/>
          </a:p>
        </p:txBody>
      </p:sp>
      <p:pic>
        <p:nvPicPr>
          <p:cNvPr id="52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9588398" y="558698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" b="1" spc="120" kern="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ARCHLAYERED</a:t>
            </a:r>
            <a:endParaRPr lang="en-US" sz="400" dirty="0"/>
          </a:p>
        </p:txBody>
      </p:sp>
      <p:sp>
        <p:nvSpPr>
          <p:cNvPr id="54" name="Shape 49"/>
          <p:cNvSpPr/>
          <p:nvPr/>
        </p:nvSpPr>
        <p:spPr>
          <a:xfrm>
            <a:off x="609905" y="6013094"/>
            <a:ext cx="330098" cy="1920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55" name="Shape 50"/>
          <p:cNvSpPr/>
          <p:nvPr/>
        </p:nvSpPr>
        <p:spPr>
          <a:xfrm>
            <a:off x="609905" y="6032297"/>
            <a:ext cx="10972800" cy="0"/>
          </a:xfrm>
          <a:prstGeom prst="line">
            <a:avLst/>
          </a:prstGeom>
          <a:noFill/>
          <a:ln w="7620">
            <a:solidFill>
              <a:srgbClr val="D8E0E8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09905" y="6083503"/>
            <a:ext cx="761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P11</a:t>
            </a:r>
            <a:endParaRPr lang="en-US" sz="450" dirty="0"/>
          </a:p>
        </p:txBody>
      </p:sp>
      <p:sp>
        <p:nvSpPr>
          <p:cNvPr id="57" name="Shape 52"/>
          <p:cNvSpPr/>
          <p:nvPr/>
        </p:nvSpPr>
        <p:spPr>
          <a:xfrm>
            <a:off x="1282903" y="6115507"/>
            <a:ext cx="25603" cy="25603"/>
          </a:xfrm>
          <a:prstGeom prst="roundRect">
            <a:avLst>
              <a:gd name="adj" fmla="val 296431"/>
            </a:avLst>
          </a:prstGeom>
          <a:solidFill>
            <a:srgbClr val="7B8794"/>
          </a:solidFill>
          <a:ln/>
        </p:spPr>
      </p:sp>
      <p:sp>
        <p:nvSpPr>
          <p:cNvPr id="58" name="Text 53"/>
          <p:cNvSpPr/>
          <p:nvPr/>
        </p:nvSpPr>
        <p:spPr>
          <a:xfrm>
            <a:off x="1397203" y="6083503"/>
            <a:ext cx="10185502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7B87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ILLUSTRATION · NOT REAL DEPLOYMENT OR OPERATING DATA</a:t>
            </a:r>
            <a:endParaRPr lang="en-US" sz="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Editable Workflow in a Public-Safe Context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Illustrative mockups explain the operating logic; a generated neutral image shows the intended usage context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815998"/>
            <a:ext cx="3301898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220" kern="0" dirty="0">
                <a:solidFill>
                  <a:srgbClr val="0070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ILLUSTRATIVE EDITABLE UI</a:t>
            </a:r>
            <a:endParaRPr lang="en-US" sz="600" dirty="0"/>
          </a:p>
        </p:txBody>
      </p:sp>
      <p:sp>
        <p:nvSpPr>
          <p:cNvPr id="8" name="Shape 4"/>
          <p:cNvSpPr/>
          <p:nvPr/>
        </p:nvSpPr>
        <p:spPr>
          <a:xfrm>
            <a:off x="609905" y="2108606"/>
            <a:ext cx="2730398" cy="1460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09905" y="2108606"/>
            <a:ext cx="2730398" cy="228600"/>
          </a:xfrm>
          <a:prstGeom prst="rect">
            <a:avLst/>
          </a:prstGeom>
          <a:solidFill>
            <a:srgbClr val="2D3440"/>
          </a:solidFill>
          <a:ln/>
        </p:spPr>
      </p:sp>
      <p:sp>
        <p:nvSpPr>
          <p:cNvPr id="10" name="Text 6"/>
          <p:cNvSpPr/>
          <p:nvPr/>
        </p:nvSpPr>
        <p:spPr>
          <a:xfrm>
            <a:off x="724205" y="2158898"/>
            <a:ext cx="25017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Select Task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748894" y="2501798"/>
            <a:ext cx="2451506" cy="215798"/>
          </a:xfrm>
          <a:prstGeom prst="roundRect">
            <a:avLst>
              <a:gd name="adj" fmla="val 35170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8505" y="2559406"/>
            <a:ext cx="2273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748894" y="2806294"/>
            <a:ext cx="2451506" cy="215798"/>
          </a:xfrm>
          <a:prstGeom prst="roundRect">
            <a:avLst>
              <a:gd name="adj" fmla="val 35170"/>
            </a:avLst>
          </a:prstGeom>
          <a:solidFill>
            <a:srgbClr val="DBEBF8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8505" y="2863901"/>
            <a:ext cx="2273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</a:t>
            </a:r>
            <a:endParaRPr lang="en-US" sz="600" dirty="0"/>
          </a:p>
        </p:txBody>
      </p:sp>
      <p:sp>
        <p:nvSpPr>
          <p:cNvPr id="15" name="Shape 11"/>
          <p:cNvSpPr/>
          <p:nvPr/>
        </p:nvSpPr>
        <p:spPr>
          <a:xfrm>
            <a:off x="748894" y="3111703"/>
            <a:ext cx="2451506" cy="215798"/>
          </a:xfrm>
          <a:prstGeom prst="roundRect">
            <a:avLst>
              <a:gd name="adj" fmla="val 35170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8505" y="3168396"/>
            <a:ext cx="2273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2476195" y="3174797"/>
            <a:ext cx="2730398" cy="1460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476195" y="3174797"/>
            <a:ext cx="2730398" cy="228600"/>
          </a:xfrm>
          <a:prstGeom prst="rect">
            <a:avLst/>
          </a:prstGeom>
          <a:solidFill>
            <a:srgbClr val="2D3440"/>
          </a:solidFill>
          <a:ln/>
        </p:spPr>
      </p:sp>
      <p:sp>
        <p:nvSpPr>
          <p:cNvPr id="19" name="Text 15"/>
          <p:cNvSpPr/>
          <p:nvPr/>
        </p:nvSpPr>
        <p:spPr>
          <a:xfrm>
            <a:off x="2590495" y="3226003"/>
            <a:ext cx="25017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Confirm Slot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2654503" y="3594506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654503" y="3644798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500" dirty="0"/>
          </a:p>
        </p:txBody>
      </p:sp>
      <p:sp>
        <p:nvSpPr>
          <p:cNvPr id="22" name="Shape 18"/>
          <p:cNvSpPr/>
          <p:nvPr/>
        </p:nvSpPr>
        <p:spPr>
          <a:xfrm>
            <a:off x="3213202" y="3594506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13202" y="3644798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500" dirty="0"/>
          </a:p>
        </p:txBody>
      </p:sp>
      <p:sp>
        <p:nvSpPr>
          <p:cNvPr id="24" name="Shape 20"/>
          <p:cNvSpPr/>
          <p:nvPr/>
        </p:nvSpPr>
        <p:spPr>
          <a:xfrm>
            <a:off x="3771900" y="3594506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71900" y="3644798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500" dirty="0"/>
          </a:p>
        </p:txBody>
      </p:sp>
      <p:sp>
        <p:nvSpPr>
          <p:cNvPr id="26" name="Shape 22"/>
          <p:cNvSpPr/>
          <p:nvPr/>
        </p:nvSpPr>
        <p:spPr>
          <a:xfrm>
            <a:off x="4330598" y="3594506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330598" y="3644798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500" dirty="0"/>
          </a:p>
        </p:txBody>
      </p:sp>
      <p:sp>
        <p:nvSpPr>
          <p:cNvPr id="28" name="Shape 24"/>
          <p:cNvSpPr/>
          <p:nvPr/>
        </p:nvSpPr>
        <p:spPr>
          <a:xfrm>
            <a:off x="2654503" y="3879799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654503" y="3931006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500" dirty="0"/>
          </a:p>
        </p:txBody>
      </p:sp>
      <p:sp>
        <p:nvSpPr>
          <p:cNvPr id="30" name="Shape 26"/>
          <p:cNvSpPr/>
          <p:nvPr/>
        </p:nvSpPr>
        <p:spPr>
          <a:xfrm>
            <a:off x="3213202" y="3879799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13202" y="3931006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500" dirty="0"/>
          </a:p>
        </p:txBody>
      </p:sp>
      <p:sp>
        <p:nvSpPr>
          <p:cNvPr id="32" name="Shape 28"/>
          <p:cNvSpPr/>
          <p:nvPr/>
        </p:nvSpPr>
        <p:spPr>
          <a:xfrm>
            <a:off x="3771900" y="3879799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DBEBF8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771900" y="3931006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500" dirty="0"/>
          </a:p>
        </p:txBody>
      </p:sp>
      <p:sp>
        <p:nvSpPr>
          <p:cNvPr id="34" name="Shape 30"/>
          <p:cNvSpPr/>
          <p:nvPr/>
        </p:nvSpPr>
        <p:spPr>
          <a:xfrm>
            <a:off x="4330598" y="3879799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30598" y="3931006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500" dirty="0"/>
          </a:p>
        </p:txBody>
      </p:sp>
      <p:sp>
        <p:nvSpPr>
          <p:cNvPr id="36" name="Shape 32"/>
          <p:cNvSpPr/>
          <p:nvPr/>
        </p:nvSpPr>
        <p:spPr>
          <a:xfrm>
            <a:off x="2654503" y="4166006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654503" y="4216298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00" dirty="0"/>
          </a:p>
        </p:txBody>
      </p:sp>
      <p:sp>
        <p:nvSpPr>
          <p:cNvPr id="38" name="Shape 34"/>
          <p:cNvSpPr/>
          <p:nvPr/>
        </p:nvSpPr>
        <p:spPr>
          <a:xfrm>
            <a:off x="3213202" y="4166006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213202" y="4216298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500" dirty="0"/>
          </a:p>
        </p:txBody>
      </p:sp>
      <p:sp>
        <p:nvSpPr>
          <p:cNvPr id="40" name="Shape 36"/>
          <p:cNvSpPr/>
          <p:nvPr/>
        </p:nvSpPr>
        <p:spPr>
          <a:xfrm>
            <a:off x="3771900" y="4166006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771900" y="4216298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500" dirty="0"/>
          </a:p>
        </p:txBody>
      </p:sp>
      <p:sp>
        <p:nvSpPr>
          <p:cNvPr id="42" name="Shape 38"/>
          <p:cNvSpPr/>
          <p:nvPr/>
        </p:nvSpPr>
        <p:spPr>
          <a:xfrm>
            <a:off x="4330598" y="4166006"/>
            <a:ext cx="444398" cy="190195"/>
          </a:xfrm>
          <a:prstGeom prst="roundRect">
            <a:avLst>
              <a:gd name="adj" fmla="val 3990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330598" y="4216298"/>
            <a:ext cx="444398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500" dirty="0"/>
          </a:p>
        </p:txBody>
      </p:sp>
      <p:sp>
        <p:nvSpPr>
          <p:cNvPr id="44" name="Shape 40"/>
          <p:cNvSpPr/>
          <p:nvPr/>
        </p:nvSpPr>
        <p:spPr>
          <a:xfrm>
            <a:off x="609905" y="4280306"/>
            <a:ext cx="273039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609905" y="4280306"/>
            <a:ext cx="2730398" cy="228600"/>
          </a:xfrm>
          <a:prstGeom prst="rect">
            <a:avLst/>
          </a:prstGeom>
          <a:solidFill>
            <a:srgbClr val="2D3440"/>
          </a:solidFill>
          <a:ln/>
        </p:spPr>
      </p:sp>
      <p:sp>
        <p:nvSpPr>
          <p:cNvPr id="46" name="Text 42"/>
          <p:cNvSpPr/>
          <p:nvPr/>
        </p:nvSpPr>
        <p:spPr>
          <a:xfrm>
            <a:off x="724205" y="4330598"/>
            <a:ext cx="25017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Review State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774497" y="4699102"/>
            <a:ext cx="9528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600" dirty="0"/>
          </a:p>
        </p:txBody>
      </p:sp>
      <p:sp>
        <p:nvSpPr>
          <p:cNvPr id="48" name="Text 44"/>
          <p:cNvSpPr/>
          <p:nvPr/>
        </p:nvSpPr>
        <p:spPr>
          <a:xfrm>
            <a:off x="2070202" y="4686300"/>
            <a:ext cx="95280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A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787298" y="5029200"/>
            <a:ext cx="2374697" cy="330098"/>
          </a:xfrm>
          <a:prstGeom prst="roundRect">
            <a:avLst>
              <a:gd name="adj" fmla="val 26870"/>
            </a:avLst>
          </a:prstGeom>
          <a:solidFill>
            <a:srgbClr val="DBEBF8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87298" y="5137099"/>
            <a:ext cx="237469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remains fully editable</a:t>
            </a:r>
            <a:endParaRPr lang="en-US" sz="600" dirty="0"/>
          </a:p>
        </p:txBody>
      </p:sp>
      <p:sp>
        <p:nvSpPr>
          <p:cNvPr id="51" name="Text 47"/>
          <p:cNvSpPr/>
          <p:nvPr/>
        </p:nvSpPr>
        <p:spPr>
          <a:xfrm>
            <a:off x="5460797" y="1815998"/>
            <a:ext cx="59692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220" kern="0" dirty="0">
                <a:solidFill>
                  <a:srgbClr val="0070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GENERATED FIELD CONTEXT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5460797" y="2108606"/>
            <a:ext cx="5969203" cy="3543300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pic>
        <p:nvPicPr>
          <p:cNvPr id="53" name="Image 1" descr="C:\西井\06AI\Team work\leander-theme-samples-redesign\decks\leander-global\assets\field-operator-neut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097" y="2222906"/>
            <a:ext cx="5740603" cy="3226003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5715000" y="5092294"/>
            <a:ext cx="2286000" cy="2542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5829300" y="5156302"/>
            <a:ext cx="2057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PUBLIC-SAFE FIELD IMAGE</a:t>
            </a:r>
            <a:endParaRPr lang="en-US" sz="550" dirty="0"/>
          </a:p>
        </p:txBody>
      </p:sp>
      <p:sp>
        <p:nvSpPr>
          <p:cNvPr id="56" name="Shape 51"/>
          <p:cNvSpPr/>
          <p:nvPr/>
        </p:nvSpPr>
        <p:spPr>
          <a:xfrm>
            <a:off x="5169103" y="2590495"/>
            <a:ext cx="405994" cy="0"/>
          </a:xfrm>
          <a:prstGeom prst="line">
            <a:avLst/>
          </a:prstGeom>
          <a:noFill/>
          <a:ln w="2032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57" name="Shape 52"/>
          <p:cNvSpPr/>
          <p:nvPr/>
        </p:nvSpPr>
        <p:spPr>
          <a:xfrm>
            <a:off x="5067605" y="2488997"/>
            <a:ext cx="254203" cy="202997"/>
          </a:xfrm>
          <a:prstGeom prst="roundRect">
            <a:avLst>
              <a:gd name="adj" fmla="val 37387"/>
            </a:avLst>
          </a:prstGeom>
          <a:solidFill>
            <a:srgbClr val="DBEBF8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5067605" y="2553005"/>
            <a:ext cx="254203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00" dirty="0"/>
          </a:p>
        </p:txBody>
      </p:sp>
      <p:sp>
        <p:nvSpPr>
          <p:cNvPr id="59" name="Text 54"/>
          <p:cNvSpPr/>
          <p:nvPr/>
        </p:nvSpPr>
        <p:spPr>
          <a:xfrm>
            <a:off x="4572000" y="2540203"/>
            <a:ext cx="444398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500" dirty="0"/>
          </a:p>
        </p:txBody>
      </p:sp>
      <p:sp>
        <p:nvSpPr>
          <p:cNvPr id="60" name="Shape 55"/>
          <p:cNvSpPr/>
          <p:nvPr/>
        </p:nvSpPr>
        <p:spPr>
          <a:xfrm>
            <a:off x="5169103" y="3461004"/>
            <a:ext cx="405994" cy="0"/>
          </a:xfrm>
          <a:prstGeom prst="line">
            <a:avLst/>
          </a:prstGeom>
          <a:noFill/>
          <a:ln w="2032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61" name="Shape 56"/>
          <p:cNvSpPr/>
          <p:nvPr/>
        </p:nvSpPr>
        <p:spPr>
          <a:xfrm>
            <a:off x="5067605" y="3359506"/>
            <a:ext cx="254203" cy="202997"/>
          </a:xfrm>
          <a:prstGeom prst="roundRect">
            <a:avLst>
              <a:gd name="adj" fmla="val 37387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5067605" y="3422599"/>
            <a:ext cx="254203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00" dirty="0"/>
          </a:p>
        </p:txBody>
      </p:sp>
      <p:sp>
        <p:nvSpPr>
          <p:cNvPr id="63" name="Text 58"/>
          <p:cNvSpPr/>
          <p:nvPr/>
        </p:nvSpPr>
        <p:spPr>
          <a:xfrm>
            <a:off x="4572000" y="3409798"/>
            <a:ext cx="444398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500" dirty="0"/>
          </a:p>
        </p:txBody>
      </p:sp>
      <p:sp>
        <p:nvSpPr>
          <p:cNvPr id="64" name="Shape 59"/>
          <p:cNvSpPr/>
          <p:nvPr/>
        </p:nvSpPr>
        <p:spPr>
          <a:xfrm>
            <a:off x="5169103" y="4330598"/>
            <a:ext cx="405994" cy="0"/>
          </a:xfrm>
          <a:prstGeom prst="line">
            <a:avLst/>
          </a:prstGeom>
          <a:noFill/>
          <a:ln w="2032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65" name="Shape 60"/>
          <p:cNvSpPr/>
          <p:nvPr/>
        </p:nvSpPr>
        <p:spPr>
          <a:xfrm>
            <a:off x="5067605" y="4229100"/>
            <a:ext cx="254203" cy="202997"/>
          </a:xfrm>
          <a:prstGeom prst="roundRect">
            <a:avLst>
              <a:gd name="adj" fmla="val 37387"/>
            </a:avLst>
          </a:prstGeom>
          <a:solidFill>
            <a:srgbClr val="DBEBF8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5067605" y="4292194"/>
            <a:ext cx="254203" cy="8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00" dirty="0"/>
          </a:p>
        </p:txBody>
      </p:sp>
      <p:sp>
        <p:nvSpPr>
          <p:cNvPr id="67" name="Text 62"/>
          <p:cNvSpPr/>
          <p:nvPr/>
        </p:nvSpPr>
        <p:spPr>
          <a:xfrm>
            <a:off x="4572000" y="4280306"/>
            <a:ext cx="444398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500" dirty="0"/>
          </a:p>
        </p:txBody>
      </p:sp>
      <p:sp>
        <p:nvSpPr>
          <p:cNvPr id="68" name="Text 63"/>
          <p:cNvSpPr/>
          <p:nvPr/>
        </p:nvSpPr>
        <p:spPr>
          <a:xfrm>
            <a:off x="5460797" y="5778094"/>
            <a:ext cx="59692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customer, account, license plate, person identity or real operating data.</a:t>
            </a:r>
            <a:endParaRPr lang="en-US" sz="650" dirty="0"/>
          </a:p>
        </p:txBody>
      </p:sp>
      <p:pic>
        <p:nvPicPr>
          <p:cNvPr id="69" name="Image 2" descr="theme/assets/footer-westw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51406" y="2553005"/>
            <a:ext cx="888979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Product System. </a:t>
            </a:r>
            <a:pPr algn="ctr" indent="0" marL="0">
              <a:buNone/>
            </a:pPr>
            <a:r>
              <a:rPr lang="en-US" sz="27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Verifiable Evidence.</a:t>
            </a:r>
            <a:endParaRPr lang="en-US" sz="2700" dirty="0"/>
          </a:p>
        </p:txBody>
      </p:sp>
      <p:sp>
        <p:nvSpPr>
          <p:cNvPr id="5" name="Shape 1"/>
          <p:cNvSpPr/>
          <p:nvPr/>
        </p:nvSpPr>
        <p:spPr>
          <a:xfrm>
            <a:off x="4826203" y="3429000"/>
            <a:ext cx="2540203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lgDash"/>
          </a:ln>
        </p:spPr>
      </p:sp>
      <p:sp>
        <p:nvSpPr>
          <p:cNvPr id="6" name="Text 2"/>
          <p:cNvSpPr/>
          <p:nvPr/>
        </p:nvSpPr>
        <p:spPr>
          <a:xfrm>
            <a:off x="2286000" y="3594506"/>
            <a:ext cx="7619695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PUBLIC-SAFE · EDITABLE · SYSTEM-LEVEL</a:t>
            </a:r>
            <a:endParaRPr lang="en-US" sz="1300" dirty="0"/>
          </a:p>
        </p:txBody>
      </p:sp>
      <p:pic>
        <p:nvPicPr>
          <p:cNvPr id="7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Westwell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Leander PPT</dc:creator>
  <cp:lastModifiedBy>Leander PPT</cp:lastModifiedBy>
  <cp:revision>1</cp:revision>
  <dcterms:created xsi:type="dcterms:W3CDTF">2026-07-26T14:55:27Z</dcterms:created>
  <dcterms:modified xsi:type="dcterms:W3CDTF">2026-07-26T14:55:27Z</dcterms:modified>
</cp:coreProperties>
</file>