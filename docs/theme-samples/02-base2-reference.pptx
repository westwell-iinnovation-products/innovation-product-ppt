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73" r:id="rId6"/>
    <p:sldId id="258" r:id="rId7"/>
    <p:sldId id="259" r:id="rId8"/>
    <p:sldId id="261" r:id="rId9"/>
    <p:sldId id="274" r:id="rId10"/>
    <p:sldId id="263" r:id="rId11"/>
    <p:sldId id="275" r:id="rId12"/>
    <p:sldId id="281" r:id="rId13"/>
    <p:sldId id="276" r:id="rId14"/>
    <p:sldId id="277" r:id="rId15"/>
    <p:sldId id="278" r:id="rId16"/>
    <p:sldId id="282" r:id="rId17"/>
    <p:sldId id="279" r:id="rId18"/>
    <p:sldId id="283" r:id="rId19"/>
    <p:sldId id="280" r:id="rId20"/>
    <p:sldId id="284" r:id="rId2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p01 路 团队 Skill 共享机制：先做对选择，再把复用做成闭环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p03 路 共享文件解决不了五个治理问题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p03 路 GitHub、Kollab、自建共享空间不是同一层产品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p04 路 当前结论：GitHub Free + 飞书先跑，按痛点分层升级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p06 路 从 PPT 完成到团队自动更新，只有一条主流程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p07 路 一张图看懂共享机制的系统架构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p08 路 全部人工节点都有飞书前置提醒和结果回执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p10 路 第一步：Agent 自动发现值得复用的信号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p10 路 相似度引擎用可解释加权分数对比历史库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p11 路 第二步：候选包先脱敏，再进入共享区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p12 路 第三步：风险分流决定自动化走多远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p13 路 第四步：Draft PR 把候选变成可审计申请单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p12 路 真实飞书消息证明：待审批在前，合并结果在后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p14 路 第五步：正式晋升只保留一次高价值人工确认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p13 路 人工在 PR 中看变更和审核，不在飞书里直接合并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p15 路 第六步：发布、更新和回滚形成消费闭环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p20 路 从下周开始：每个人贡献候选，正式源只走一条路 路 gate=PASS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01898" y="2095805"/>
            <a:ext cx="7619695" cy="6099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 Skill 共享机制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3301898" y="2743200"/>
            <a:ext cx="7619695" cy="317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先做对选择，再把复用做成闭环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301898" y="4381805"/>
            <a:ext cx="7619695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Make a Well Change.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3810305" y="4711903"/>
            <a:ext cx="7112203" cy="3557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700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We continuously expand, optimize and try out our products and solutions</a:t>
            </a:r>
            <a:endParaRPr lang="en-US" sz="7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700" dirty="0">
                <a:solidFill>
                  <a:srgbClr val="A8A39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to pinpoint the optimal relationship between AI and human beings in different industries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60197" y="5715000"/>
            <a:ext cx="50804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平台决策与可执行治理 · 2026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共享文件解决不了五个治理问题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把文件放到一起只解决位置；团队能力还需要一条可审计的治理链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561795"/>
            <a:ext cx="15873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FILE LOCATION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2425903" y="1561795"/>
            <a:ext cx="73408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GOVERNANCE CHAIN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9995306" y="1561795"/>
            <a:ext cx="15873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GOVERNED ASSET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609905" y="1968703"/>
            <a:ext cx="1587398" cy="2781605"/>
          </a:xfrm>
          <a:prstGeom prst="roundRect">
            <a:avLst>
              <a:gd name="adj" fmla="val 8813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4497" y="2146097"/>
            <a:ext cx="12573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共享文件夹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74497" y="2425903"/>
            <a:ext cx="1257300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只解决存放位置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61695" y="2895905"/>
            <a:ext cx="1282903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14" name="Text 10"/>
          <p:cNvSpPr/>
          <p:nvPr/>
        </p:nvSpPr>
        <p:spPr>
          <a:xfrm>
            <a:off x="888797" y="2971800"/>
            <a:ext cx="10287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没有统一状态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761695" y="3353105"/>
            <a:ext cx="1282903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16" name="Text 12"/>
          <p:cNvSpPr/>
          <p:nvPr/>
        </p:nvSpPr>
        <p:spPr>
          <a:xfrm>
            <a:off x="888797" y="3429000"/>
            <a:ext cx="10287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没有正式回执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761695" y="3810305"/>
            <a:ext cx="1282903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18" name="Text 14"/>
          <p:cNvSpPr/>
          <p:nvPr/>
        </p:nvSpPr>
        <p:spPr>
          <a:xfrm>
            <a:off x="888797" y="3886200"/>
            <a:ext cx="10287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无法安全回退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2425903" y="1803197"/>
            <a:ext cx="7340803" cy="3111703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654503" y="1994306"/>
            <a:ext cx="4572000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FIVE REQUIRED LINKS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619695" y="2018995"/>
            <a:ext cx="19174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缺一环都不能形成可治理资产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2654503" y="2324405"/>
            <a:ext cx="6883603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28900" y="2603297"/>
            <a:ext cx="1234440" cy="1447495"/>
          </a:xfrm>
          <a:prstGeom prst="roundRect">
            <a:avLst>
              <a:gd name="adj" fmla="val 6148"/>
            </a:avLst>
          </a:prstGeom>
          <a:solidFill>
            <a:srgbClr val="E6EAF3"/>
          </a:solidFill>
        </p:spPr>
      </p:sp>
      <p:sp>
        <p:nvSpPr>
          <p:cNvPr id="24" name="Shape 20"/>
          <p:cNvSpPr/>
          <p:nvPr/>
        </p:nvSpPr>
        <p:spPr>
          <a:xfrm>
            <a:off x="3099816" y="2756002"/>
            <a:ext cx="291694" cy="291694"/>
          </a:xfrm>
          <a:prstGeom prst="roundRect">
            <a:avLst>
              <a:gd name="adj" fmla="val 5015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099816" y="2825496"/>
            <a:ext cx="291694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2717597" y="3161995"/>
            <a:ext cx="105704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2730398" y="3454603"/>
            <a:ext cx="1031443" cy="4059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结构、命名和适用边界必须一致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3895344" y="3327502"/>
            <a:ext cx="127102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4053535" y="2603297"/>
            <a:ext cx="1234440" cy="1447495"/>
          </a:xfrm>
          <a:prstGeom prst="roundRect">
            <a:avLst>
              <a:gd name="adj" fmla="val 6148"/>
            </a:avLst>
          </a:prstGeom>
          <a:solidFill>
            <a:srgbClr val="E6EAF3"/>
          </a:solidFill>
        </p:spPr>
      </p:sp>
      <p:sp>
        <p:nvSpPr>
          <p:cNvPr id="30" name="Shape 26"/>
          <p:cNvSpPr/>
          <p:nvPr/>
        </p:nvSpPr>
        <p:spPr>
          <a:xfrm>
            <a:off x="4525366" y="2756002"/>
            <a:ext cx="291694" cy="291694"/>
          </a:xfrm>
          <a:prstGeom prst="roundRect">
            <a:avLst>
              <a:gd name="adj" fmla="val 5015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25366" y="2825496"/>
            <a:ext cx="291694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4143146" y="3161995"/>
            <a:ext cx="105704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155034" y="3454603"/>
            <a:ext cx="1031443" cy="4059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 文本冲突不能替代语义判断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5319979" y="3327502"/>
            <a:ext cx="127102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5479085" y="2603297"/>
            <a:ext cx="1234440" cy="1447495"/>
          </a:xfrm>
          <a:prstGeom prst="roundRect">
            <a:avLst>
              <a:gd name="adj" fmla="val 9259"/>
            </a:avLst>
          </a:prstGeom>
          <a:solidFill>
            <a:srgbClr val="FBECEB"/>
          </a:solidFill>
          <a:ln w="2286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5950001" y="2756002"/>
            <a:ext cx="291694" cy="291694"/>
          </a:xfrm>
          <a:prstGeom prst="roundRect">
            <a:avLst>
              <a:gd name="adj" fmla="val 50157"/>
            </a:avLst>
          </a:prstGeom>
          <a:solidFill>
            <a:srgbClr val="C51516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950001" y="2825496"/>
            <a:ext cx="291694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38" name="Text 34"/>
          <p:cNvSpPr/>
          <p:nvPr/>
        </p:nvSpPr>
        <p:spPr>
          <a:xfrm>
            <a:off x="5567782" y="3161995"/>
            <a:ext cx="105704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5580583" y="3454603"/>
            <a:ext cx="1031443" cy="4059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候选不能绕过一次正式晋升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6744614" y="3327502"/>
            <a:ext cx="127102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6903720" y="2603297"/>
            <a:ext cx="1234440" cy="1447495"/>
          </a:xfrm>
          <a:prstGeom prst="roundRect">
            <a:avLst>
              <a:gd name="adj" fmla="val 6148"/>
            </a:avLst>
          </a:prstGeom>
          <a:solidFill>
            <a:srgbClr val="E6EAF3"/>
          </a:solidFill>
        </p:spPr>
      </p:sp>
      <p:sp>
        <p:nvSpPr>
          <p:cNvPr id="42" name="Shape 38"/>
          <p:cNvSpPr/>
          <p:nvPr/>
        </p:nvSpPr>
        <p:spPr>
          <a:xfrm>
            <a:off x="7374636" y="2756002"/>
            <a:ext cx="291694" cy="291694"/>
          </a:xfrm>
          <a:prstGeom prst="roundRect">
            <a:avLst>
              <a:gd name="adj" fmla="val 5015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374636" y="2825496"/>
            <a:ext cx="291694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650" dirty="0"/>
          </a:p>
        </p:txBody>
      </p:sp>
      <p:sp>
        <p:nvSpPr>
          <p:cNvPr id="44" name="Text 40"/>
          <p:cNvSpPr/>
          <p:nvPr/>
        </p:nvSpPr>
        <p:spPr>
          <a:xfrm>
            <a:off x="6992417" y="3161995"/>
            <a:ext cx="105704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7005218" y="3454603"/>
            <a:ext cx="1031443" cy="4059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Tag / Release 留下来源与变更</a:t>
            </a:r>
            <a:endParaRPr lang="en-US" sz="650" dirty="0"/>
          </a:p>
        </p:txBody>
      </p:sp>
      <p:sp>
        <p:nvSpPr>
          <p:cNvPr id="46" name="Shape 42"/>
          <p:cNvSpPr/>
          <p:nvPr/>
        </p:nvSpPr>
        <p:spPr>
          <a:xfrm>
            <a:off x="8170164" y="3327502"/>
            <a:ext cx="127102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8328355" y="2603297"/>
            <a:ext cx="1234440" cy="1447495"/>
          </a:xfrm>
          <a:prstGeom prst="roundRect">
            <a:avLst>
              <a:gd name="adj" fmla="val 6148"/>
            </a:avLst>
          </a:prstGeom>
          <a:solidFill>
            <a:srgbClr val="E6EAF3"/>
          </a:solidFill>
        </p:spPr>
      </p:sp>
      <p:sp>
        <p:nvSpPr>
          <p:cNvPr id="48" name="Shape 44"/>
          <p:cNvSpPr/>
          <p:nvPr/>
        </p:nvSpPr>
        <p:spPr>
          <a:xfrm>
            <a:off x="8800186" y="2756002"/>
            <a:ext cx="291694" cy="291694"/>
          </a:xfrm>
          <a:prstGeom prst="roundRect">
            <a:avLst>
              <a:gd name="adj" fmla="val 5015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8800186" y="2825496"/>
            <a:ext cx="291694" cy="146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05</a:t>
            </a:r>
            <a:endParaRPr lang="en-US" sz="650" dirty="0"/>
          </a:p>
        </p:txBody>
      </p:sp>
      <p:sp>
        <p:nvSpPr>
          <p:cNvPr id="50" name="Text 46"/>
          <p:cNvSpPr/>
          <p:nvPr/>
        </p:nvSpPr>
        <p:spPr>
          <a:xfrm>
            <a:off x="8417966" y="3161995"/>
            <a:ext cx="1057046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回滚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8429854" y="3454603"/>
            <a:ext cx="1031443" cy="4059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消费失败后能安全恢复旧版本</a:t>
            </a:r>
            <a:endParaRPr lang="en-US" sz="650" dirty="0"/>
          </a:p>
        </p:txBody>
      </p:sp>
      <p:sp>
        <p:nvSpPr>
          <p:cNvPr id="52" name="Text 48"/>
          <p:cNvSpPr/>
          <p:nvPr/>
        </p:nvSpPr>
        <p:spPr>
          <a:xfrm>
            <a:off x="2654503" y="4317797"/>
            <a:ext cx="68836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 → 去重 → 审批 → 版本 → 回滚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9995306" y="1968703"/>
            <a:ext cx="1587398" cy="2781605"/>
          </a:xfrm>
          <a:prstGeom prst="roundRect">
            <a:avLst>
              <a:gd name="adj" fmla="val 8813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4" name="Text 50"/>
          <p:cNvSpPr/>
          <p:nvPr/>
        </p:nvSpPr>
        <p:spPr>
          <a:xfrm>
            <a:off x="10159898" y="2146097"/>
            <a:ext cx="12573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可治理资产</a:t>
            </a:r>
            <a:endParaRPr lang="en-US" sz="1350" dirty="0"/>
          </a:p>
        </p:txBody>
      </p:sp>
      <p:sp>
        <p:nvSpPr>
          <p:cNvPr id="55" name="Text 51"/>
          <p:cNvSpPr/>
          <p:nvPr/>
        </p:nvSpPr>
        <p:spPr>
          <a:xfrm>
            <a:off x="10159898" y="2425903"/>
            <a:ext cx="1257300" cy="2798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具有正式来源与恢复路径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10147097" y="2895905"/>
            <a:ext cx="1282903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57" name="Shape 53"/>
          <p:cNvSpPr/>
          <p:nvPr/>
        </p:nvSpPr>
        <p:spPr>
          <a:xfrm>
            <a:off x="10248595" y="2946197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10248595" y="300380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</a:t>
            </a:r>
            <a:endParaRPr lang="en-US" sz="650" dirty="0"/>
          </a:p>
        </p:txBody>
      </p:sp>
      <p:sp>
        <p:nvSpPr>
          <p:cNvPr id="59" name="Text 55"/>
          <p:cNvSpPr/>
          <p:nvPr/>
        </p:nvSpPr>
        <p:spPr>
          <a:xfrm>
            <a:off x="10591495" y="2971800"/>
            <a:ext cx="7114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可追溯</a:t>
            </a:r>
            <a:endParaRPr lang="en-US" sz="650" dirty="0"/>
          </a:p>
        </p:txBody>
      </p:sp>
      <p:sp>
        <p:nvSpPr>
          <p:cNvPr id="60" name="Shape 56"/>
          <p:cNvSpPr/>
          <p:nvPr/>
        </p:nvSpPr>
        <p:spPr>
          <a:xfrm>
            <a:off x="10147097" y="3353105"/>
            <a:ext cx="1282903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61" name="Shape 57"/>
          <p:cNvSpPr/>
          <p:nvPr/>
        </p:nvSpPr>
        <p:spPr>
          <a:xfrm>
            <a:off x="10248595" y="3403397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10248595" y="346100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2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10591495" y="3429000"/>
            <a:ext cx="7114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可审批</a:t>
            </a:r>
            <a:endParaRPr lang="en-US" sz="650" dirty="0"/>
          </a:p>
        </p:txBody>
      </p:sp>
      <p:sp>
        <p:nvSpPr>
          <p:cNvPr id="64" name="Shape 60"/>
          <p:cNvSpPr/>
          <p:nvPr/>
        </p:nvSpPr>
        <p:spPr>
          <a:xfrm>
            <a:off x="10147097" y="3810305"/>
            <a:ext cx="1282903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65" name="Shape 61"/>
          <p:cNvSpPr/>
          <p:nvPr/>
        </p:nvSpPr>
        <p:spPr>
          <a:xfrm>
            <a:off x="10248595" y="3860597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10248595" y="391820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</a:t>
            </a:r>
            <a:endParaRPr lang="en-US" sz="650" dirty="0"/>
          </a:p>
        </p:txBody>
      </p:sp>
      <p:sp>
        <p:nvSpPr>
          <p:cNvPr id="67" name="Text 63"/>
          <p:cNvSpPr/>
          <p:nvPr/>
        </p:nvSpPr>
        <p:spPr>
          <a:xfrm>
            <a:off x="10591495" y="3886200"/>
            <a:ext cx="7114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可回退</a:t>
            </a:r>
            <a:endParaRPr lang="en-US" sz="650" dirty="0"/>
          </a:p>
        </p:txBody>
      </p:sp>
      <p:sp>
        <p:nvSpPr>
          <p:cNvPr id="68" name="Shape 64"/>
          <p:cNvSpPr/>
          <p:nvPr/>
        </p:nvSpPr>
        <p:spPr>
          <a:xfrm>
            <a:off x="2197303" y="3340303"/>
            <a:ext cx="228600" cy="0"/>
          </a:xfrm>
          <a:prstGeom prst="line">
            <a:avLst/>
          </a:prstGeom>
          <a:noFill/>
          <a:ln w="2286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9766706" y="3340303"/>
            <a:ext cx="228600" cy="0"/>
          </a:xfrm>
          <a:prstGeom prst="line">
            <a:avLst/>
          </a:prstGeom>
          <a:noFill/>
          <a:ln w="2286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FBECEB"/>
          </a:solidFill>
          <a:ln w="1778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71" name="Text 67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GOVERNANCE BOUNDARY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位置共享只是入口；标准、去重、审批、版本和回滚缺一不可。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74" name="Shape 70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75" name="Text 71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GOVERNANCE BOUNDARY</a:t>
            </a:r>
            <a:endParaRPr lang="en-US" sz="650" dirty="0"/>
          </a:p>
        </p:txBody>
      </p:sp>
      <p:sp>
        <p:nvSpPr>
          <p:cNvPr id="76" name="Text 72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位置共享只是入口；标准、去重、审批、版本和回滚缺一不可。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GitHub、Kollab、自建共享空间不是同一层产品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管资产治理，Kollab 补团队 AI 入口；专属缺口长期存在且 TCO 可证明时才自建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548994"/>
            <a:ext cx="1904695" cy="584302"/>
          </a:xfrm>
          <a:prstGeom prst="roundRect">
            <a:avLst>
              <a:gd name="adj" fmla="val 1518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61695" y="1740103"/>
            <a:ext cx="16002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决策维度</a:t>
            </a:r>
            <a:endParaRPr lang="en-US" sz="12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514600" y="1548994"/>
            <a:ext cx="2216506" cy="584302"/>
          </a:xfrm>
          <a:prstGeom prst="roundRect">
            <a:avLst>
              <a:gd name="adj" fmla="val 23944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28900" y="1657807"/>
            <a:ext cx="1987906" cy="1719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GitHub Free</a:t>
            </a:r>
            <a:endParaRPr lang="en-US" sz="1000" b="1" dirty="0">
              <a:solidFill>
                <a:srgbClr val="C5151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628900" y="1854403"/>
            <a:ext cx="198790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$0 / 月</a:t>
            </a:r>
            <a:endParaRPr lang="en-US" sz="700" b="1" dirty="0">
              <a:solidFill>
                <a:srgbClr val="3D3A32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628900" y="1987906"/>
            <a:ext cx="1987906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正式资产源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781398" y="1548994"/>
            <a:ext cx="2216506" cy="584302"/>
          </a:xfrm>
          <a:prstGeom prst="roundRect">
            <a:avLst>
              <a:gd name="adj" fmla="val 1518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95698" y="1657807"/>
            <a:ext cx="1987906" cy="1719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GitHub Team</a:t>
            </a:r>
            <a:endParaRPr lang="en-US" sz="10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895698" y="1854403"/>
            <a:ext cx="198790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$4 / 人 / 月（首 12 月）*</a:t>
            </a:r>
            <a:endParaRPr lang="en-US" sz="700" b="1" dirty="0">
              <a:solidFill>
                <a:srgbClr val="3D3A32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895698" y="1987906"/>
            <a:ext cx="1987906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强化治理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048195" y="1548994"/>
            <a:ext cx="2216506" cy="584302"/>
          </a:xfrm>
          <a:prstGeom prst="roundRect">
            <a:avLst>
              <a:gd name="adj" fmla="val 15180"/>
            </a:avLst>
          </a:prstGeom>
          <a:solidFill>
            <a:srgbClr val="E6EE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62495" y="1657807"/>
            <a:ext cx="1987906" cy="1719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Kollab</a:t>
            </a:r>
            <a:endParaRPr lang="en-US" sz="10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162495" y="1854403"/>
            <a:ext cx="198790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$0 / $20 / $200 / 月</a:t>
            </a:r>
            <a:endParaRPr lang="en-US" sz="700" b="1" dirty="0">
              <a:solidFill>
                <a:srgbClr val="3D3A32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162495" y="1987906"/>
            <a:ext cx="1987906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工作空间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9315907" y="1548994"/>
            <a:ext cx="2216506" cy="584302"/>
          </a:xfrm>
          <a:prstGeom prst="roundRect">
            <a:avLst>
              <a:gd name="adj" fmla="val 1518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430207" y="1657807"/>
            <a:ext cx="1987906" cy="1719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自建空间</a:t>
            </a:r>
            <a:endParaRPr lang="en-US" sz="10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9430207" y="1854403"/>
            <a:ext cx="198790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TCO 公式</a:t>
            </a:r>
            <a:endParaRPr lang="en-US" sz="700" b="1" dirty="0">
              <a:solidFill>
                <a:srgbClr val="3D3A32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9430207" y="1987906"/>
            <a:ext cx="1987906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专属能力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09905" y="2210105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26" name="Text 22"/>
          <p:cNvSpPr/>
          <p:nvPr/>
        </p:nvSpPr>
        <p:spPr>
          <a:xfrm>
            <a:off x="737006" y="2305202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 / Skill 资产源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2514600" y="221010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616098" y="2286000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781398" y="221010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82896" y="2286000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7048195" y="221010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149694" y="2286000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△</a:t>
            </a:r>
            <a:endParaRPr lang="en-US" sz="700" b="1" dirty="0">
              <a:solidFill>
                <a:srgbClr val="C5151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9315907" y="221010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417406" y="2286000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609905" y="2577694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36" name="Text 32"/>
          <p:cNvSpPr/>
          <p:nvPr/>
        </p:nvSpPr>
        <p:spPr>
          <a:xfrm>
            <a:off x="737006" y="2673706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 / Checks / Release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2514600" y="2577694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616098" y="2654503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4781398" y="2577694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882896" y="2654503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7048195" y="2577694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149694" y="2654503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43" name="Shape 39"/>
          <p:cNvSpPr/>
          <p:nvPr/>
        </p:nvSpPr>
        <p:spPr>
          <a:xfrm>
            <a:off x="9315907" y="2577694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17406" y="2654503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需开发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609905" y="2946197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46" name="Text 42"/>
          <p:cNvSpPr/>
          <p:nvPr/>
        </p:nvSpPr>
        <p:spPr>
          <a:xfrm>
            <a:off x="737006" y="3041294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服务端强制治理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2514600" y="2946197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2616098" y="3023006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△ 私库有限</a:t>
            </a:r>
            <a:endParaRPr lang="en-US" sz="700" b="1" dirty="0">
              <a:solidFill>
                <a:srgbClr val="C5151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9" name="Shape 45"/>
          <p:cNvSpPr/>
          <p:nvPr/>
        </p:nvSpPr>
        <p:spPr>
          <a:xfrm>
            <a:off x="4781398" y="2946197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882896" y="3023006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 Rules / Review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51" name="Shape 47"/>
          <p:cNvSpPr/>
          <p:nvPr/>
        </p:nvSpPr>
        <p:spPr>
          <a:xfrm>
            <a:off x="7048195" y="2946197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149694" y="3023006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9315907" y="2946197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9417406" y="3023006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需开发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5" name="Shape 51"/>
          <p:cNvSpPr/>
          <p:nvPr/>
        </p:nvSpPr>
        <p:spPr>
          <a:xfrm>
            <a:off x="609905" y="3314700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56" name="Text 52"/>
          <p:cNvSpPr/>
          <p:nvPr/>
        </p:nvSpPr>
        <p:spPr>
          <a:xfrm>
            <a:off x="737006" y="3409798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非技术成员使用入口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7" name="Shape 53"/>
          <p:cNvSpPr/>
          <p:nvPr/>
        </p:nvSpPr>
        <p:spPr>
          <a:xfrm>
            <a:off x="2514600" y="3314700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2616098" y="339059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△</a:t>
            </a:r>
            <a:endParaRPr lang="en-US" sz="700" b="1" dirty="0">
              <a:solidFill>
                <a:srgbClr val="C5151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59" name="Shape 55"/>
          <p:cNvSpPr/>
          <p:nvPr/>
        </p:nvSpPr>
        <p:spPr>
          <a:xfrm>
            <a:off x="4781398" y="3314700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882896" y="339059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△</a:t>
            </a:r>
            <a:endParaRPr lang="en-US" sz="700" b="1" dirty="0">
              <a:solidFill>
                <a:srgbClr val="C5151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61" name="Shape 57"/>
          <p:cNvSpPr/>
          <p:nvPr/>
        </p:nvSpPr>
        <p:spPr>
          <a:xfrm>
            <a:off x="7048195" y="3314700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149694" y="339059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63" name="Shape 59"/>
          <p:cNvSpPr/>
          <p:nvPr/>
        </p:nvSpPr>
        <p:spPr>
          <a:xfrm>
            <a:off x="9315907" y="3314700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9417406" y="339059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可定制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5" name="Shape 61"/>
          <p:cNvSpPr/>
          <p:nvPr/>
        </p:nvSpPr>
        <p:spPr>
          <a:xfrm>
            <a:off x="609905" y="3683203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66" name="Text 62"/>
          <p:cNvSpPr/>
          <p:nvPr/>
        </p:nvSpPr>
        <p:spPr>
          <a:xfrm>
            <a:off x="737006" y="3778301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共享记忆 / Agent 协作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7" name="Shape 63"/>
          <p:cNvSpPr/>
          <p:nvPr/>
        </p:nvSpPr>
        <p:spPr>
          <a:xfrm>
            <a:off x="2514600" y="3683203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2616098" y="3759098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69" name="Shape 65"/>
          <p:cNvSpPr/>
          <p:nvPr/>
        </p:nvSpPr>
        <p:spPr>
          <a:xfrm>
            <a:off x="4781398" y="3683203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4882896" y="3759098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7048195" y="3683203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7149694" y="3759098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9315907" y="3683203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417406" y="3759098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可定制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5" name="Shape 71"/>
          <p:cNvSpPr/>
          <p:nvPr/>
        </p:nvSpPr>
        <p:spPr>
          <a:xfrm>
            <a:off x="609905" y="4051706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76" name="Text 72"/>
          <p:cNvSpPr/>
          <p:nvPr/>
        </p:nvSpPr>
        <p:spPr>
          <a:xfrm>
            <a:off x="737006" y="4146804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Bots / 连接器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7" name="Shape 73"/>
          <p:cNvSpPr/>
          <p:nvPr/>
        </p:nvSpPr>
        <p:spPr>
          <a:xfrm>
            <a:off x="2514600" y="4051706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2616098" y="4127602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79" name="Shape 75"/>
          <p:cNvSpPr/>
          <p:nvPr/>
        </p:nvSpPr>
        <p:spPr>
          <a:xfrm>
            <a:off x="4781398" y="4051706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4882896" y="4127602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81" name="Shape 77"/>
          <p:cNvSpPr/>
          <p:nvPr/>
        </p:nvSpPr>
        <p:spPr>
          <a:xfrm>
            <a:off x="7048195" y="4051706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7149694" y="4127602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9315907" y="4051706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9417406" y="4127602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需开发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5" name="Shape 81"/>
          <p:cNvSpPr/>
          <p:nvPr/>
        </p:nvSpPr>
        <p:spPr>
          <a:xfrm>
            <a:off x="609905" y="4419295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86" name="Text 82"/>
          <p:cNvSpPr/>
          <p:nvPr/>
        </p:nvSpPr>
        <p:spPr>
          <a:xfrm>
            <a:off x="737006" y="4515307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定时 / 自动任务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7" name="Shape 83"/>
          <p:cNvSpPr/>
          <p:nvPr/>
        </p:nvSpPr>
        <p:spPr>
          <a:xfrm>
            <a:off x="2514600" y="441929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2616098" y="449610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Actions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89" name="Shape 85"/>
          <p:cNvSpPr/>
          <p:nvPr/>
        </p:nvSpPr>
        <p:spPr>
          <a:xfrm>
            <a:off x="4781398" y="441929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4882896" y="449610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Actions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91" name="Shape 87"/>
          <p:cNvSpPr/>
          <p:nvPr/>
        </p:nvSpPr>
        <p:spPr>
          <a:xfrm>
            <a:off x="7048195" y="441929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7149694" y="449610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●</a:t>
            </a:r>
            <a:endParaRPr lang="en-US" sz="700" b="1" dirty="0">
              <a:solidFill>
                <a:srgbClr val="07195A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9315907" y="4419295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9417406" y="4496105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需开发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5" name="Shape 91"/>
          <p:cNvSpPr/>
          <p:nvPr/>
        </p:nvSpPr>
        <p:spPr>
          <a:xfrm>
            <a:off x="609905" y="4787798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96" name="Text 92"/>
          <p:cNvSpPr/>
          <p:nvPr/>
        </p:nvSpPr>
        <p:spPr>
          <a:xfrm>
            <a:off x="737006" y="4882896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私有化部署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7" name="Shape 93"/>
          <p:cNvSpPr/>
          <p:nvPr/>
        </p:nvSpPr>
        <p:spPr>
          <a:xfrm>
            <a:off x="2514600" y="4787798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2616098" y="4863694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99" name="Shape 95"/>
          <p:cNvSpPr/>
          <p:nvPr/>
        </p:nvSpPr>
        <p:spPr>
          <a:xfrm>
            <a:off x="4781398" y="4787798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4882896" y="4863694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01" name="Shape 97"/>
          <p:cNvSpPr/>
          <p:nvPr/>
        </p:nvSpPr>
        <p:spPr>
          <a:xfrm>
            <a:off x="7048195" y="4787798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7149694" y="4863694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—</a:t>
            </a:r>
            <a:endParaRPr lang="en-US" sz="700" dirty="0">
              <a:solidFill>
                <a:srgbClr val="666666"/>
              </a:solidFill>
              <a:latin typeface="Century Gothic" panose="020B0502020202020204" pitchFamily="34" charset="0"/>
              <a:ea typeface="Century Gothic" panose="020B0502020202020204" pitchFamily="34" charset="-122"/>
              <a:cs typeface="Century Gothic" panose="020B0502020202020204" pitchFamily="34" charset="-120"/>
            </a:endParaRPr>
          </a:p>
        </p:txBody>
      </p:sp>
      <p:sp>
        <p:nvSpPr>
          <p:cNvPr id="103" name="Shape 99"/>
          <p:cNvSpPr/>
          <p:nvPr/>
        </p:nvSpPr>
        <p:spPr>
          <a:xfrm>
            <a:off x="9315907" y="4787798"/>
            <a:ext cx="2216506" cy="330098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9417406" y="4863694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可定制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5" name="Shape 101"/>
          <p:cNvSpPr/>
          <p:nvPr/>
        </p:nvSpPr>
        <p:spPr>
          <a:xfrm>
            <a:off x="609905" y="5156302"/>
            <a:ext cx="1904695" cy="330098"/>
          </a:xfrm>
          <a:prstGeom prst="roundRect">
            <a:avLst>
              <a:gd name="adj" fmla="val 22992"/>
            </a:avLst>
          </a:prstGeom>
          <a:solidFill>
            <a:srgbClr val="E6EAF3"/>
          </a:solidFill>
        </p:spPr>
      </p:sp>
      <p:sp>
        <p:nvSpPr>
          <p:cNvPr id="106" name="Text 102"/>
          <p:cNvSpPr/>
          <p:nvPr/>
        </p:nvSpPr>
        <p:spPr>
          <a:xfrm>
            <a:off x="737006" y="5251399"/>
            <a:ext cx="1651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维护与合规责任</a:t>
            </a:r>
            <a:endParaRPr lang="en-US" sz="700" b="1" dirty="0">
              <a:solidFill>
                <a:srgbClr val="07195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7" name="Shape 103"/>
          <p:cNvSpPr/>
          <p:nvPr/>
        </p:nvSpPr>
        <p:spPr>
          <a:xfrm>
            <a:off x="2514600" y="5156302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2616098" y="5232197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平台承担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9" name="Shape 105"/>
          <p:cNvSpPr/>
          <p:nvPr/>
        </p:nvSpPr>
        <p:spPr>
          <a:xfrm>
            <a:off x="4781398" y="5156302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4882896" y="5232197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平台承担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1" name="Shape 107"/>
          <p:cNvSpPr/>
          <p:nvPr/>
        </p:nvSpPr>
        <p:spPr>
          <a:xfrm>
            <a:off x="7048195" y="5156302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7149694" y="5232197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平台承担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3" name="Shape 109"/>
          <p:cNvSpPr/>
          <p:nvPr/>
        </p:nvSpPr>
        <p:spPr>
          <a:xfrm>
            <a:off x="9315907" y="5156302"/>
            <a:ext cx="2216506" cy="330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9417406" y="5232197"/>
            <a:ext cx="2012594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团队全承担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5" name="Text 111"/>
          <p:cNvSpPr/>
          <p:nvPr/>
        </p:nvSpPr>
        <p:spPr>
          <a:xfrm>
            <a:off x="609905" y="5753405"/>
            <a:ext cx="1097280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* 价格为 2026-07-24 官方页面快照；采购前需复核。自建 TCO = 开发人月 + 运维 + 安全合规 + 机会成本。</a:t>
            </a:r>
            <a:endParaRPr lang="en-US" sz="7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6" name="Shape 112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当前结论：GitHub Free + 飞书先跑，按痛点分层升级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默认先买现成治理能力；只有差异化流程形成持续价值、TCO 可证明时，才进入自建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968703"/>
            <a:ext cx="26673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CURRENT BASELINE · PROPOSED V1</a:t>
            </a:r>
            <a:endParaRPr lang="en-US" sz="650" dirty="0"/>
          </a:p>
        </p:txBody>
      </p:sp>
      <p:sp>
        <p:nvSpPr>
          <p:cNvPr id="8" name="Shape 4"/>
          <p:cNvSpPr/>
          <p:nvPr/>
        </p:nvSpPr>
        <p:spPr>
          <a:xfrm>
            <a:off x="609905" y="2247595"/>
            <a:ext cx="3619195" cy="3010205"/>
          </a:xfrm>
          <a:prstGeom prst="roundRect">
            <a:avLst>
              <a:gd name="adj" fmla="val 4648"/>
            </a:avLst>
          </a:prstGeom>
          <a:solidFill>
            <a:srgbClr val="FBECEB"/>
          </a:solidFill>
          <a:ln w="20320">
            <a:solidFill>
              <a:srgbClr val="C51516"/>
            </a:solidFill>
            <a:prstDash val="solid"/>
          </a:ln>
          <a:effectLst>
            <a:outerShdw blurRad="25400" dist="25400" dir="2700000" algn="bl" rotWithShape="0">
              <a:srgbClr val="B7B2A8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88797" y="2514600"/>
            <a:ext cx="3060497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Free + 飞书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88797" y="2857500"/>
            <a:ext cx="3060497" cy="342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最低新增成本跑通正式源、人工审批、Release 与团队更新闭环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88797" y="3467405"/>
            <a:ext cx="3060497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13" name="Text 9"/>
          <p:cNvSpPr/>
          <p:nvPr/>
        </p:nvSpPr>
        <p:spPr>
          <a:xfrm>
            <a:off x="1015898" y="3562502"/>
            <a:ext cx="8001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GitHub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1867205" y="3562502"/>
            <a:ext cx="1930298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正式资产源 · PR / Tag / Release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888797" y="3924605"/>
            <a:ext cx="3060497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16" name="Text 12"/>
          <p:cNvSpPr/>
          <p:nvPr/>
        </p:nvSpPr>
        <p:spPr>
          <a:xfrm>
            <a:off x="1015898" y="4019702"/>
            <a:ext cx="8001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1867205" y="4019702"/>
            <a:ext cx="1930298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审批前提醒 · 动作后回执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888797" y="4381805"/>
            <a:ext cx="3060497" cy="342900"/>
          </a:xfrm>
          <a:prstGeom prst="roundRect">
            <a:avLst>
              <a:gd name="adj" fmla="val 22133"/>
            </a:avLst>
          </a:prstGeom>
          <a:solidFill>
            <a:srgbClr val="E6EAF3"/>
          </a:solidFill>
        </p:spPr>
      </p:sp>
      <p:sp>
        <p:nvSpPr>
          <p:cNvPr id="19" name="Text 15"/>
          <p:cNvSpPr/>
          <p:nvPr/>
        </p:nvSpPr>
        <p:spPr>
          <a:xfrm>
            <a:off x="1015898" y="4476902"/>
            <a:ext cx="8001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本地自动化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1867205" y="4476902"/>
            <a:ext cx="1930298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候选整理 · 检查 · 安装 / 回滚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4724705" y="1968703"/>
            <a:ext cx="6858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UPGRADE ONLY WHEN A TRIGGER IS HIT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4724705" y="2247595"/>
            <a:ext cx="6858000" cy="838505"/>
          </a:xfrm>
          <a:prstGeom prst="roundRect">
            <a:avLst>
              <a:gd name="adj" fmla="val 1363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14900" y="2438705"/>
            <a:ext cx="304495" cy="304495"/>
          </a:xfrm>
          <a:prstGeom prst="roundRect">
            <a:avLst>
              <a:gd name="adj" fmla="val 5015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14900" y="2508199"/>
            <a:ext cx="3044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5372100" y="2400300"/>
            <a:ext cx="21973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升级 GitHub Team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372100" y="2667305"/>
            <a:ext cx="41276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私有仓库必须由服务端强制 Ruleset、required reviewer 或更严格治理。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9702698" y="2463394"/>
            <a:ext cx="1638605" cy="405994"/>
          </a:xfrm>
          <a:prstGeom prst="roundRect">
            <a:avLst>
              <a:gd name="adj" fmla="val 2184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804197" y="2553005"/>
            <a:ext cx="1434694" cy="2157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BUY · 补强正式源门禁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4724705" y="3301898"/>
            <a:ext cx="6858000" cy="838505"/>
          </a:xfrm>
          <a:prstGeom prst="roundRect">
            <a:avLst>
              <a:gd name="adj" fmla="val 1363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914900" y="3492094"/>
            <a:ext cx="304495" cy="304495"/>
          </a:xfrm>
          <a:prstGeom prst="roundRect">
            <a:avLst>
              <a:gd name="adj" fmla="val 5015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14900" y="3562502"/>
            <a:ext cx="3044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5372100" y="3454603"/>
            <a:ext cx="21973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Kollab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5372100" y="3720694"/>
            <a:ext cx="41276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团队真正需要共享 Agent 工作空间与知识协作，而不只是管理正式代码资产。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9702698" y="3517697"/>
            <a:ext cx="1638605" cy="405994"/>
          </a:xfrm>
          <a:prstGeom prst="roundRect">
            <a:avLst>
              <a:gd name="adj" fmla="val 2184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804197" y="3606394"/>
            <a:ext cx="1434694" cy="2157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BUY · 补工作空间层</a:t>
            </a:r>
            <a:endParaRPr lang="en-US" sz="600" dirty="0"/>
          </a:p>
        </p:txBody>
      </p:sp>
      <p:sp>
        <p:nvSpPr>
          <p:cNvPr id="36" name="Shape 32"/>
          <p:cNvSpPr/>
          <p:nvPr/>
        </p:nvSpPr>
        <p:spPr>
          <a:xfrm>
            <a:off x="4724705" y="4356202"/>
            <a:ext cx="6858000" cy="838505"/>
          </a:xfrm>
          <a:prstGeom prst="roundRect">
            <a:avLst>
              <a:gd name="adj" fmla="val 13631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914900" y="4546397"/>
            <a:ext cx="304495" cy="304495"/>
          </a:xfrm>
          <a:prstGeom prst="roundRect">
            <a:avLst>
              <a:gd name="adj" fmla="val 5015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14900" y="4616806"/>
            <a:ext cx="3044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5372100" y="4508906"/>
            <a:ext cx="21973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进入自建评估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5372100" y="4774997"/>
            <a:ext cx="4127602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专属权限、集成或流程差异长期存在，且可量化收益足以覆盖开发与运维 TCO。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9702698" y="4572000"/>
            <a:ext cx="1638605" cy="405994"/>
          </a:xfrm>
          <a:prstGeom prst="roundRect">
            <a:avLst>
              <a:gd name="adj" fmla="val 2184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804197" y="4660697"/>
            <a:ext cx="1434694" cy="2157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BUILD · 先过 TCO 门槛</a:t>
            </a:r>
            <a:endParaRPr lang="en-US" sz="600" dirty="0"/>
          </a:p>
        </p:txBody>
      </p:sp>
      <p:sp>
        <p:nvSpPr>
          <p:cNvPr id="43" name="Shape 39"/>
          <p:cNvSpPr/>
          <p:nvPr/>
        </p:nvSpPr>
        <p:spPr>
          <a:xfrm>
            <a:off x="4304995" y="3746297"/>
            <a:ext cx="241402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546397" y="2667305"/>
            <a:ext cx="0" cy="2108606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546397" y="2667305"/>
            <a:ext cx="101498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6" name="Shape 42"/>
          <p:cNvSpPr/>
          <p:nvPr/>
        </p:nvSpPr>
        <p:spPr>
          <a:xfrm>
            <a:off x="4546397" y="3720694"/>
            <a:ext cx="101498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4546397" y="4774997"/>
            <a:ext cx="101498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PPT 完成到团队自动更新，只有一条主流程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候选计算、风险路由、飞书待审批、双人工 Gate、Release 与失败回路都在同一条可审计链上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171700" y="1295705"/>
            <a:ext cx="3708806" cy="254203"/>
          </a:xfrm>
          <a:prstGeom prst="roundRect">
            <a:avLst>
              <a:gd name="adj" fmla="val 34892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0" y="1358798"/>
            <a:ext cx="254203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00" dirty="0"/>
          </a:p>
        </p:txBody>
      </p:sp>
      <p:sp>
        <p:nvSpPr>
          <p:cNvPr id="9" name="Text 5"/>
          <p:cNvSpPr/>
          <p:nvPr/>
        </p:nvSpPr>
        <p:spPr>
          <a:xfrm>
            <a:off x="2565806" y="1320394"/>
            <a:ext cx="10671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提取与计算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594506" y="1345997"/>
            <a:ext cx="217170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 → 候选签名 → 历史库</a:t>
            </a:r>
            <a:endParaRPr lang="en-US" sz="600" dirty="0"/>
          </a:p>
        </p:txBody>
      </p:sp>
      <p:sp>
        <p:nvSpPr>
          <p:cNvPr id="11" name="Shape 7"/>
          <p:cNvSpPr/>
          <p:nvPr/>
        </p:nvSpPr>
        <p:spPr>
          <a:xfrm>
            <a:off x="5994806" y="1295705"/>
            <a:ext cx="3594506" cy="254203"/>
          </a:xfrm>
          <a:prstGeom prst="roundRect">
            <a:avLst>
              <a:gd name="adj" fmla="val 34892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09106" y="1358798"/>
            <a:ext cx="254203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6387998" y="1320394"/>
            <a:ext cx="10671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申请与审核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416698" y="1345997"/>
            <a:ext cx="205740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风险路由 → PR / CI → 人工</a:t>
            </a:r>
            <a:endParaRPr lang="en-US" sz="600" dirty="0"/>
          </a:p>
        </p:txBody>
      </p:sp>
      <p:sp>
        <p:nvSpPr>
          <p:cNvPr id="15" name="Shape 11"/>
          <p:cNvSpPr/>
          <p:nvPr/>
        </p:nvSpPr>
        <p:spPr>
          <a:xfrm>
            <a:off x="9702698" y="1295705"/>
            <a:ext cx="1880006" cy="254203"/>
          </a:xfrm>
          <a:prstGeom prst="roundRect">
            <a:avLst>
              <a:gd name="adj" fmla="val 34892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16998" y="1358798"/>
            <a:ext cx="254203" cy="1014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10096805" y="1320394"/>
            <a:ext cx="10671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发布与消费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125505" y="1345997"/>
            <a:ext cx="342900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Release → 更新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609905" y="1587398"/>
            <a:ext cx="1447495" cy="470002"/>
          </a:xfrm>
          <a:prstGeom prst="roundRect">
            <a:avLst>
              <a:gd name="adj" fmla="val 18872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24205" y="1701698"/>
            <a:ext cx="1218895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 Agent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2171700" y="1587398"/>
            <a:ext cx="9411005" cy="470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9905" y="2133295"/>
            <a:ext cx="1447495" cy="470002"/>
          </a:xfrm>
          <a:prstGeom prst="roundRect">
            <a:avLst>
              <a:gd name="adj" fmla="val 18872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4205" y="2247595"/>
            <a:ext cx="1218895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本地自动化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171700" y="2133295"/>
            <a:ext cx="9411005" cy="470002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9905" y="2680106"/>
            <a:ext cx="1447495" cy="470002"/>
          </a:xfrm>
          <a:prstGeom prst="roundRect">
            <a:avLst>
              <a:gd name="adj" fmla="val 18872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4205" y="2794406"/>
            <a:ext cx="1218895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GitHub / CI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171700" y="2680106"/>
            <a:ext cx="9411005" cy="470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09905" y="3226003"/>
            <a:ext cx="1447495" cy="470002"/>
          </a:xfrm>
          <a:prstGeom prst="roundRect">
            <a:avLst>
              <a:gd name="adj" fmla="val 29767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24205" y="3340303"/>
            <a:ext cx="1218895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 Gate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171700" y="3226003"/>
            <a:ext cx="9411005" cy="470002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09905" y="3771900"/>
            <a:ext cx="1447495" cy="470002"/>
          </a:xfrm>
          <a:prstGeom prst="roundRect">
            <a:avLst>
              <a:gd name="adj" fmla="val 18872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24205" y="3886200"/>
            <a:ext cx="1218895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171700" y="3771900"/>
            <a:ext cx="9411005" cy="470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09905" y="4317797"/>
            <a:ext cx="1447495" cy="470002"/>
          </a:xfrm>
          <a:prstGeom prst="roundRect">
            <a:avLst>
              <a:gd name="adj" fmla="val 18872"/>
            </a:avLst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24205" y="4432097"/>
            <a:ext cx="1218895" cy="2414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Team Consumer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171700" y="4317797"/>
            <a:ext cx="9411005" cy="470002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092501" y="2057400"/>
            <a:ext cx="0" cy="88697"/>
          </a:xfrm>
          <a:prstGeom prst="line">
            <a:avLst/>
          </a:prstGeom>
          <a:noFill/>
          <a:ln w="1905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3987698" y="2374697"/>
            <a:ext cx="114300" cy="0"/>
          </a:xfrm>
          <a:prstGeom prst="line">
            <a:avLst/>
          </a:prstGeom>
          <a:noFill/>
          <a:ln w="1905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5816498" y="2374697"/>
            <a:ext cx="114300" cy="0"/>
          </a:xfrm>
          <a:prstGeom prst="line">
            <a:avLst/>
          </a:prstGeom>
          <a:noFill/>
          <a:ln w="2159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7645298" y="2920594"/>
            <a:ext cx="165506" cy="0"/>
          </a:xfrm>
          <a:prstGeom prst="line">
            <a:avLst/>
          </a:prstGeom>
          <a:noFill/>
          <a:ln w="1905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9525305" y="3467405"/>
            <a:ext cx="190195" cy="0"/>
          </a:xfrm>
          <a:prstGeom prst="line">
            <a:avLst/>
          </a:prstGeom>
          <a:noFill/>
          <a:ln w="2159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788506" y="2603297"/>
            <a:ext cx="0" cy="88697"/>
          </a:xfrm>
          <a:prstGeom prst="line">
            <a:avLst/>
          </a:prstGeom>
          <a:noFill/>
          <a:ln w="2032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9448495" y="2920594"/>
            <a:ext cx="152705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601200" y="2920594"/>
            <a:ext cx="0" cy="267005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 flipH="1">
            <a:off x="7696505" y="3187598"/>
            <a:ext cx="1904695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696505" y="3187598"/>
            <a:ext cx="0" cy="825703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696505" y="4013302"/>
            <a:ext cx="114300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 flipV="1">
            <a:off x="8667598" y="3696005"/>
            <a:ext cx="0" cy="88697"/>
          </a:xfrm>
          <a:prstGeom prst="line">
            <a:avLst/>
          </a:prstGeom>
          <a:noFill/>
          <a:ln w="2032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 flipV="1">
            <a:off x="10573207" y="3149194"/>
            <a:ext cx="0" cy="88697"/>
          </a:xfrm>
          <a:prstGeom prst="line">
            <a:avLst/>
          </a:prstGeom>
          <a:noFill/>
          <a:ln w="2032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11430000" y="2920594"/>
            <a:ext cx="75895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1505895" y="2920594"/>
            <a:ext cx="0" cy="1091794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 flipH="1">
            <a:off x="11430000" y="4013302"/>
            <a:ext cx="75895" cy="0"/>
          </a:xfrm>
          <a:prstGeom prst="line">
            <a:avLst/>
          </a:prstGeom>
          <a:noFill/>
          <a:ln w="1778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10573207" y="4241902"/>
            <a:ext cx="0" cy="88697"/>
          </a:xfrm>
          <a:prstGeom prst="line">
            <a:avLst/>
          </a:prstGeom>
          <a:noFill/>
          <a:ln w="1905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 flipH="1">
            <a:off x="5842102" y="2374697"/>
            <a:ext cx="88697" cy="0"/>
          </a:xfrm>
          <a:prstGeom prst="line">
            <a:avLst/>
          </a:prstGeom>
          <a:noFill/>
          <a:ln w="15240">
            <a:solidFill>
              <a:srgbClr val="C51516"/>
            </a:solidFill>
            <a:prstDash val="dash"/>
          </a:ln>
        </p:spPr>
      </p:sp>
      <p:sp>
        <p:nvSpPr>
          <p:cNvPr id="55" name="Shape 51"/>
          <p:cNvSpPr/>
          <p:nvPr/>
        </p:nvSpPr>
        <p:spPr>
          <a:xfrm>
            <a:off x="5842102" y="2374697"/>
            <a:ext cx="0" cy="2641702"/>
          </a:xfrm>
          <a:prstGeom prst="line">
            <a:avLst/>
          </a:prstGeom>
          <a:noFill/>
          <a:ln w="15240">
            <a:solidFill>
              <a:srgbClr val="C51516"/>
            </a:solidFill>
            <a:prstDash val="dash"/>
            <a:tailEnd type="triangle"/>
          </a:ln>
        </p:spPr>
      </p:sp>
      <p:sp>
        <p:nvSpPr>
          <p:cNvPr id="56" name="Shape 52"/>
          <p:cNvSpPr/>
          <p:nvPr/>
        </p:nvSpPr>
        <p:spPr>
          <a:xfrm flipV="1">
            <a:off x="8667598" y="2590495"/>
            <a:ext cx="0" cy="101498"/>
          </a:xfrm>
          <a:prstGeom prst="line">
            <a:avLst/>
          </a:prstGeom>
          <a:noFill/>
          <a:ln w="15240">
            <a:solidFill>
              <a:srgbClr val="C51516"/>
            </a:solidFill>
            <a:prstDash val="dash"/>
          </a:ln>
        </p:spPr>
      </p:sp>
      <p:sp>
        <p:nvSpPr>
          <p:cNvPr id="57" name="Shape 53"/>
          <p:cNvSpPr/>
          <p:nvPr/>
        </p:nvSpPr>
        <p:spPr>
          <a:xfrm flipH="1">
            <a:off x="5842102" y="2590495"/>
            <a:ext cx="2825496" cy="0"/>
          </a:xfrm>
          <a:prstGeom prst="line">
            <a:avLst/>
          </a:prstGeom>
          <a:noFill/>
          <a:ln w="15240">
            <a:solidFill>
              <a:srgbClr val="C51516"/>
            </a:solidFill>
            <a:prstDash val="dash"/>
          </a:ln>
        </p:spPr>
      </p:sp>
      <p:sp>
        <p:nvSpPr>
          <p:cNvPr id="58" name="Shape 54"/>
          <p:cNvSpPr/>
          <p:nvPr/>
        </p:nvSpPr>
        <p:spPr>
          <a:xfrm>
            <a:off x="10573207" y="4787798"/>
            <a:ext cx="0" cy="228600"/>
          </a:xfrm>
          <a:prstGeom prst="line">
            <a:avLst/>
          </a:prstGeom>
          <a:noFill/>
          <a:ln w="15240">
            <a:solidFill>
              <a:srgbClr val="C51516"/>
            </a:solidFill>
            <a:prstDash val="dash"/>
            <a:tailEnd type="triangle"/>
          </a:ln>
        </p:spPr>
      </p:sp>
      <p:sp>
        <p:nvSpPr>
          <p:cNvPr id="59" name="Shape 55"/>
          <p:cNvSpPr/>
          <p:nvPr/>
        </p:nvSpPr>
        <p:spPr>
          <a:xfrm flipV="1">
            <a:off x="2095805" y="2374697"/>
            <a:ext cx="0" cy="2641702"/>
          </a:xfrm>
          <a:prstGeom prst="line">
            <a:avLst/>
          </a:prstGeom>
          <a:noFill/>
          <a:ln w="15240">
            <a:solidFill>
              <a:srgbClr val="C51516"/>
            </a:solidFill>
            <a:prstDash val="dash"/>
          </a:ln>
        </p:spPr>
      </p:sp>
      <p:sp>
        <p:nvSpPr>
          <p:cNvPr id="60" name="Shape 56"/>
          <p:cNvSpPr/>
          <p:nvPr/>
        </p:nvSpPr>
        <p:spPr>
          <a:xfrm>
            <a:off x="2095805" y="2374697"/>
            <a:ext cx="177394" cy="0"/>
          </a:xfrm>
          <a:prstGeom prst="line">
            <a:avLst/>
          </a:prstGeom>
          <a:noFill/>
          <a:ln w="15240">
            <a:solidFill>
              <a:srgbClr val="C51516"/>
            </a:solidFill>
            <a:prstDash val="dash"/>
            <a:tailEnd type="triangle"/>
          </a:ln>
        </p:spPr>
      </p:sp>
      <p:sp>
        <p:nvSpPr>
          <p:cNvPr id="61" name="Shape 57"/>
          <p:cNvSpPr/>
          <p:nvPr/>
        </p:nvSpPr>
        <p:spPr>
          <a:xfrm>
            <a:off x="2349094" y="1676095"/>
            <a:ext cx="1485900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2451506" y="1759306"/>
            <a:ext cx="1282903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PPT 完成 · final verify</a:t>
            </a:r>
            <a:endParaRPr lang="en-US" sz="600" dirty="0"/>
          </a:p>
        </p:txBody>
      </p:sp>
      <p:sp>
        <p:nvSpPr>
          <p:cNvPr id="63" name="Shape 59"/>
          <p:cNvSpPr/>
          <p:nvPr/>
        </p:nvSpPr>
        <p:spPr>
          <a:xfrm>
            <a:off x="2349094" y="2222906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2451506" y="2305202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信号提取 → 候选签名</a:t>
            </a:r>
            <a:endParaRPr lang="en-US" sz="600" dirty="0"/>
          </a:p>
        </p:txBody>
      </p:sp>
      <p:sp>
        <p:nvSpPr>
          <p:cNvPr id="65" name="Shape 61"/>
          <p:cNvSpPr/>
          <p:nvPr/>
        </p:nvSpPr>
        <p:spPr>
          <a:xfrm>
            <a:off x="4177894" y="2222906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4280306" y="2305202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历史库 Top matches</a:t>
            </a:r>
            <a:endParaRPr lang="en-US" sz="600" dirty="0"/>
          </a:p>
        </p:txBody>
      </p:sp>
      <p:sp>
        <p:nvSpPr>
          <p:cNvPr id="67" name="Shape 63"/>
          <p:cNvSpPr/>
          <p:nvPr/>
        </p:nvSpPr>
        <p:spPr>
          <a:xfrm>
            <a:off x="6006694" y="2222906"/>
            <a:ext cx="1561795" cy="304495"/>
          </a:xfrm>
          <a:prstGeom prst="roundRect">
            <a:avLst>
              <a:gd name="adj" fmla="val 45946"/>
            </a:avLst>
          </a:prstGeom>
          <a:solidFill>
            <a:srgbClr val="FBECEB"/>
          </a:solidFill>
          <a:ln w="20320">
            <a:solidFill>
              <a:srgbClr val="C51516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038698" y="2337206"/>
            <a:ext cx="32004" cy="75895"/>
          </a:xfrm>
          <a:prstGeom prst="roundRect">
            <a:avLst>
              <a:gd name="adj" fmla="val 100000"/>
            </a:avLst>
          </a:prstGeom>
          <a:solidFill>
            <a:srgbClr val="1F6289"/>
          </a:solidFill>
        </p:spPr>
      </p:sp>
      <p:sp>
        <p:nvSpPr>
          <p:cNvPr id="69" name="Text 65"/>
          <p:cNvSpPr/>
          <p:nvPr/>
        </p:nvSpPr>
        <p:spPr>
          <a:xfrm>
            <a:off x="6109106" y="2305202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硬冲突 + 阈值路由</a:t>
            </a:r>
            <a:endParaRPr lang="en-US" sz="600" dirty="0"/>
          </a:p>
        </p:txBody>
      </p:sp>
      <p:sp>
        <p:nvSpPr>
          <p:cNvPr id="70" name="Shape 66"/>
          <p:cNvSpPr/>
          <p:nvPr/>
        </p:nvSpPr>
        <p:spPr>
          <a:xfrm>
            <a:off x="6006694" y="2768803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109106" y="2851099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Draft PR · 差异材料</a:t>
            </a:r>
            <a:endParaRPr lang="en-US" sz="600" dirty="0"/>
          </a:p>
        </p:txBody>
      </p:sp>
      <p:sp>
        <p:nvSpPr>
          <p:cNvPr id="72" name="Shape 68"/>
          <p:cNvSpPr/>
          <p:nvPr/>
        </p:nvSpPr>
        <p:spPr>
          <a:xfrm>
            <a:off x="7886700" y="2768803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7988198" y="2851099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Checks · 自动资格</a:t>
            </a:r>
            <a:endParaRPr lang="en-US" sz="600" dirty="0"/>
          </a:p>
        </p:txBody>
      </p:sp>
      <p:sp>
        <p:nvSpPr>
          <p:cNvPr id="74" name="Shape 70"/>
          <p:cNvSpPr/>
          <p:nvPr/>
        </p:nvSpPr>
        <p:spPr>
          <a:xfrm>
            <a:off x="7886700" y="3860597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7988198" y="3943807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 · 待审批提醒</a:t>
            </a:r>
            <a:endParaRPr lang="en-US" sz="600" dirty="0"/>
          </a:p>
        </p:txBody>
      </p:sp>
      <p:sp>
        <p:nvSpPr>
          <p:cNvPr id="76" name="Shape 72"/>
          <p:cNvSpPr/>
          <p:nvPr/>
        </p:nvSpPr>
        <p:spPr>
          <a:xfrm>
            <a:off x="7886700" y="3314700"/>
            <a:ext cx="1561795" cy="304495"/>
          </a:xfrm>
          <a:prstGeom prst="roundRect">
            <a:avLst>
              <a:gd name="adj" fmla="val 45946"/>
            </a:avLst>
          </a:prstGeom>
          <a:solidFill>
            <a:srgbClr val="FBECEB"/>
          </a:solidFill>
          <a:ln w="20320">
            <a:solidFill>
              <a:srgbClr val="C51516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7918704" y="3429000"/>
            <a:ext cx="32004" cy="75895"/>
          </a:xfrm>
          <a:prstGeom prst="roundRect">
            <a:avLst>
              <a:gd name="adj" fmla="val 100000"/>
            </a:avLst>
          </a:prstGeom>
          <a:solidFill>
            <a:srgbClr val="1F6289"/>
          </a:solidFill>
        </p:spPr>
      </p:sp>
      <p:sp>
        <p:nvSpPr>
          <p:cNvPr id="78" name="Text 74"/>
          <p:cNvSpPr/>
          <p:nvPr/>
        </p:nvSpPr>
        <p:spPr>
          <a:xfrm>
            <a:off x="7988198" y="3396996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 ① · 候选合并</a:t>
            </a:r>
            <a:endParaRPr lang="en-US" sz="600" dirty="0"/>
          </a:p>
        </p:txBody>
      </p:sp>
      <p:sp>
        <p:nvSpPr>
          <p:cNvPr id="79" name="Shape 75"/>
          <p:cNvSpPr/>
          <p:nvPr/>
        </p:nvSpPr>
        <p:spPr>
          <a:xfrm>
            <a:off x="9791395" y="3314700"/>
            <a:ext cx="1561795" cy="304495"/>
          </a:xfrm>
          <a:prstGeom prst="roundRect">
            <a:avLst>
              <a:gd name="adj" fmla="val 45946"/>
            </a:avLst>
          </a:prstGeom>
          <a:solidFill>
            <a:srgbClr val="FBECEB"/>
          </a:solidFill>
          <a:ln w="20320">
            <a:solidFill>
              <a:srgbClr val="C51516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9823399" y="3429000"/>
            <a:ext cx="32004" cy="75895"/>
          </a:xfrm>
          <a:prstGeom prst="roundRect">
            <a:avLst>
              <a:gd name="adj" fmla="val 100000"/>
            </a:avLst>
          </a:prstGeom>
          <a:solidFill>
            <a:srgbClr val="1F6289"/>
          </a:solidFill>
        </p:spPr>
      </p:sp>
      <p:sp>
        <p:nvSpPr>
          <p:cNvPr id="81" name="Text 77"/>
          <p:cNvSpPr/>
          <p:nvPr/>
        </p:nvSpPr>
        <p:spPr>
          <a:xfrm>
            <a:off x="9892894" y="3396996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 ② · 正式晋升</a:t>
            </a:r>
            <a:endParaRPr lang="en-US" sz="600" dirty="0"/>
          </a:p>
        </p:txBody>
      </p:sp>
      <p:sp>
        <p:nvSpPr>
          <p:cNvPr id="82" name="Shape 78"/>
          <p:cNvSpPr/>
          <p:nvPr/>
        </p:nvSpPr>
        <p:spPr>
          <a:xfrm>
            <a:off x="9791395" y="2768803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9892894" y="2851099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Tag · GitHub Release</a:t>
            </a:r>
            <a:endParaRPr lang="en-US" sz="600" dirty="0"/>
          </a:p>
        </p:txBody>
      </p:sp>
      <p:sp>
        <p:nvSpPr>
          <p:cNvPr id="84" name="Shape 80"/>
          <p:cNvSpPr/>
          <p:nvPr/>
        </p:nvSpPr>
        <p:spPr>
          <a:xfrm>
            <a:off x="9791395" y="3860597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9892894" y="3943807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 · 合并 / 发布回执</a:t>
            </a:r>
            <a:endParaRPr lang="en-US" sz="600" dirty="0"/>
          </a:p>
        </p:txBody>
      </p:sp>
      <p:sp>
        <p:nvSpPr>
          <p:cNvPr id="86" name="Shape 82"/>
          <p:cNvSpPr/>
          <p:nvPr/>
        </p:nvSpPr>
        <p:spPr>
          <a:xfrm>
            <a:off x="9791395" y="4406494"/>
            <a:ext cx="1561795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3970">
            <a:solidFill>
              <a:srgbClr val="07195A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9892894" y="4489704"/>
            <a:ext cx="1358798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备份 → 安装 → 自检</a:t>
            </a:r>
            <a:endParaRPr lang="en-US" sz="600" dirty="0"/>
          </a:p>
        </p:txBody>
      </p:sp>
      <p:sp>
        <p:nvSpPr>
          <p:cNvPr id="88" name="Shape 84"/>
          <p:cNvSpPr/>
          <p:nvPr/>
        </p:nvSpPr>
        <p:spPr>
          <a:xfrm>
            <a:off x="2171700" y="5092294"/>
            <a:ext cx="9411005" cy="368503"/>
          </a:xfrm>
          <a:prstGeom prst="roundRect">
            <a:avLst>
              <a:gd name="adj" fmla="val 37965"/>
            </a:avLst>
          </a:prstGeom>
          <a:solidFill>
            <a:srgbClr val="FBECEB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203704" y="5206594"/>
            <a:ext cx="32004" cy="139903"/>
          </a:xfrm>
          <a:prstGeom prst="roundRect">
            <a:avLst>
              <a:gd name="adj" fmla="val 100000"/>
            </a:avLst>
          </a:prstGeom>
          <a:solidFill>
            <a:srgbClr val="C51516"/>
          </a:solidFill>
        </p:spPr>
      </p:sp>
      <p:sp>
        <p:nvSpPr>
          <p:cNvPr id="90" name="Text 86"/>
          <p:cNvSpPr/>
          <p:nvPr/>
        </p:nvSpPr>
        <p:spPr>
          <a:xfrm>
            <a:off x="2374697" y="5194706"/>
            <a:ext cx="88523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 / 退回：硬冲突、Checks 失败、审批退回或安装失败 → 飞书通知 → 回到候选或恢复旧版本</a:t>
            </a:r>
            <a:endParaRPr lang="en-US" sz="600" dirty="0"/>
          </a:p>
        </p:txBody>
      </p:sp>
      <p:sp>
        <p:nvSpPr>
          <p:cNvPr id="91" name="Shape 87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一张图看懂共享机制的系统架构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本地产出 → GitHub 治理 → Release 分发；飞书只负责触达，不保存正式 Skill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561795"/>
            <a:ext cx="2286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LOCAL PROJECT · EVIDENCE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301898" y="1409395"/>
            <a:ext cx="55248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GITHUB · GOVERNANCE CORE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9207094" y="1561795"/>
            <a:ext cx="23746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TEAM · CONSUMPTION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609905" y="1803197"/>
            <a:ext cx="2286000" cy="3263494"/>
          </a:xfrm>
          <a:prstGeom prst="roundRect">
            <a:avLst>
              <a:gd name="adj" fmla="val 6120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00100" y="1994306"/>
            <a:ext cx="1904695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项目端 · 产出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0100" y="2260397"/>
            <a:ext cx="19046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只提交已验证、可脱敏的候选证据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87298" y="2628900"/>
            <a:ext cx="1930298" cy="495605"/>
          </a:xfrm>
          <a:prstGeom prst="roundRect">
            <a:avLst>
              <a:gd name="adj" fmla="val 15314"/>
            </a:avLst>
          </a:prstGeom>
          <a:solidFill>
            <a:srgbClr val="E6EAF3"/>
          </a:solidFill>
        </p:spPr>
      </p:sp>
      <p:sp>
        <p:nvSpPr>
          <p:cNvPr id="14" name="Shape 10"/>
          <p:cNvSpPr/>
          <p:nvPr/>
        </p:nvSpPr>
        <p:spPr>
          <a:xfrm>
            <a:off x="888797" y="2756002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8797" y="281269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1231697" y="2704795"/>
            <a:ext cx="13587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Codex / PPT 项目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231697" y="2895905"/>
            <a:ext cx="13587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真实交付与验证</a:t>
            </a:r>
            <a:endParaRPr lang="en-US" sz="650" dirty="0"/>
          </a:p>
        </p:txBody>
      </p:sp>
      <p:sp>
        <p:nvSpPr>
          <p:cNvPr id="18" name="Shape 14"/>
          <p:cNvSpPr/>
          <p:nvPr/>
        </p:nvSpPr>
        <p:spPr>
          <a:xfrm>
            <a:off x="787298" y="3289097"/>
            <a:ext cx="1930298" cy="495605"/>
          </a:xfrm>
          <a:prstGeom prst="roundRect">
            <a:avLst>
              <a:gd name="adj" fmla="val 15314"/>
            </a:avLst>
          </a:prstGeom>
          <a:solidFill>
            <a:srgbClr val="E6EAF3"/>
          </a:solidFill>
        </p:spPr>
      </p:sp>
      <p:sp>
        <p:nvSpPr>
          <p:cNvPr id="19" name="Shape 15"/>
          <p:cNvSpPr/>
          <p:nvPr/>
        </p:nvSpPr>
        <p:spPr>
          <a:xfrm>
            <a:off x="888797" y="3416198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88797" y="347380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21" name="Text 17"/>
          <p:cNvSpPr/>
          <p:nvPr/>
        </p:nvSpPr>
        <p:spPr>
          <a:xfrm>
            <a:off x="1231697" y="3365906"/>
            <a:ext cx="13587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组件 / 规则 / 经验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231697" y="3556102"/>
            <a:ext cx="13587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已知证据范围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787298" y="3949294"/>
            <a:ext cx="1930298" cy="495605"/>
          </a:xfrm>
          <a:prstGeom prst="roundRect">
            <a:avLst>
              <a:gd name="adj" fmla="val 15314"/>
            </a:avLst>
          </a:prstGeom>
          <a:solidFill>
            <a:srgbClr val="E6EAF3"/>
          </a:solidFill>
        </p:spPr>
      </p:sp>
      <p:sp>
        <p:nvSpPr>
          <p:cNvPr id="24" name="Shape 20"/>
          <p:cNvSpPr/>
          <p:nvPr/>
        </p:nvSpPr>
        <p:spPr>
          <a:xfrm>
            <a:off x="888797" y="4076395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88797" y="4134002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1231697" y="4026103"/>
            <a:ext cx="13587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候选提案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231697" y="4216298"/>
            <a:ext cx="1358798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脱敏后进入收件箱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787298" y="4623206"/>
            <a:ext cx="940003" cy="215798"/>
          </a:xfrm>
          <a:prstGeom prst="roundRect">
            <a:avLst>
              <a:gd name="adj" fmla="val 35170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87298" y="4679899"/>
            <a:ext cx="94000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</a:t>
            </a:r>
            <a:endParaRPr lang="en-US" sz="650" dirty="0"/>
          </a:p>
        </p:txBody>
      </p:sp>
      <p:sp>
        <p:nvSpPr>
          <p:cNvPr id="30" name="Shape 26"/>
          <p:cNvSpPr/>
          <p:nvPr/>
        </p:nvSpPr>
        <p:spPr>
          <a:xfrm>
            <a:off x="3301898" y="1638605"/>
            <a:ext cx="5524805" cy="3594506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2032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3530498" y="1854403"/>
            <a:ext cx="50676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协作与发布底座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3530498" y="2120494"/>
            <a:ext cx="506760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唯一正式源 · 审计 · 自动化 · 版本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3530498" y="2374697"/>
            <a:ext cx="506760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594506" y="2565806"/>
            <a:ext cx="2120494" cy="622706"/>
          </a:xfrm>
          <a:prstGeom prst="roundRect">
            <a:avLst>
              <a:gd name="adj" fmla="val 12188"/>
            </a:avLst>
          </a:prstGeom>
          <a:solidFill>
            <a:srgbClr val="E6EAF3"/>
          </a:solidFill>
        </p:spPr>
      </p:sp>
      <p:sp>
        <p:nvSpPr>
          <p:cNvPr id="35" name="Shape 31"/>
          <p:cNvSpPr/>
          <p:nvPr/>
        </p:nvSpPr>
        <p:spPr>
          <a:xfrm>
            <a:off x="3696005" y="2756002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96005" y="281269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37" name="Text 33"/>
          <p:cNvSpPr/>
          <p:nvPr/>
        </p:nvSpPr>
        <p:spPr>
          <a:xfrm>
            <a:off x="4038905" y="2641702"/>
            <a:ext cx="10543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候选收件箱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038905" y="2831897"/>
            <a:ext cx="1054303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 ≠ 正式 Skill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5117897" y="2641702"/>
            <a:ext cx="495605" cy="470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待启用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6413602" y="2565806"/>
            <a:ext cx="2120494" cy="622706"/>
          </a:xfrm>
          <a:prstGeom prst="roundRect">
            <a:avLst>
              <a:gd name="adj" fmla="val 12188"/>
            </a:avLst>
          </a:prstGeom>
          <a:solidFill>
            <a:srgbClr val="E6EAF3"/>
          </a:solidFill>
        </p:spPr>
      </p:sp>
      <p:sp>
        <p:nvSpPr>
          <p:cNvPr id="41" name="Shape 37"/>
          <p:cNvSpPr/>
          <p:nvPr/>
        </p:nvSpPr>
        <p:spPr>
          <a:xfrm>
            <a:off x="6515100" y="2756002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515100" y="281269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43" name="Text 39"/>
          <p:cNvSpPr/>
          <p:nvPr/>
        </p:nvSpPr>
        <p:spPr>
          <a:xfrm>
            <a:off x="6858000" y="2641702"/>
            <a:ext cx="10543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Actions / CI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858000" y="2831897"/>
            <a:ext cx="1054303" cy="304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规范、风险与证据校验</a:t>
            </a:r>
            <a:endParaRPr lang="en-US" sz="650" dirty="0"/>
          </a:p>
        </p:txBody>
      </p:sp>
      <p:sp>
        <p:nvSpPr>
          <p:cNvPr id="45" name="Text 41"/>
          <p:cNvSpPr/>
          <p:nvPr/>
        </p:nvSpPr>
        <p:spPr>
          <a:xfrm>
            <a:off x="7937906" y="2641702"/>
            <a:ext cx="495605" cy="4700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待启用</a:t>
            </a:r>
            <a:endParaRPr lang="en-US" sz="650" dirty="0"/>
          </a:p>
        </p:txBody>
      </p:sp>
      <p:sp>
        <p:nvSpPr>
          <p:cNvPr id="46" name="Shape 42"/>
          <p:cNvSpPr/>
          <p:nvPr/>
        </p:nvSpPr>
        <p:spPr>
          <a:xfrm>
            <a:off x="5715000" y="2876702"/>
            <a:ext cx="698602" cy="0"/>
          </a:xfrm>
          <a:prstGeom prst="line">
            <a:avLst/>
          </a:prstGeom>
          <a:noFill/>
          <a:ln w="2032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4654296" y="3187598"/>
            <a:ext cx="0" cy="291694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7474306" y="3187598"/>
            <a:ext cx="0" cy="291694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3873398" y="3480206"/>
            <a:ext cx="4381805" cy="711403"/>
          </a:xfrm>
          <a:prstGeom prst="roundRect">
            <a:avLst>
              <a:gd name="adj" fmla="val 19666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  <a:effectLst>
            <a:outerShdw blurRad="25400" dist="25400" dir="2700000" algn="bl" rotWithShape="0">
              <a:srgbClr val="B7B2A8">
                <a:alpha val="18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4076395" y="3631997"/>
            <a:ext cx="12060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人工晋升 Gate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5384902" y="3606394"/>
            <a:ext cx="264170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Curator / Owner 只判断：</a:t>
            </a:r>
            <a:endParaRPr lang="en-US" sz="9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这个候选是否进入正式自动选型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4076395" y="3924605"/>
            <a:ext cx="1206094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唯一人工决策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6064301" y="4190695"/>
            <a:ext cx="0" cy="254203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4572000" y="4444898"/>
            <a:ext cx="2984602" cy="558698"/>
          </a:xfrm>
          <a:prstGeom prst="roundRect">
            <a:avLst>
              <a:gd name="adj" fmla="val 20458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5" name="Text 51"/>
          <p:cNvSpPr/>
          <p:nvPr/>
        </p:nvSpPr>
        <p:spPr>
          <a:xfrm>
            <a:off x="4737506" y="4546397"/>
            <a:ext cx="2654503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Leander Repo · Tag / Release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4737506" y="4787798"/>
            <a:ext cx="2654503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正式版本与可回退分发边界</a:t>
            </a:r>
            <a:endParaRPr lang="en-US" sz="650" dirty="0"/>
          </a:p>
        </p:txBody>
      </p:sp>
      <p:sp>
        <p:nvSpPr>
          <p:cNvPr id="57" name="Shape 53"/>
          <p:cNvSpPr/>
          <p:nvPr/>
        </p:nvSpPr>
        <p:spPr>
          <a:xfrm>
            <a:off x="9207094" y="1803197"/>
            <a:ext cx="2374697" cy="3263494"/>
          </a:xfrm>
          <a:prstGeom prst="roundRect">
            <a:avLst>
              <a:gd name="adj" fmla="val 5891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8" name="Text 54"/>
          <p:cNvSpPr/>
          <p:nvPr/>
        </p:nvSpPr>
        <p:spPr>
          <a:xfrm>
            <a:off x="9398203" y="1994306"/>
            <a:ext cx="1994306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团队端 · 消费</a:t>
            </a:r>
            <a:endParaRPr lang="en-US" sz="1350" dirty="0"/>
          </a:p>
        </p:txBody>
      </p:sp>
      <p:sp>
        <p:nvSpPr>
          <p:cNvPr id="59" name="Text 55"/>
          <p:cNvSpPr/>
          <p:nvPr/>
        </p:nvSpPr>
        <p:spPr>
          <a:xfrm>
            <a:off x="9398203" y="2260397"/>
            <a:ext cx="19943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发现、安装、验证、复用</a:t>
            </a:r>
            <a:endParaRPr lang="en-US" sz="650" dirty="0"/>
          </a:p>
        </p:txBody>
      </p:sp>
      <p:sp>
        <p:nvSpPr>
          <p:cNvPr id="60" name="Shape 56"/>
          <p:cNvSpPr/>
          <p:nvPr/>
        </p:nvSpPr>
        <p:spPr>
          <a:xfrm>
            <a:off x="9385402" y="2565806"/>
            <a:ext cx="2018995" cy="381305"/>
          </a:xfrm>
          <a:prstGeom prst="roundRect">
            <a:avLst>
              <a:gd name="adj" fmla="val 19904"/>
            </a:avLst>
          </a:prstGeom>
          <a:solidFill>
            <a:srgbClr val="E6EAF3"/>
          </a:solidFill>
        </p:spPr>
      </p:sp>
      <p:sp>
        <p:nvSpPr>
          <p:cNvPr id="61" name="Shape 57"/>
          <p:cNvSpPr/>
          <p:nvPr/>
        </p:nvSpPr>
        <p:spPr>
          <a:xfrm>
            <a:off x="9486900" y="2635301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486900" y="269199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9829800" y="2641702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飞书入口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9829800" y="2831897"/>
            <a:ext cx="14474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发现版本与说明</a:t>
            </a:r>
            <a:endParaRPr lang="en-US" sz="650" dirty="0"/>
          </a:p>
        </p:txBody>
      </p:sp>
      <p:sp>
        <p:nvSpPr>
          <p:cNvPr id="65" name="Shape 61"/>
          <p:cNvSpPr/>
          <p:nvPr/>
        </p:nvSpPr>
        <p:spPr>
          <a:xfrm>
            <a:off x="9385402" y="3060497"/>
            <a:ext cx="2018995" cy="381305"/>
          </a:xfrm>
          <a:prstGeom prst="roundRect">
            <a:avLst>
              <a:gd name="adj" fmla="val 19904"/>
            </a:avLst>
          </a:prstGeom>
          <a:solidFill>
            <a:srgbClr val="E6EAF3"/>
          </a:solidFill>
        </p:spPr>
      </p:sp>
      <p:sp>
        <p:nvSpPr>
          <p:cNvPr id="66" name="Shape 62"/>
          <p:cNvSpPr/>
          <p:nvPr/>
        </p:nvSpPr>
        <p:spPr>
          <a:xfrm>
            <a:off x="9486900" y="3130906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486900" y="3187598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68" name="Text 64"/>
          <p:cNvSpPr/>
          <p:nvPr/>
        </p:nvSpPr>
        <p:spPr>
          <a:xfrm>
            <a:off x="9829800" y="3137306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本地安装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9829800" y="3327502"/>
            <a:ext cx="14474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只消费 Release</a:t>
            </a:r>
            <a:endParaRPr lang="en-US" sz="650" dirty="0"/>
          </a:p>
        </p:txBody>
      </p:sp>
      <p:sp>
        <p:nvSpPr>
          <p:cNvPr id="70" name="Shape 66"/>
          <p:cNvSpPr/>
          <p:nvPr/>
        </p:nvSpPr>
        <p:spPr>
          <a:xfrm>
            <a:off x="9385402" y="3556102"/>
            <a:ext cx="2018995" cy="381305"/>
          </a:xfrm>
          <a:prstGeom prst="roundRect">
            <a:avLst>
              <a:gd name="adj" fmla="val 19904"/>
            </a:avLst>
          </a:prstGeom>
          <a:solidFill>
            <a:srgbClr val="E6EAF3"/>
          </a:solidFill>
        </p:spPr>
      </p:sp>
      <p:sp>
        <p:nvSpPr>
          <p:cNvPr id="71" name="Shape 67"/>
          <p:cNvSpPr/>
          <p:nvPr/>
        </p:nvSpPr>
        <p:spPr>
          <a:xfrm>
            <a:off x="9486900" y="3625596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9486900" y="3683203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73" name="Text 69"/>
          <p:cNvSpPr/>
          <p:nvPr/>
        </p:nvSpPr>
        <p:spPr>
          <a:xfrm>
            <a:off x="9829800" y="3631997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 / 回滚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9829800" y="3823106"/>
            <a:ext cx="14474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保护当前项目</a:t>
            </a:r>
            <a:endParaRPr lang="en-US" sz="650" dirty="0"/>
          </a:p>
        </p:txBody>
      </p:sp>
      <p:sp>
        <p:nvSpPr>
          <p:cNvPr id="75" name="Shape 71"/>
          <p:cNvSpPr/>
          <p:nvPr/>
        </p:nvSpPr>
        <p:spPr>
          <a:xfrm>
            <a:off x="9385402" y="4051706"/>
            <a:ext cx="2018995" cy="381305"/>
          </a:xfrm>
          <a:prstGeom prst="roundRect">
            <a:avLst>
              <a:gd name="adj" fmla="val 19904"/>
            </a:avLst>
          </a:prstGeom>
          <a:solidFill>
            <a:srgbClr val="E6EAF3"/>
          </a:solidFill>
        </p:spPr>
      </p:sp>
      <p:sp>
        <p:nvSpPr>
          <p:cNvPr id="76" name="Shape 72"/>
          <p:cNvSpPr/>
          <p:nvPr/>
        </p:nvSpPr>
        <p:spPr>
          <a:xfrm>
            <a:off x="9486900" y="4121201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9486900" y="4177894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650" dirty="0"/>
          </a:p>
        </p:txBody>
      </p:sp>
      <p:sp>
        <p:nvSpPr>
          <p:cNvPr id="78" name="Text 74"/>
          <p:cNvSpPr/>
          <p:nvPr/>
        </p:nvSpPr>
        <p:spPr>
          <a:xfrm>
            <a:off x="9829800" y="4127602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下一项目复用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9829800" y="4317797"/>
            <a:ext cx="14474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团队能力回到交付</a:t>
            </a:r>
            <a:endParaRPr lang="en-US" sz="650" dirty="0"/>
          </a:p>
        </p:txBody>
      </p:sp>
      <p:sp>
        <p:nvSpPr>
          <p:cNvPr id="80" name="Shape 76"/>
          <p:cNvSpPr/>
          <p:nvPr/>
        </p:nvSpPr>
        <p:spPr>
          <a:xfrm>
            <a:off x="9385402" y="4635094"/>
            <a:ext cx="952805" cy="215798"/>
          </a:xfrm>
          <a:prstGeom prst="roundRect">
            <a:avLst>
              <a:gd name="adj" fmla="val 35170"/>
            </a:avLst>
          </a:prstGeom>
          <a:solidFill>
            <a:srgbClr val="F3F6F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9385402" y="4692701"/>
            <a:ext cx="95280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待启用</a:t>
            </a:r>
            <a:endParaRPr lang="en-US" sz="650" dirty="0"/>
          </a:p>
        </p:txBody>
      </p:sp>
      <p:sp>
        <p:nvSpPr>
          <p:cNvPr id="82" name="Shape 78"/>
          <p:cNvSpPr/>
          <p:nvPr/>
        </p:nvSpPr>
        <p:spPr>
          <a:xfrm>
            <a:off x="2895905" y="3429000"/>
            <a:ext cx="405994" cy="0"/>
          </a:xfrm>
          <a:prstGeom prst="line">
            <a:avLst/>
          </a:prstGeom>
          <a:noFill/>
          <a:ln w="22860">
            <a:solidFill>
              <a:srgbClr val="07195A"/>
            </a:solidFill>
            <a:prstDash val="dash"/>
            <a:tailEnd type="triangle"/>
          </a:ln>
        </p:spPr>
      </p:sp>
      <p:sp>
        <p:nvSpPr>
          <p:cNvPr id="83" name="Text 79"/>
          <p:cNvSpPr/>
          <p:nvPr/>
        </p:nvSpPr>
        <p:spPr>
          <a:xfrm>
            <a:off x="2958998" y="3200400"/>
            <a:ext cx="291694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</a:t>
            </a:r>
            <a:endParaRPr lang="en-US" sz="650" dirty="0"/>
          </a:p>
        </p:txBody>
      </p:sp>
      <p:sp>
        <p:nvSpPr>
          <p:cNvPr id="84" name="Shape 80"/>
          <p:cNvSpPr/>
          <p:nvPr/>
        </p:nvSpPr>
        <p:spPr>
          <a:xfrm>
            <a:off x="8826703" y="3429000"/>
            <a:ext cx="381305" cy="0"/>
          </a:xfrm>
          <a:prstGeom prst="line">
            <a:avLst/>
          </a:prstGeom>
          <a:noFill/>
          <a:ln w="22860">
            <a:solidFill>
              <a:srgbClr val="07195A"/>
            </a:solidFill>
            <a:prstDash val="dash"/>
            <a:tailEnd type="triangle"/>
          </a:ln>
        </p:spPr>
      </p:sp>
      <p:sp>
        <p:nvSpPr>
          <p:cNvPr id="85" name="Text 81"/>
          <p:cNvSpPr/>
          <p:nvPr/>
        </p:nvSpPr>
        <p:spPr>
          <a:xfrm>
            <a:off x="8852306" y="3200400"/>
            <a:ext cx="330098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Release</a:t>
            </a:r>
            <a:endParaRPr lang="en-US" sz="650" dirty="0"/>
          </a:p>
        </p:txBody>
      </p:sp>
      <p:sp>
        <p:nvSpPr>
          <p:cNvPr id="86" name="Shape 82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87" name="Text 83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SYSTEM OF RECORD</a:t>
            </a:r>
            <a:endParaRPr lang="en-US" sz="650" dirty="0"/>
          </a:p>
        </p:txBody>
      </p:sp>
      <p:sp>
        <p:nvSpPr>
          <p:cNvPr id="88" name="Text 84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 Skill 只存在于 GitHub Release；飞书负责触达，本地负责验证与安全消费。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全部人工节点都有飞书前置提醒和结果回执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Checks 通过后先提醒，人工动作完成后再同步批准、退回、合并或发布结果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434694"/>
            <a:ext cx="109728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NORMAL SEQUENCE</a:t>
            </a:r>
            <a:endParaRPr lang="en-US" sz="650" dirty="0"/>
          </a:p>
        </p:txBody>
      </p:sp>
      <p:sp>
        <p:nvSpPr>
          <p:cNvPr id="8" name="Shape 4"/>
          <p:cNvSpPr/>
          <p:nvPr/>
        </p:nvSpPr>
        <p:spPr>
          <a:xfrm>
            <a:off x="609905" y="1688897"/>
            <a:ext cx="2438705" cy="737006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37006" y="1815998"/>
            <a:ext cx="267005" cy="267005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7006" y="1880006"/>
            <a:ext cx="267005" cy="1335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1117397" y="1815998"/>
            <a:ext cx="17775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自动事件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7397" y="2057400"/>
            <a:ext cx="1777594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Checks / 冲突 / 发布异常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3047695" y="2057400"/>
            <a:ext cx="228600" cy="0"/>
          </a:xfrm>
          <a:prstGeom prst="line">
            <a:avLst/>
          </a:prstGeom>
          <a:noFill/>
          <a:ln w="2159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53105" y="1688897"/>
            <a:ext cx="2438705" cy="737006"/>
          </a:xfrm>
          <a:prstGeom prst="roundRect">
            <a:avLst>
              <a:gd name="adj" fmla="val 18983"/>
            </a:avLst>
          </a:prstGeom>
          <a:solidFill>
            <a:srgbClr val="FBECEB"/>
          </a:solidFill>
          <a:ln w="21590">
            <a:solidFill>
              <a:srgbClr val="C5151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80206" y="1815998"/>
            <a:ext cx="267005" cy="267005"/>
          </a:xfrm>
          <a:prstGeom prst="roundRect">
            <a:avLst>
              <a:gd name="adj" fmla="val 50000"/>
            </a:avLst>
          </a:prstGeom>
          <a:solidFill>
            <a:srgbClr val="C51516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80206" y="1880006"/>
            <a:ext cx="267005" cy="1335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3860597" y="1815998"/>
            <a:ext cx="17775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飞书前置提醒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860597" y="2057400"/>
            <a:ext cx="1777594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谁处理 · 截止时间 · GitHub 入口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5790895" y="2057400"/>
            <a:ext cx="228600" cy="0"/>
          </a:xfrm>
          <a:prstGeom prst="line">
            <a:avLst/>
          </a:prstGeom>
          <a:noFill/>
          <a:ln w="2159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096305" y="1688897"/>
            <a:ext cx="2438705" cy="737006"/>
          </a:xfrm>
          <a:prstGeom prst="roundRect">
            <a:avLst>
              <a:gd name="adj" fmla="val 18983"/>
            </a:avLst>
          </a:prstGeom>
          <a:solidFill>
            <a:srgbClr val="FBECEB"/>
          </a:solidFill>
          <a:ln w="21590">
            <a:solidFill>
              <a:srgbClr val="C5151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23406" y="1815998"/>
            <a:ext cx="267005" cy="267005"/>
          </a:xfrm>
          <a:prstGeom prst="roundRect">
            <a:avLst>
              <a:gd name="adj" fmla="val 50000"/>
            </a:avLst>
          </a:prstGeom>
          <a:solidFill>
            <a:srgbClr val="C51516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23406" y="1880006"/>
            <a:ext cx="267005" cy="1335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6603797" y="1815998"/>
            <a:ext cx="17775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人工动作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603797" y="2057400"/>
            <a:ext cx="1777594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批准 / 退回 / 合并 / 停止</a:t>
            </a:r>
            <a:endParaRPr lang="en-US" sz="600" dirty="0"/>
          </a:p>
        </p:txBody>
      </p:sp>
      <p:sp>
        <p:nvSpPr>
          <p:cNvPr id="27" name="Shape 23"/>
          <p:cNvSpPr/>
          <p:nvPr/>
        </p:nvSpPr>
        <p:spPr>
          <a:xfrm>
            <a:off x="8534095" y="2057400"/>
            <a:ext cx="228600" cy="0"/>
          </a:xfrm>
          <a:prstGeom prst="line">
            <a:avLst/>
          </a:prstGeom>
          <a:noFill/>
          <a:ln w="2159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8839505" y="1688897"/>
            <a:ext cx="2438705" cy="737006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966606" y="1815998"/>
            <a:ext cx="267005" cy="267005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966606" y="1880006"/>
            <a:ext cx="267005" cy="1335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9346997" y="1815998"/>
            <a:ext cx="17775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飞书结果回执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346997" y="2057400"/>
            <a:ext cx="1777594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动作、责任人、版本与下一步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609905" y="2730398"/>
            <a:ext cx="109728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HUMAN NODE × NOTIFICATION COVERAGE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609905" y="2984602"/>
            <a:ext cx="1548994" cy="355702"/>
          </a:xfrm>
          <a:prstGeom prst="roundRect">
            <a:avLst>
              <a:gd name="adj" fmla="val 24936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2998" y="3086100"/>
            <a:ext cx="14228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人工节点</a:t>
            </a:r>
            <a:endParaRPr lang="en-US" sz="600" dirty="0"/>
          </a:p>
        </p:txBody>
      </p:sp>
      <p:sp>
        <p:nvSpPr>
          <p:cNvPr id="36" name="Shape 32"/>
          <p:cNvSpPr/>
          <p:nvPr/>
        </p:nvSpPr>
        <p:spPr>
          <a:xfrm>
            <a:off x="2197303" y="2984602"/>
            <a:ext cx="1867205" cy="355702"/>
          </a:xfrm>
          <a:prstGeom prst="roundRect">
            <a:avLst>
              <a:gd name="adj" fmla="val 24936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2260397" y="3086100"/>
            <a:ext cx="1740103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触发</a:t>
            </a:r>
            <a:endParaRPr lang="en-US" sz="600" dirty="0"/>
          </a:p>
        </p:txBody>
      </p:sp>
      <p:sp>
        <p:nvSpPr>
          <p:cNvPr id="38" name="Shape 34"/>
          <p:cNvSpPr/>
          <p:nvPr/>
        </p:nvSpPr>
        <p:spPr>
          <a:xfrm>
            <a:off x="4101998" y="2984602"/>
            <a:ext cx="1867205" cy="355702"/>
          </a:xfrm>
          <a:prstGeom prst="roundRect">
            <a:avLst>
              <a:gd name="adj" fmla="val 39332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166006" y="3086100"/>
            <a:ext cx="1740103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前置通知</a:t>
            </a:r>
            <a:endParaRPr lang="en-US" sz="600" dirty="0"/>
          </a:p>
        </p:txBody>
      </p:sp>
      <p:sp>
        <p:nvSpPr>
          <p:cNvPr id="40" name="Shape 36"/>
          <p:cNvSpPr/>
          <p:nvPr/>
        </p:nvSpPr>
        <p:spPr>
          <a:xfrm>
            <a:off x="6006694" y="2984602"/>
            <a:ext cx="1867205" cy="355702"/>
          </a:xfrm>
          <a:prstGeom prst="roundRect">
            <a:avLst>
              <a:gd name="adj" fmla="val 24936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070702" y="3086100"/>
            <a:ext cx="1740103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人工动作</a:t>
            </a:r>
            <a:endParaRPr lang="en-US" sz="600" dirty="0"/>
          </a:p>
        </p:txBody>
      </p:sp>
      <p:sp>
        <p:nvSpPr>
          <p:cNvPr id="42" name="Shape 38"/>
          <p:cNvSpPr/>
          <p:nvPr/>
        </p:nvSpPr>
        <p:spPr>
          <a:xfrm>
            <a:off x="7912303" y="2984602"/>
            <a:ext cx="1867205" cy="355702"/>
          </a:xfrm>
          <a:prstGeom prst="roundRect">
            <a:avLst>
              <a:gd name="adj" fmla="val 24936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975397" y="3086100"/>
            <a:ext cx="1740103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入口</a:t>
            </a:r>
            <a:endParaRPr lang="en-US" sz="600" dirty="0"/>
          </a:p>
        </p:txBody>
      </p:sp>
      <p:sp>
        <p:nvSpPr>
          <p:cNvPr id="44" name="Shape 40"/>
          <p:cNvSpPr/>
          <p:nvPr/>
        </p:nvSpPr>
        <p:spPr>
          <a:xfrm>
            <a:off x="9816998" y="2984602"/>
            <a:ext cx="1727302" cy="355702"/>
          </a:xfrm>
          <a:prstGeom prst="roundRect">
            <a:avLst>
              <a:gd name="adj" fmla="val 24936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9881006" y="3086100"/>
            <a:ext cx="16002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结果通知</a:t>
            </a:r>
            <a:endParaRPr lang="en-US" sz="600" dirty="0"/>
          </a:p>
        </p:txBody>
      </p:sp>
      <p:sp>
        <p:nvSpPr>
          <p:cNvPr id="46" name="Shape 42"/>
          <p:cNvSpPr/>
          <p:nvPr/>
        </p:nvSpPr>
        <p:spPr>
          <a:xfrm>
            <a:off x="609905" y="3403397"/>
            <a:ext cx="1548994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60197" y="3461004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 PR</a:t>
            </a:r>
            <a:endParaRPr lang="en-US" sz="600" dirty="0"/>
          </a:p>
        </p:txBody>
      </p:sp>
      <p:sp>
        <p:nvSpPr>
          <p:cNvPr id="48" name="Shape 44"/>
          <p:cNvSpPr/>
          <p:nvPr/>
        </p:nvSpPr>
        <p:spPr>
          <a:xfrm>
            <a:off x="2197303" y="3403397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2247595" y="346100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Checks 通过</a:t>
            </a:r>
            <a:endParaRPr lang="en-US" sz="600" dirty="0"/>
          </a:p>
        </p:txBody>
      </p:sp>
      <p:sp>
        <p:nvSpPr>
          <p:cNvPr id="50" name="Shape 46"/>
          <p:cNvSpPr/>
          <p:nvPr/>
        </p:nvSpPr>
        <p:spPr>
          <a:xfrm>
            <a:off x="4101998" y="3403397"/>
            <a:ext cx="1867205" cy="279806"/>
          </a:xfrm>
          <a:prstGeom prst="rect">
            <a:avLst/>
          </a:prstGeom>
          <a:solidFill>
            <a:srgbClr val="FFFFFF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153205" y="346100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待审批</a:t>
            </a:r>
            <a:endParaRPr lang="en-US" sz="600" dirty="0"/>
          </a:p>
        </p:txBody>
      </p:sp>
      <p:sp>
        <p:nvSpPr>
          <p:cNvPr id="52" name="Shape 48"/>
          <p:cNvSpPr/>
          <p:nvPr/>
        </p:nvSpPr>
        <p:spPr>
          <a:xfrm>
            <a:off x="6006694" y="3403397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057900" y="346100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合并 / 退回</a:t>
            </a:r>
            <a:endParaRPr lang="en-US" sz="600" dirty="0"/>
          </a:p>
        </p:txBody>
      </p:sp>
      <p:sp>
        <p:nvSpPr>
          <p:cNvPr id="54" name="Shape 50"/>
          <p:cNvSpPr/>
          <p:nvPr/>
        </p:nvSpPr>
        <p:spPr>
          <a:xfrm>
            <a:off x="7912303" y="3403397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962595" y="346100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 / Files</a:t>
            </a:r>
            <a:endParaRPr lang="en-US" sz="600" dirty="0"/>
          </a:p>
        </p:txBody>
      </p:sp>
      <p:sp>
        <p:nvSpPr>
          <p:cNvPr id="56" name="Shape 52"/>
          <p:cNvSpPr/>
          <p:nvPr/>
        </p:nvSpPr>
        <p:spPr>
          <a:xfrm>
            <a:off x="9816998" y="3403397"/>
            <a:ext cx="1727302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9868205" y="3461004"/>
            <a:ext cx="1625803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已合并 / 已退回</a:t>
            </a:r>
            <a:endParaRPr lang="en-US" sz="600" dirty="0"/>
          </a:p>
        </p:txBody>
      </p:sp>
      <p:sp>
        <p:nvSpPr>
          <p:cNvPr id="58" name="Shape 54"/>
          <p:cNvSpPr/>
          <p:nvPr/>
        </p:nvSpPr>
        <p:spPr>
          <a:xfrm>
            <a:off x="609905" y="3720694"/>
            <a:ext cx="1548994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60197" y="3778301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相似冲突</a:t>
            </a:r>
            <a:endParaRPr lang="en-US" sz="600" dirty="0"/>
          </a:p>
        </p:txBody>
      </p:sp>
      <p:sp>
        <p:nvSpPr>
          <p:cNvPr id="60" name="Shape 56"/>
          <p:cNvSpPr/>
          <p:nvPr/>
        </p:nvSpPr>
        <p:spPr>
          <a:xfrm>
            <a:off x="2197303" y="3720694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2247595" y="3778301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0.55 ≤ S</a:t>
            </a:r>
            <a:endParaRPr lang="en-US" sz="600" dirty="0"/>
          </a:p>
        </p:txBody>
      </p:sp>
      <p:sp>
        <p:nvSpPr>
          <p:cNvPr id="62" name="Shape 58"/>
          <p:cNvSpPr/>
          <p:nvPr/>
        </p:nvSpPr>
        <p:spPr>
          <a:xfrm>
            <a:off x="4101998" y="3720694"/>
            <a:ext cx="1867205" cy="279806"/>
          </a:xfrm>
          <a:prstGeom prst="rect">
            <a:avLst/>
          </a:prstGeom>
          <a:solidFill>
            <a:srgbClr val="F3F6FA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153205" y="3778301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 + Top match</a:t>
            </a:r>
            <a:endParaRPr lang="en-US" sz="600" dirty="0"/>
          </a:p>
        </p:txBody>
      </p:sp>
      <p:sp>
        <p:nvSpPr>
          <p:cNvPr id="64" name="Shape 60"/>
          <p:cNvSpPr/>
          <p:nvPr/>
        </p:nvSpPr>
        <p:spPr>
          <a:xfrm>
            <a:off x="6006694" y="3720694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057900" y="3778301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 / 扩展 / 观察</a:t>
            </a:r>
            <a:endParaRPr lang="en-US" sz="600" dirty="0"/>
          </a:p>
        </p:txBody>
      </p:sp>
      <p:sp>
        <p:nvSpPr>
          <p:cNvPr id="66" name="Shape 62"/>
          <p:cNvSpPr/>
          <p:nvPr/>
        </p:nvSpPr>
        <p:spPr>
          <a:xfrm>
            <a:off x="7912303" y="3720694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7962595" y="3778301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 / diff</a:t>
            </a:r>
            <a:endParaRPr lang="en-US" sz="600" dirty="0"/>
          </a:p>
        </p:txBody>
      </p:sp>
      <p:sp>
        <p:nvSpPr>
          <p:cNvPr id="68" name="Shape 64"/>
          <p:cNvSpPr/>
          <p:nvPr/>
        </p:nvSpPr>
        <p:spPr>
          <a:xfrm>
            <a:off x="9816998" y="3720694"/>
            <a:ext cx="1727302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9868205" y="3778301"/>
            <a:ext cx="1625803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路由结果</a:t>
            </a:r>
            <a:endParaRPr lang="en-US" sz="600" dirty="0"/>
          </a:p>
        </p:txBody>
      </p:sp>
      <p:sp>
        <p:nvSpPr>
          <p:cNvPr id="70" name="Shape 66"/>
          <p:cNvSpPr/>
          <p:nvPr/>
        </p:nvSpPr>
        <p:spPr>
          <a:xfrm>
            <a:off x="609905" y="4038905"/>
            <a:ext cx="1548994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60197" y="4095598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正式晋升</a:t>
            </a:r>
            <a:endParaRPr lang="en-US" sz="600" dirty="0"/>
          </a:p>
        </p:txBody>
      </p:sp>
      <p:sp>
        <p:nvSpPr>
          <p:cNvPr id="72" name="Shape 68"/>
          <p:cNvSpPr/>
          <p:nvPr/>
        </p:nvSpPr>
        <p:spPr>
          <a:xfrm>
            <a:off x="2197303" y="4038905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2247595" y="4095598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候选已验证</a:t>
            </a:r>
            <a:endParaRPr lang="en-US" sz="600" dirty="0"/>
          </a:p>
        </p:txBody>
      </p:sp>
      <p:sp>
        <p:nvSpPr>
          <p:cNvPr id="74" name="Shape 70"/>
          <p:cNvSpPr/>
          <p:nvPr/>
        </p:nvSpPr>
        <p:spPr>
          <a:xfrm>
            <a:off x="4101998" y="4038905"/>
            <a:ext cx="1867205" cy="279806"/>
          </a:xfrm>
          <a:prstGeom prst="rect">
            <a:avLst/>
          </a:prstGeom>
          <a:solidFill>
            <a:srgbClr val="FFFFFF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4153205" y="4095598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晋升请求</a:t>
            </a:r>
            <a:endParaRPr lang="en-US" sz="600" dirty="0"/>
          </a:p>
        </p:txBody>
      </p:sp>
      <p:sp>
        <p:nvSpPr>
          <p:cNvPr id="76" name="Shape 72"/>
          <p:cNvSpPr/>
          <p:nvPr/>
        </p:nvSpPr>
        <p:spPr>
          <a:xfrm>
            <a:off x="6006694" y="4038905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057900" y="4095598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批准 main</a:t>
            </a:r>
            <a:endParaRPr lang="en-US" sz="600" dirty="0"/>
          </a:p>
        </p:txBody>
      </p:sp>
      <p:sp>
        <p:nvSpPr>
          <p:cNvPr id="78" name="Shape 74"/>
          <p:cNvSpPr/>
          <p:nvPr/>
        </p:nvSpPr>
        <p:spPr>
          <a:xfrm>
            <a:off x="7912303" y="4038905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7962595" y="4095598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 / Checks</a:t>
            </a:r>
            <a:endParaRPr lang="en-US" sz="600" dirty="0"/>
          </a:p>
        </p:txBody>
      </p:sp>
      <p:sp>
        <p:nvSpPr>
          <p:cNvPr id="80" name="Shape 76"/>
          <p:cNvSpPr/>
          <p:nvPr/>
        </p:nvSpPr>
        <p:spPr>
          <a:xfrm>
            <a:off x="9816998" y="4038905"/>
            <a:ext cx="1727302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1" name="Text 77"/>
          <p:cNvSpPr/>
          <p:nvPr/>
        </p:nvSpPr>
        <p:spPr>
          <a:xfrm>
            <a:off x="9868205" y="4095598"/>
            <a:ext cx="1625803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已晋升 / 拒绝</a:t>
            </a:r>
            <a:endParaRPr lang="en-US" sz="600" dirty="0"/>
          </a:p>
        </p:txBody>
      </p:sp>
      <p:sp>
        <p:nvSpPr>
          <p:cNvPr id="82" name="Shape 78"/>
          <p:cNvSpPr/>
          <p:nvPr/>
        </p:nvSpPr>
        <p:spPr>
          <a:xfrm>
            <a:off x="609905" y="4356202"/>
            <a:ext cx="1548994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660197" y="4412894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 Skill / RFC</a:t>
            </a:r>
            <a:endParaRPr lang="en-US" sz="600" dirty="0"/>
          </a:p>
        </p:txBody>
      </p:sp>
      <p:sp>
        <p:nvSpPr>
          <p:cNvPr id="84" name="Shape 80"/>
          <p:cNvSpPr/>
          <p:nvPr/>
        </p:nvSpPr>
        <p:spPr>
          <a:xfrm>
            <a:off x="2197303" y="4356202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2247595" y="441289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核心文件变更</a:t>
            </a:r>
            <a:endParaRPr lang="en-US" sz="600" dirty="0"/>
          </a:p>
        </p:txBody>
      </p:sp>
      <p:sp>
        <p:nvSpPr>
          <p:cNvPr id="86" name="Shape 82"/>
          <p:cNvSpPr/>
          <p:nvPr/>
        </p:nvSpPr>
        <p:spPr>
          <a:xfrm>
            <a:off x="4101998" y="4356202"/>
            <a:ext cx="1867205" cy="279806"/>
          </a:xfrm>
          <a:prstGeom prst="rect">
            <a:avLst/>
          </a:prstGeom>
          <a:solidFill>
            <a:srgbClr val="F3F6FA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4153205" y="441289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Owner 点名</a:t>
            </a:r>
            <a:endParaRPr lang="en-US" sz="600" dirty="0"/>
          </a:p>
        </p:txBody>
      </p:sp>
      <p:sp>
        <p:nvSpPr>
          <p:cNvPr id="88" name="Shape 84"/>
          <p:cNvSpPr/>
          <p:nvPr/>
        </p:nvSpPr>
        <p:spPr>
          <a:xfrm>
            <a:off x="6006694" y="4356202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6057900" y="441289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评审 / 停止</a:t>
            </a:r>
            <a:endParaRPr lang="en-US" sz="600" dirty="0"/>
          </a:p>
        </p:txBody>
      </p:sp>
      <p:sp>
        <p:nvSpPr>
          <p:cNvPr id="90" name="Shape 86"/>
          <p:cNvSpPr/>
          <p:nvPr/>
        </p:nvSpPr>
        <p:spPr>
          <a:xfrm>
            <a:off x="7912303" y="4356202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7962595" y="4412894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RFC / PR</a:t>
            </a:r>
            <a:endParaRPr lang="en-US" sz="600" dirty="0"/>
          </a:p>
        </p:txBody>
      </p:sp>
      <p:sp>
        <p:nvSpPr>
          <p:cNvPr id="92" name="Shape 88"/>
          <p:cNvSpPr/>
          <p:nvPr/>
        </p:nvSpPr>
        <p:spPr>
          <a:xfrm>
            <a:off x="9816998" y="4356202"/>
            <a:ext cx="1727302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9868205" y="4412894"/>
            <a:ext cx="1625803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 + 责任人</a:t>
            </a:r>
            <a:endParaRPr lang="en-US" sz="600" dirty="0"/>
          </a:p>
        </p:txBody>
      </p:sp>
      <p:sp>
        <p:nvSpPr>
          <p:cNvPr id="94" name="Shape 90"/>
          <p:cNvSpPr/>
          <p:nvPr/>
        </p:nvSpPr>
        <p:spPr>
          <a:xfrm>
            <a:off x="609905" y="4673498"/>
            <a:ext cx="1548994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660197" y="4731106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Release 异常</a:t>
            </a:r>
            <a:endParaRPr lang="en-US" sz="600" dirty="0"/>
          </a:p>
        </p:txBody>
      </p:sp>
      <p:sp>
        <p:nvSpPr>
          <p:cNvPr id="96" name="Shape 92"/>
          <p:cNvSpPr/>
          <p:nvPr/>
        </p:nvSpPr>
        <p:spPr>
          <a:xfrm>
            <a:off x="2197303" y="4673498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97" name="Text 93"/>
          <p:cNvSpPr/>
          <p:nvPr/>
        </p:nvSpPr>
        <p:spPr>
          <a:xfrm>
            <a:off x="2247595" y="4731106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Tag / 发布失败</a:t>
            </a:r>
            <a:endParaRPr lang="en-US" sz="600" dirty="0"/>
          </a:p>
        </p:txBody>
      </p:sp>
      <p:sp>
        <p:nvSpPr>
          <p:cNvPr id="98" name="Shape 94"/>
          <p:cNvSpPr/>
          <p:nvPr/>
        </p:nvSpPr>
        <p:spPr>
          <a:xfrm>
            <a:off x="4101998" y="4673498"/>
            <a:ext cx="1867205" cy="279806"/>
          </a:xfrm>
          <a:prstGeom prst="rect">
            <a:avLst/>
          </a:prstGeom>
          <a:solidFill>
            <a:srgbClr val="FFFFFF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4153205" y="4731106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Release Owner 告警</a:t>
            </a:r>
            <a:endParaRPr lang="en-US" sz="600" dirty="0"/>
          </a:p>
        </p:txBody>
      </p:sp>
      <p:sp>
        <p:nvSpPr>
          <p:cNvPr id="100" name="Shape 96"/>
          <p:cNvSpPr/>
          <p:nvPr/>
        </p:nvSpPr>
        <p:spPr>
          <a:xfrm>
            <a:off x="6006694" y="4673498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1" name="Text 97"/>
          <p:cNvSpPr/>
          <p:nvPr/>
        </p:nvSpPr>
        <p:spPr>
          <a:xfrm>
            <a:off x="6057900" y="4731106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 / 停止</a:t>
            </a:r>
            <a:endParaRPr lang="en-US" sz="600" dirty="0"/>
          </a:p>
        </p:txBody>
      </p:sp>
      <p:sp>
        <p:nvSpPr>
          <p:cNvPr id="102" name="Shape 98"/>
          <p:cNvSpPr/>
          <p:nvPr/>
        </p:nvSpPr>
        <p:spPr>
          <a:xfrm>
            <a:off x="7912303" y="4673498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7962595" y="4731106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Run / Release</a:t>
            </a:r>
            <a:endParaRPr lang="en-US" sz="600" dirty="0"/>
          </a:p>
        </p:txBody>
      </p:sp>
      <p:sp>
        <p:nvSpPr>
          <p:cNvPr id="104" name="Shape 100"/>
          <p:cNvSpPr/>
          <p:nvPr/>
        </p:nvSpPr>
        <p:spPr>
          <a:xfrm>
            <a:off x="9816998" y="4673498"/>
            <a:ext cx="1727302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9868205" y="4731106"/>
            <a:ext cx="1625803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发布结果</a:t>
            </a:r>
            <a:endParaRPr lang="en-US" sz="600" dirty="0"/>
          </a:p>
        </p:txBody>
      </p:sp>
      <p:sp>
        <p:nvSpPr>
          <p:cNvPr id="106" name="Shape 102"/>
          <p:cNvSpPr/>
          <p:nvPr/>
        </p:nvSpPr>
        <p:spPr>
          <a:xfrm>
            <a:off x="609905" y="4990795"/>
            <a:ext cx="1548994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660197" y="5048402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更新失败</a:t>
            </a:r>
            <a:endParaRPr lang="en-US" sz="600" dirty="0"/>
          </a:p>
        </p:txBody>
      </p:sp>
      <p:sp>
        <p:nvSpPr>
          <p:cNvPr id="108" name="Shape 104"/>
          <p:cNvSpPr/>
          <p:nvPr/>
        </p:nvSpPr>
        <p:spPr>
          <a:xfrm>
            <a:off x="2197303" y="4990795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9" name="Text 105"/>
          <p:cNvSpPr/>
          <p:nvPr/>
        </p:nvSpPr>
        <p:spPr>
          <a:xfrm>
            <a:off x="2247595" y="5048402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安装 / 自检失败</a:t>
            </a:r>
            <a:endParaRPr lang="en-US" sz="600" dirty="0"/>
          </a:p>
        </p:txBody>
      </p:sp>
      <p:sp>
        <p:nvSpPr>
          <p:cNvPr id="110" name="Shape 106"/>
          <p:cNvSpPr/>
          <p:nvPr/>
        </p:nvSpPr>
        <p:spPr>
          <a:xfrm>
            <a:off x="4101998" y="4990795"/>
            <a:ext cx="1867205" cy="279806"/>
          </a:xfrm>
          <a:prstGeom prst="rect">
            <a:avLst/>
          </a:prstGeom>
          <a:solidFill>
            <a:srgbClr val="F3F6FA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4153205" y="5048402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Consumer + Owner 告警</a:t>
            </a:r>
            <a:endParaRPr lang="en-US" sz="600" dirty="0"/>
          </a:p>
        </p:txBody>
      </p:sp>
      <p:sp>
        <p:nvSpPr>
          <p:cNvPr id="112" name="Shape 108"/>
          <p:cNvSpPr/>
          <p:nvPr/>
        </p:nvSpPr>
        <p:spPr>
          <a:xfrm>
            <a:off x="6006694" y="4990795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3" name="Text 109"/>
          <p:cNvSpPr/>
          <p:nvPr/>
        </p:nvSpPr>
        <p:spPr>
          <a:xfrm>
            <a:off x="6057900" y="5048402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恢复旧版本</a:t>
            </a:r>
            <a:endParaRPr lang="en-US" sz="600" dirty="0"/>
          </a:p>
        </p:txBody>
      </p:sp>
      <p:sp>
        <p:nvSpPr>
          <p:cNvPr id="114" name="Shape 110"/>
          <p:cNvSpPr/>
          <p:nvPr/>
        </p:nvSpPr>
        <p:spPr>
          <a:xfrm>
            <a:off x="7912303" y="4990795"/>
            <a:ext cx="1867205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7962595" y="5048402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UPDATE_STATUS</a:t>
            </a:r>
            <a:endParaRPr lang="en-US" sz="600" dirty="0"/>
          </a:p>
        </p:txBody>
      </p:sp>
      <p:sp>
        <p:nvSpPr>
          <p:cNvPr id="116" name="Shape 112"/>
          <p:cNvSpPr/>
          <p:nvPr/>
        </p:nvSpPr>
        <p:spPr>
          <a:xfrm>
            <a:off x="9816998" y="4990795"/>
            <a:ext cx="1727302" cy="279806"/>
          </a:xfrm>
          <a:prstGeom prst="rect">
            <a:avLst/>
          </a:prstGeom>
          <a:solidFill>
            <a:srgbClr val="F3F6FA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9868205" y="5048402"/>
            <a:ext cx="1625803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回滚状态</a:t>
            </a:r>
            <a:endParaRPr lang="en-US" sz="600" dirty="0"/>
          </a:p>
        </p:txBody>
      </p:sp>
      <p:sp>
        <p:nvSpPr>
          <p:cNvPr id="118" name="Shape 114"/>
          <p:cNvSpPr/>
          <p:nvPr/>
        </p:nvSpPr>
        <p:spPr>
          <a:xfrm>
            <a:off x="609905" y="5309006"/>
            <a:ext cx="1548994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660197" y="5365699"/>
            <a:ext cx="1447495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紧急停止</a:t>
            </a:r>
            <a:endParaRPr lang="en-US" sz="600" dirty="0"/>
          </a:p>
        </p:txBody>
      </p:sp>
      <p:sp>
        <p:nvSpPr>
          <p:cNvPr id="120" name="Shape 116"/>
          <p:cNvSpPr/>
          <p:nvPr/>
        </p:nvSpPr>
        <p:spPr>
          <a:xfrm>
            <a:off x="2197303" y="5309006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1" name="Text 117"/>
          <p:cNvSpPr/>
          <p:nvPr/>
        </p:nvSpPr>
        <p:spPr>
          <a:xfrm>
            <a:off x="2247595" y="5365699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高风险或扩散异常</a:t>
            </a:r>
            <a:endParaRPr lang="en-US" sz="600" dirty="0"/>
          </a:p>
        </p:txBody>
      </p:sp>
      <p:sp>
        <p:nvSpPr>
          <p:cNvPr id="122" name="Shape 118"/>
          <p:cNvSpPr/>
          <p:nvPr/>
        </p:nvSpPr>
        <p:spPr>
          <a:xfrm>
            <a:off x="4101998" y="5309006"/>
            <a:ext cx="1867205" cy="279806"/>
          </a:xfrm>
          <a:prstGeom prst="rect">
            <a:avLst/>
          </a:prstGeom>
          <a:solidFill>
            <a:srgbClr val="FFFFFF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4153205" y="5365699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全员停止通知</a:t>
            </a:r>
            <a:endParaRPr lang="en-US" sz="600" dirty="0"/>
          </a:p>
        </p:txBody>
      </p:sp>
      <p:sp>
        <p:nvSpPr>
          <p:cNvPr id="124" name="Shape 120"/>
          <p:cNvSpPr/>
          <p:nvPr/>
        </p:nvSpPr>
        <p:spPr>
          <a:xfrm>
            <a:off x="6006694" y="5309006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5" name="Text 121"/>
          <p:cNvSpPr/>
          <p:nvPr/>
        </p:nvSpPr>
        <p:spPr>
          <a:xfrm>
            <a:off x="6057900" y="5365699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冻结更新 / 撤回</a:t>
            </a:r>
            <a:endParaRPr lang="en-US" sz="600" dirty="0"/>
          </a:p>
        </p:txBody>
      </p:sp>
      <p:sp>
        <p:nvSpPr>
          <p:cNvPr id="126" name="Shape 122"/>
          <p:cNvSpPr/>
          <p:nvPr/>
        </p:nvSpPr>
        <p:spPr>
          <a:xfrm>
            <a:off x="7912303" y="5309006"/>
            <a:ext cx="1867205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7962595" y="5365699"/>
            <a:ext cx="1765706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Issue / Release</a:t>
            </a:r>
            <a:endParaRPr lang="en-US" sz="600" dirty="0"/>
          </a:p>
        </p:txBody>
      </p:sp>
      <p:sp>
        <p:nvSpPr>
          <p:cNvPr id="128" name="Shape 124"/>
          <p:cNvSpPr/>
          <p:nvPr/>
        </p:nvSpPr>
        <p:spPr>
          <a:xfrm>
            <a:off x="9816998" y="5309006"/>
            <a:ext cx="1727302" cy="27980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9" name="Text 125"/>
          <p:cNvSpPr/>
          <p:nvPr/>
        </p:nvSpPr>
        <p:spPr>
          <a:xfrm>
            <a:off x="9868205" y="5365699"/>
            <a:ext cx="1625803" cy="1655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停止范围 + Owner</a:t>
            </a:r>
            <a:endParaRPr lang="en-US" sz="600" dirty="0"/>
          </a:p>
        </p:txBody>
      </p:sp>
      <p:sp>
        <p:nvSpPr>
          <p:cNvPr id="130" name="Text 126"/>
          <p:cNvSpPr/>
          <p:nvPr/>
        </p:nvSpPr>
        <p:spPr>
          <a:xfrm>
            <a:off x="609905" y="5766206"/>
            <a:ext cx="109728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Owner：Curator（候选与相似冲突）· Skill Owner（核心能力）· Release Owner（发布与紧急停止）</a:t>
            </a:r>
            <a:endParaRPr lang="en-US" sz="600" dirty="0"/>
          </a:p>
        </p:txBody>
      </p:sp>
      <p:sp>
        <p:nvSpPr>
          <p:cNvPr id="131" name="Shape 127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第一步：Agent 自动发现值得复用的信号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只读取项目最终验证时已有的证据；信号仍需 Curator 决定 submit / skip / observe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714500"/>
            <a:ext cx="10972800" cy="348020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38505" y="1891894"/>
            <a:ext cx="33018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EVIDENCE STACK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444898" y="1891894"/>
            <a:ext cx="22860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CURATOR CONTRACT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7060997" y="1891894"/>
            <a:ext cx="42921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PROPOSAL RECEIPT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838505" y="2184502"/>
            <a:ext cx="3174797" cy="418795"/>
          </a:xfrm>
          <a:prstGeom prst="roundRect">
            <a:avLst>
              <a:gd name="adj" fmla="val 18122"/>
            </a:avLst>
          </a:prstGeom>
          <a:solidFill>
            <a:srgbClr val="E6EAF3"/>
          </a:solidFill>
        </p:spPr>
      </p:sp>
      <p:sp>
        <p:nvSpPr>
          <p:cNvPr id="12" name="Shape 8"/>
          <p:cNvSpPr/>
          <p:nvPr/>
        </p:nvSpPr>
        <p:spPr>
          <a:xfrm>
            <a:off x="940003" y="2273198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0003" y="233080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1282903" y="2260397"/>
            <a:ext cx="2603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component-trace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282903" y="2451506"/>
            <a:ext cx="26032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真实组件调用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838505" y="2717597"/>
            <a:ext cx="3174797" cy="418795"/>
          </a:xfrm>
          <a:prstGeom prst="roundRect">
            <a:avLst>
              <a:gd name="adj" fmla="val 18122"/>
            </a:avLst>
          </a:prstGeom>
          <a:solidFill>
            <a:srgbClr val="E6EAF3"/>
          </a:solidFill>
        </p:spPr>
      </p:sp>
      <p:sp>
        <p:nvSpPr>
          <p:cNvPr id="17" name="Shape 13"/>
          <p:cNvSpPr/>
          <p:nvPr/>
        </p:nvSpPr>
        <p:spPr>
          <a:xfrm>
            <a:off x="940003" y="2806294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40003" y="2863901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1282903" y="2794406"/>
            <a:ext cx="2603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visualSelection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282903" y="2984602"/>
            <a:ext cx="26032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路线、候选与置信度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838505" y="3251606"/>
            <a:ext cx="3174797" cy="418795"/>
          </a:xfrm>
          <a:prstGeom prst="roundRect">
            <a:avLst>
              <a:gd name="adj" fmla="val 18122"/>
            </a:avLst>
          </a:prstGeom>
          <a:solidFill>
            <a:srgbClr val="E6EAF3"/>
          </a:solidFill>
        </p:spPr>
      </p:sp>
      <p:sp>
        <p:nvSpPr>
          <p:cNvPr id="22" name="Shape 18"/>
          <p:cNvSpPr/>
          <p:nvPr/>
        </p:nvSpPr>
        <p:spPr>
          <a:xfrm>
            <a:off x="940003" y="3340303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40003" y="339699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1282903" y="3327502"/>
            <a:ext cx="2603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page-specific code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282903" y="3517697"/>
            <a:ext cx="26032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可复用结构信号</a:t>
            </a:r>
            <a:endParaRPr lang="en-US" sz="650" dirty="0"/>
          </a:p>
        </p:txBody>
      </p:sp>
      <p:sp>
        <p:nvSpPr>
          <p:cNvPr id="26" name="Shape 22"/>
          <p:cNvSpPr/>
          <p:nvPr/>
        </p:nvSpPr>
        <p:spPr>
          <a:xfrm>
            <a:off x="838505" y="3784702"/>
            <a:ext cx="3174797" cy="418795"/>
          </a:xfrm>
          <a:prstGeom prst="roundRect">
            <a:avLst>
              <a:gd name="adj" fmla="val 18122"/>
            </a:avLst>
          </a:prstGeom>
          <a:solidFill>
            <a:srgbClr val="E6EAF3"/>
          </a:solidFill>
        </p:spPr>
      </p:sp>
      <p:sp>
        <p:nvSpPr>
          <p:cNvPr id="27" name="Shape 23"/>
          <p:cNvSpPr/>
          <p:nvPr/>
        </p:nvSpPr>
        <p:spPr>
          <a:xfrm>
            <a:off x="940003" y="3873398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40003" y="393100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650" dirty="0"/>
          </a:p>
        </p:txBody>
      </p:sp>
      <p:sp>
        <p:nvSpPr>
          <p:cNvPr id="29" name="Text 25"/>
          <p:cNvSpPr/>
          <p:nvPr/>
        </p:nvSpPr>
        <p:spPr>
          <a:xfrm>
            <a:off x="1282903" y="3860597"/>
            <a:ext cx="2603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issues / lessons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282903" y="4051706"/>
            <a:ext cx="26032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重复缺陷与学习</a:t>
            </a:r>
            <a:endParaRPr lang="en-US" sz="650" dirty="0"/>
          </a:p>
        </p:txBody>
      </p:sp>
      <p:sp>
        <p:nvSpPr>
          <p:cNvPr id="31" name="Shape 27"/>
          <p:cNvSpPr/>
          <p:nvPr/>
        </p:nvSpPr>
        <p:spPr>
          <a:xfrm>
            <a:off x="838505" y="4317797"/>
            <a:ext cx="3174797" cy="418795"/>
          </a:xfrm>
          <a:prstGeom prst="roundRect">
            <a:avLst>
              <a:gd name="adj" fmla="val 18122"/>
            </a:avLst>
          </a:prstGeom>
          <a:solidFill>
            <a:srgbClr val="E6EAF3"/>
          </a:solidFill>
        </p:spPr>
      </p:sp>
      <p:sp>
        <p:nvSpPr>
          <p:cNvPr id="32" name="Shape 28"/>
          <p:cNvSpPr/>
          <p:nvPr/>
        </p:nvSpPr>
        <p:spPr>
          <a:xfrm>
            <a:off x="940003" y="4406494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40003" y="4464101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05</a:t>
            </a:r>
            <a:endParaRPr lang="en-US" sz="650" dirty="0"/>
          </a:p>
        </p:txBody>
      </p:sp>
      <p:sp>
        <p:nvSpPr>
          <p:cNvPr id="34" name="Text 30"/>
          <p:cNvSpPr/>
          <p:nvPr/>
        </p:nvSpPr>
        <p:spPr>
          <a:xfrm>
            <a:off x="1282903" y="4394606"/>
            <a:ext cx="2603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formal index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282903" y="4584802"/>
            <a:ext cx="260329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近似组件与冲突</a:t>
            </a:r>
            <a:endParaRPr lang="en-US" sz="650" dirty="0"/>
          </a:p>
        </p:txBody>
      </p:sp>
      <p:sp>
        <p:nvSpPr>
          <p:cNvPr id="36" name="Shape 32"/>
          <p:cNvSpPr/>
          <p:nvPr/>
        </p:nvSpPr>
        <p:spPr>
          <a:xfrm>
            <a:off x="4013302" y="3480206"/>
            <a:ext cx="330098" cy="0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4444898" y="2324405"/>
            <a:ext cx="2286000" cy="2298802"/>
          </a:xfrm>
          <a:prstGeom prst="roundRect">
            <a:avLst>
              <a:gd name="adj" fmla="val 6120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  <a:effectLst>
            <a:outerShdw blurRad="25400" dist="25400" dir="2700000" algn="bl" rotWithShape="0">
              <a:srgbClr val="B7B2A8">
                <a:alpha val="1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423306" y="2527402"/>
            <a:ext cx="330098" cy="330098"/>
          </a:xfrm>
          <a:prstGeom prst="roundRect">
            <a:avLst>
              <a:gd name="adj" fmla="val 50139"/>
            </a:avLst>
          </a:prstGeom>
          <a:solidFill>
            <a:srgbClr val="C51516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423306" y="2603297"/>
            <a:ext cx="3300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?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4673498" y="2997403"/>
            <a:ext cx="18288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Curator 决策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4724705" y="3301898"/>
            <a:ext cx="1727302" cy="3300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发现信号，</a:t>
            </a:r>
            <a:endParaRPr lang="en-US" sz="900" dirty="0"/>
          </a:p>
          <a:p>
            <a:pPr marL="0" indent="0" algn="ctr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不替人做晋升判断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749394" y="3797503"/>
            <a:ext cx="1676095" cy="228600"/>
          </a:xfrm>
          <a:prstGeom prst="roundRect">
            <a:avLst>
              <a:gd name="adj" fmla="val 33200"/>
            </a:avLst>
          </a:prstGeom>
          <a:solidFill>
            <a:srgbClr val="FFFFFF"/>
          </a:solidFill>
        </p:spPr>
      </p:sp>
      <p:sp>
        <p:nvSpPr>
          <p:cNvPr id="43" name="Text 39"/>
          <p:cNvSpPr/>
          <p:nvPr/>
        </p:nvSpPr>
        <p:spPr>
          <a:xfrm>
            <a:off x="4749394" y="3797503"/>
            <a:ext cx="167609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submit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4749394" y="4063594"/>
            <a:ext cx="1676095" cy="228600"/>
          </a:xfrm>
          <a:prstGeom prst="roundRect">
            <a:avLst>
              <a:gd name="adj" fmla="val 33200"/>
            </a:avLst>
          </a:prstGeom>
          <a:solidFill>
            <a:srgbClr val="FFFFFF"/>
          </a:solidFill>
        </p:spPr>
      </p:sp>
      <p:sp>
        <p:nvSpPr>
          <p:cNvPr id="45" name="Text 41"/>
          <p:cNvSpPr/>
          <p:nvPr/>
        </p:nvSpPr>
        <p:spPr>
          <a:xfrm>
            <a:off x="4749394" y="4063594"/>
            <a:ext cx="167609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skip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749394" y="4330598"/>
            <a:ext cx="1676095" cy="228600"/>
          </a:xfrm>
          <a:prstGeom prst="roundRect">
            <a:avLst>
              <a:gd name="adj" fmla="val 33200"/>
            </a:avLst>
          </a:prstGeom>
          <a:solidFill>
            <a:srgbClr val="FFFFFF"/>
          </a:solidFill>
        </p:spPr>
      </p:sp>
      <p:sp>
        <p:nvSpPr>
          <p:cNvPr id="47" name="Text 43"/>
          <p:cNvSpPr/>
          <p:nvPr/>
        </p:nvSpPr>
        <p:spPr>
          <a:xfrm>
            <a:off x="4749394" y="4330598"/>
            <a:ext cx="167609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observe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730898" y="3480206"/>
            <a:ext cx="228600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7060997" y="2184502"/>
            <a:ext cx="4292194" cy="2743200"/>
          </a:xfrm>
          <a:prstGeom prst="roundRect">
            <a:avLst>
              <a:gd name="adj" fmla="val 4167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7276795" y="2374697"/>
            <a:ext cx="3860597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DE5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LOCAL EXECUTION · 2026-07-22</a:t>
            </a:r>
            <a:endParaRPr lang="en-US" sz="650" dirty="0"/>
          </a:p>
        </p:txBody>
      </p:sp>
      <p:sp>
        <p:nvSpPr>
          <p:cNvPr id="51" name="Text 47"/>
          <p:cNvSpPr/>
          <p:nvPr/>
        </p:nvSpPr>
        <p:spPr>
          <a:xfrm>
            <a:off x="7276795" y="2667305"/>
            <a:ext cx="3860597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结构化提案回执</a:t>
            </a:r>
            <a:endParaRPr lang="en-US" sz="1350" dirty="0"/>
          </a:p>
        </p:txBody>
      </p:sp>
      <p:sp>
        <p:nvSpPr>
          <p:cNvPr id="52" name="Shape 48"/>
          <p:cNvSpPr/>
          <p:nvPr/>
        </p:nvSpPr>
        <p:spPr>
          <a:xfrm>
            <a:off x="7276795" y="3034894"/>
            <a:ext cx="3860597" cy="3044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</p:spPr>
      </p:sp>
      <p:sp>
        <p:nvSpPr>
          <p:cNvPr id="53" name="Text 49"/>
          <p:cNvSpPr/>
          <p:nvPr/>
        </p:nvSpPr>
        <p:spPr>
          <a:xfrm>
            <a:off x="7403897" y="3111703"/>
            <a:ext cx="15115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signals</a:t>
            </a:r>
            <a:endParaRPr lang="en-US" sz="650" dirty="0"/>
          </a:p>
        </p:txBody>
      </p:sp>
      <p:sp>
        <p:nvSpPr>
          <p:cNvPr id="54" name="Text 50"/>
          <p:cNvSpPr/>
          <p:nvPr/>
        </p:nvSpPr>
        <p:spPr>
          <a:xfrm>
            <a:off x="8941003" y="3111703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19 · 18 custom + 1 explicit</a:t>
            </a:r>
            <a:endParaRPr lang="en-US" sz="650" dirty="0"/>
          </a:p>
        </p:txBody>
      </p:sp>
      <p:sp>
        <p:nvSpPr>
          <p:cNvPr id="55" name="Shape 51"/>
          <p:cNvSpPr/>
          <p:nvPr/>
        </p:nvSpPr>
        <p:spPr>
          <a:xfrm>
            <a:off x="7276795" y="3429000"/>
            <a:ext cx="3860597" cy="3044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</p:spPr>
      </p:sp>
      <p:sp>
        <p:nvSpPr>
          <p:cNvPr id="56" name="Text 52"/>
          <p:cNvSpPr/>
          <p:nvPr/>
        </p:nvSpPr>
        <p:spPr>
          <a:xfrm>
            <a:off x="7403897" y="3504895"/>
            <a:ext cx="15115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proposalCount</a:t>
            </a:r>
            <a:endParaRPr lang="en-US" sz="650" dirty="0"/>
          </a:p>
        </p:txBody>
      </p:sp>
      <p:sp>
        <p:nvSpPr>
          <p:cNvPr id="57" name="Text 53"/>
          <p:cNvSpPr/>
          <p:nvPr/>
        </p:nvSpPr>
        <p:spPr>
          <a:xfrm>
            <a:off x="8941003" y="3504895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</a:t>
            </a:r>
            <a:endParaRPr lang="en-US" sz="650" dirty="0"/>
          </a:p>
        </p:txBody>
      </p:sp>
      <p:sp>
        <p:nvSpPr>
          <p:cNvPr id="58" name="Shape 54"/>
          <p:cNvSpPr/>
          <p:nvPr/>
        </p:nvSpPr>
        <p:spPr>
          <a:xfrm>
            <a:off x="7276795" y="3823106"/>
            <a:ext cx="3860597" cy="3044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</p:spPr>
      </p:sp>
      <p:sp>
        <p:nvSpPr>
          <p:cNvPr id="59" name="Text 55"/>
          <p:cNvSpPr/>
          <p:nvPr/>
        </p:nvSpPr>
        <p:spPr>
          <a:xfrm>
            <a:off x="7403897" y="3899002"/>
            <a:ext cx="15115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agentActionRequired</a:t>
            </a:r>
            <a:endParaRPr lang="en-US" sz="650" dirty="0"/>
          </a:p>
        </p:txBody>
      </p:sp>
      <p:sp>
        <p:nvSpPr>
          <p:cNvPr id="60" name="Text 56"/>
          <p:cNvSpPr/>
          <p:nvPr/>
        </p:nvSpPr>
        <p:spPr>
          <a:xfrm>
            <a:off x="8941003" y="3899002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false</a:t>
            </a:r>
            <a:endParaRPr lang="en-US" sz="650" dirty="0"/>
          </a:p>
        </p:txBody>
      </p:sp>
      <p:sp>
        <p:nvSpPr>
          <p:cNvPr id="61" name="Shape 57"/>
          <p:cNvSpPr/>
          <p:nvPr/>
        </p:nvSpPr>
        <p:spPr>
          <a:xfrm>
            <a:off x="7276795" y="4216298"/>
            <a:ext cx="3860597" cy="304495"/>
          </a:xfrm>
          <a:prstGeom prst="roundRect">
            <a:avLst>
              <a:gd name="adj" fmla="val 24925"/>
            </a:avLst>
          </a:prstGeom>
          <a:solidFill>
            <a:srgbClr val="FFFFFF"/>
          </a:solidFill>
        </p:spPr>
      </p:sp>
      <p:sp>
        <p:nvSpPr>
          <p:cNvPr id="62" name="Text 58"/>
          <p:cNvSpPr/>
          <p:nvPr/>
        </p:nvSpPr>
        <p:spPr>
          <a:xfrm>
            <a:off x="7403897" y="4292194"/>
            <a:ext cx="15115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next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8941003" y="4292194"/>
            <a:ext cx="2095805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Curator review · no auto-promotion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7276795" y="4635094"/>
            <a:ext cx="38605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D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只写项目 output / 贡献收件箱，不直接修改共享 Skill</a:t>
            </a:r>
            <a:endParaRPr lang="en-US" sz="650" dirty="0"/>
          </a:p>
        </p:txBody>
      </p:sp>
      <p:sp>
        <p:nvSpPr>
          <p:cNvPr id="65" name="Shape 61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66" name="Text 62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CURATION BOUNDARY</a:t>
            </a:r>
            <a:endParaRPr lang="en-US" sz="650" dirty="0"/>
          </a:p>
        </p:txBody>
      </p:sp>
      <p:sp>
        <p:nvSpPr>
          <p:cNvPr id="67" name="Text 63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发现信号 ≠ 形成正式组件：每个信号仍需独立证据和 Curator 判断。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相似度引擎用可解释加权分数对比历史库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硬冲突先阻断；其余用 relation、slots、tags、语义与容量计算，再按阈值路由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498702"/>
            <a:ext cx="10972800" cy="444398"/>
          </a:xfrm>
          <a:prstGeom prst="roundRect">
            <a:avLst>
              <a:gd name="adj" fmla="val 31482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0100" y="1632204"/>
            <a:ext cx="17145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HARD BLOCK FIRST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2616098" y="1606601"/>
            <a:ext cx="876269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 ID / 同名冲突 · 安全扫描失败 · 规范失败 → 不计算“高相似即自动合并”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609905" y="2158898"/>
            <a:ext cx="426750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PROPOSED V1 · SCORE DECOMPOSITION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609905" y="2425903"/>
            <a:ext cx="4267505" cy="2667305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0100" y="2711196"/>
            <a:ext cx="12188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relation</a:t>
            </a:r>
            <a:endParaRPr lang="en-US" sz="600" dirty="0"/>
          </a:p>
        </p:txBody>
      </p:sp>
      <p:sp>
        <p:nvSpPr>
          <p:cNvPr id="14" name="Shape 10"/>
          <p:cNvSpPr/>
          <p:nvPr/>
        </p:nvSpPr>
        <p:spPr>
          <a:xfrm>
            <a:off x="2070202" y="2667305"/>
            <a:ext cx="1904695" cy="215798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070202" y="2667305"/>
            <a:ext cx="1904695" cy="215798"/>
          </a:xfrm>
          <a:prstGeom prst="rect">
            <a:avLst/>
          </a:prstGeom>
          <a:solidFill>
            <a:srgbClr val="C51516"/>
          </a:solidFill>
          <a:ln w="12700">
            <a:solidFill>
              <a:srgbClr val="C515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51706" y="2711196"/>
            <a:ext cx="5715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35%</a:t>
            </a:r>
            <a:endParaRPr lang="en-US" sz="600" dirty="0"/>
          </a:p>
        </p:txBody>
      </p:sp>
      <p:sp>
        <p:nvSpPr>
          <p:cNvPr id="17" name="Text 13"/>
          <p:cNvSpPr/>
          <p:nvPr/>
        </p:nvSpPr>
        <p:spPr>
          <a:xfrm>
            <a:off x="800100" y="2920594"/>
            <a:ext cx="3823106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关系是否一致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800100" y="3155594"/>
            <a:ext cx="12188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slot Jaccard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2070202" y="3111703"/>
            <a:ext cx="1904695" cy="215798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070202" y="3111703"/>
            <a:ext cx="1360627" cy="215798"/>
          </a:xfrm>
          <a:prstGeom prst="rect">
            <a:avLst/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51706" y="3155594"/>
            <a:ext cx="5715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25%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800100" y="3365906"/>
            <a:ext cx="3823106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槽位集合重合</a:t>
            </a:r>
            <a:endParaRPr lang="en-US" sz="600" dirty="0"/>
          </a:p>
        </p:txBody>
      </p:sp>
      <p:sp>
        <p:nvSpPr>
          <p:cNvPr id="23" name="Text 19"/>
          <p:cNvSpPr/>
          <p:nvPr/>
        </p:nvSpPr>
        <p:spPr>
          <a:xfrm>
            <a:off x="800100" y="3600907"/>
            <a:ext cx="12188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tag Jaccard</a:t>
            </a:r>
            <a:endParaRPr lang="en-US" sz="600" dirty="0"/>
          </a:p>
        </p:txBody>
      </p:sp>
      <p:sp>
        <p:nvSpPr>
          <p:cNvPr id="24" name="Shape 20"/>
          <p:cNvSpPr/>
          <p:nvPr/>
        </p:nvSpPr>
        <p:spPr>
          <a:xfrm>
            <a:off x="2070202" y="3556102"/>
            <a:ext cx="1904695" cy="215798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070202" y="3556102"/>
            <a:ext cx="816559" cy="215798"/>
          </a:xfrm>
          <a:prstGeom prst="rect">
            <a:avLst/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51706" y="3600907"/>
            <a:ext cx="5715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15%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800100" y="3810305"/>
            <a:ext cx="3823106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标签集合重合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800100" y="4045306"/>
            <a:ext cx="12188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semantic cosine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2070202" y="4000500"/>
            <a:ext cx="1904695" cy="215798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070202" y="4000500"/>
            <a:ext cx="816559" cy="215798"/>
          </a:xfrm>
          <a:prstGeom prst="rect">
            <a:avLst/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051706" y="4045306"/>
            <a:ext cx="5715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15%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800100" y="4254703"/>
            <a:ext cx="3823106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描述语义接近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800100" y="4489704"/>
            <a:ext cx="1218895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capacity / theme fit</a:t>
            </a:r>
            <a:endParaRPr lang="en-US" sz="600" dirty="0"/>
          </a:p>
        </p:txBody>
      </p:sp>
      <p:sp>
        <p:nvSpPr>
          <p:cNvPr id="34" name="Shape 30"/>
          <p:cNvSpPr/>
          <p:nvPr/>
        </p:nvSpPr>
        <p:spPr>
          <a:xfrm>
            <a:off x="2070202" y="4444898"/>
            <a:ext cx="1904695" cy="215798"/>
          </a:xfrm>
          <a:prstGeom prst="rect">
            <a:avLst/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070202" y="4444898"/>
            <a:ext cx="544068" cy="215798"/>
          </a:xfrm>
          <a:prstGeom prst="rect">
            <a:avLst/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051706" y="4489704"/>
            <a:ext cx="571500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10%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800100" y="4699102"/>
            <a:ext cx="3823106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容量与主题适配</a:t>
            </a:r>
            <a:endParaRPr lang="en-US" sz="600" dirty="0"/>
          </a:p>
        </p:txBody>
      </p:sp>
      <p:sp>
        <p:nvSpPr>
          <p:cNvPr id="38" name="Text 34"/>
          <p:cNvSpPr/>
          <p:nvPr/>
        </p:nvSpPr>
        <p:spPr>
          <a:xfrm>
            <a:off x="800100" y="4813402"/>
            <a:ext cx="3823106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 = Σ(weight × field similarity)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5296205" y="2158898"/>
            <a:ext cx="62865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COMPARE LIBRARY → THRESHOLD ROUTE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5296205" y="2425903"/>
            <a:ext cx="6286500" cy="1104595"/>
          </a:xfrm>
          <a:prstGeom prst="roundRect">
            <a:avLst>
              <a:gd name="adj" fmla="val 12666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524805" y="2628900"/>
            <a:ext cx="12060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对比历史库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870802" y="2565806"/>
            <a:ext cx="1244498" cy="317297"/>
          </a:xfrm>
          <a:prstGeom prst="roundRect">
            <a:avLst>
              <a:gd name="adj" fmla="val 27954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946697" y="2628900"/>
            <a:ext cx="1091794" cy="202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正式组件</a:t>
            </a:r>
            <a:endParaRPr lang="en-US" sz="600" dirty="0"/>
          </a:p>
        </p:txBody>
      </p:sp>
      <p:sp>
        <p:nvSpPr>
          <p:cNvPr id="44" name="Shape 40"/>
          <p:cNvSpPr/>
          <p:nvPr/>
        </p:nvSpPr>
        <p:spPr>
          <a:xfrm>
            <a:off x="8292694" y="2565806"/>
            <a:ext cx="1244498" cy="317297"/>
          </a:xfrm>
          <a:prstGeom prst="roundRect">
            <a:avLst>
              <a:gd name="adj" fmla="val 27954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369503" y="2628900"/>
            <a:ext cx="1091794" cy="202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已合并候选</a:t>
            </a:r>
            <a:endParaRPr lang="en-US" sz="600" dirty="0"/>
          </a:p>
        </p:txBody>
      </p:sp>
      <p:sp>
        <p:nvSpPr>
          <p:cNvPr id="46" name="Shape 42"/>
          <p:cNvSpPr/>
          <p:nvPr/>
        </p:nvSpPr>
        <p:spPr>
          <a:xfrm>
            <a:off x="9715500" y="2565806"/>
            <a:ext cx="1244498" cy="317297"/>
          </a:xfrm>
          <a:prstGeom prst="roundRect">
            <a:avLst>
              <a:gd name="adj" fmla="val 27954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791395" y="2628900"/>
            <a:ext cx="1091794" cy="2029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活跃 PR</a:t>
            </a:r>
            <a:endParaRPr lang="en-US" sz="600" dirty="0"/>
          </a:p>
        </p:txBody>
      </p:sp>
      <p:sp>
        <p:nvSpPr>
          <p:cNvPr id="48" name="Text 44"/>
          <p:cNvSpPr/>
          <p:nvPr/>
        </p:nvSpPr>
        <p:spPr>
          <a:xfrm>
            <a:off x="5524805" y="3086100"/>
            <a:ext cx="5740603" cy="241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每个候选保留 Top matches、字段分解与证据来源，人工可解释、可复核。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5296205" y="3771900"/>
            <a:ext cx="1904695" cy="1320394"/>
          </a:xfrm>
          <a:prstGeom prst="roundRect">
            <a:avLst>
              <a:gd name="adj" fmla="val 865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5460797" y="3899002"/>
            <a:ext cx="15873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新候选</a:t>
            </a:r>
            <a:endParaRPr lang="en-US" sz="1050" dirty="0"/>
          </a:p>
        </p:txBody>
      </p:sp>
      <p:sp>
        <p:nvSpPr>
          <p:cNvPr id="51" name="Text 47"/>
          <p:cNvSpPr/>
          <p:nvPr/>
        </p:nvSpPr>
        <p:spPr>
          <a:xfrm>
            <a:off x="5460797" y="4140403"/>
            <a:ext cx="1587398" cy="838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提交独立候选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5524805" y="4470502"/>
            <a:ext cx="1447495" cy="304495"/>
          </a:xfrm>
          <a:prstGeom prst="roundRect">
            <a:avLst>
              <a:gd name="adj" fmla="val 29129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00700" y="4533595"/>
            <a:ext cx="1295705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 &lt; 0.55</a:t>
            </a:r>
            <a:endParaRPr lang="en-US" sz="600" dirty="0"/>
          </a:p>
        </p:txBody>
      </p:sp>
      <p:sp>
        <p:nvSpPr>
          <p:cNvPr id="54" name="Shape 50"/>
          <p:cNvSpPr/>
          <p:nvPr/>
        </p:nvSpPr>
        <p:spPr>
          <a:xfrm>
            <a:off x="7276795" y="3771900"/>
            <a:ext cx="2095805" cy="1320394"/>
          </a:xfrm>
          <a:prstGeom prst="roundRect">
            <a:avLst>
              <a:gd name="adj" fmla="val 10596"/>
            </a:avLst>
          </a:prstGeom>
          <a:solidFill>
            <a:srgbClr val="FBECEB"/>
          </a:solidFill>
          <a:ln w="2159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6" name="Text 52"/>
          <p:cNvSpPr/>
          <p:nvPr/>
        </p:nvSpPr>
        <p:spPr>
          <a:xfrm>
            <a:off x="7442302" y="3899002"/>
            <a:ext cx="17775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Curator 判断</a:t>
            </a:r>
            <a:endParaRPr lang="en-US" sz="1050" dirty="0"/>
          </a:p>
        </p:txBody>
      </p:sp>
      <p:sp>
        <p:nvSpPr>
          <p:cNvPr id="57" name="Text 53"/>
          <p:cNvSpPr/>
          <p:nvPr/>
        </p:nvSpPr>
        <p:spPr>
          <a:xfrm>
            <a:off x="7442302" y="4140403"/>
            <a:ext cx="1777594" cy="838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 / 扩展 / 观察</a:t>
            </a:r>
            <a:endParaRPr lang="en-US" sz="650" dirty="0"/>
          </a:p>
        </p:txBody>
      </p:sp>
      <p:sp>
        <p:nvSpPr>
          <p:cNvPr id="58" name="Shape 54"/>
          <p:cNvSpPr/>
          <p:nvPr/>
        </p:nvSpPr>
        <p:spPr>
          <a:xfrm>
            <a:off x="7505395" y="4470502"/>
            <a:ext cx="1638605" cy="304495"/>
          </a:xfrm>
          <a:prstGeom prst="roundRect">
            <a:avLst>
              <a:gd name="adj" fmla="val 45946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7582205" y="4533595"/>
            <a:ext cx="1485900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0.55 ≤ S &lt; 0.82</a:t>
            </a:r>
            <a:endParaRPr lang="en-US" sz="600" dirty="0"/>
          </a:p>
        </p:txBody>
      </p:sp>
      <p:sp>
        <p:nvSpPr>
          <p:cNvPr id="60" name="Shape 56"/>
          <p:cNvSpPr/>
          <p:nvPr/>
        </p:nvSpPr>
        <p:spPr>
          <a:xfrm>
            <a:off x="9448495" y="3771900"/>
            <a:ext cx="2133295" cy="1320394"/>
          </a:xfrm>
          <a:prstGeom prst="roundRect">
            <a:avLst>
              <a:gd name="adj" fmla="val 865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61" name="Text 57"/>
          <p:cNvSpPr/>
          <p:nvPr/>
        </p:nvSpPr>
        <p:spPr>
          <a:xfrm>
            <a:off x="9614002" y="3899002"/>
            <a:ext cx="18159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优先扩展 / 复用</a:t>
            </a:r>
            <a:endParaRPr lang="en-US" sz="1050" dirty="0"/>
          </a:p>
        </p:txBody>
      </p:sp>
      <p:sp>
        <p:nvSpPr>
          <p:cNvPr id="62" name="Text 58"/>
          <p:cNvSpPr/>
          <p:nvPr/>
        </p:nvSpPr>
        <p:spPr>
          <a:xfrm>
            <a:off x="9614002" y="4140403"/>
            <a:ext cx="1815998" cy="8385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仍需人工确认</a:t>
            </a:r>
            <a:endParaRPr lang="en-US" sz="650" dirty="0"/>
          </a:p>
        </p:txBody>
      </p:sp>
      <p:sp>
        <p:nvSpPr>
          <p:cNvPr id="63" name="Shape 59"/>
          <p:cNvSpPr/>
          <p:nvPr/>
        </p:nvSpPr>
        <p:spPr>
          <a:xfrm>
            <a:off x="9677095" y="4470502"/>
            <a:ext cx="1676095" cy="304495"/>
          </a:xfrm>
          <a:prstGeom prst="roundRect">
            <a:avLst>
              <a:gd name="adj" fmla="val 29129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9753905" y="4533595"/>
            <a:ext cx="1524305" cy="190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 ≥ 0.82</a:t>
            </a:r>
            <a:endParaRPr lang="en-US" sz="600" dirty="0"/>
          </a:p>
        </p:txBody>
      </p:sp>
      <p:sp>
        <p:nvSpPr>
          <p:cNvPr id="65" name="Text 61"/>
          <p:cNvSpPr/>
          <p:nvPr/>
        </p:nvSpPr>
        <p:spPr>
          <a:xfrm>
            <a:off x="5296205" y="5333695"/>
            <a:ext cx="6286500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阈值是拟议 v1：必须先用真实历史候选回放，再根据误判率与审核负担校准。</a:t>
            </a:r>
            <a:endParaRPr lang="en-US" sz="650" dirty="0"/>
          </a:p>
        </p:txBody>
      </p:sp>
      <p:sp>
        <p:nvSpPr>
          <p:cNvPr id="66" name="Shape 62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第二步：候选包先脱敏，再进入共享区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共享通用表达能力；客户名、业务数据、绝对路径和项目截图必须留在项目内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714500"/>
            <a:ext cx="10972800" cy="3480206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38505" y="1891894"/>
            <a:ext cx="30476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PROJECT-SPECIFIC ARTIFACTS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381805" y="1891894"/>
            <a:ext cx="18544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REDACTION TRANSFORM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6642202" y="1891894"/>
            <a:ext cx="47119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FOUR-FILE CANDIDATE BUNDLE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838505" y="2184502"/>
            <a:ext cx="3047695" cy="2654503"/>
          </a:xfrm>
          <a:prstGeom prst="roundRect">
            <a:avLst>
              <a:gd name="adj" fmla="val 3341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028700" y="2374697"/>
            <a:ext cx="266730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项目特定输入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028700" y="2704795"/>
            <a:ext cx="2667305" cy="291694"/>
          </a:xfrm>
          <a:prstGeom prst="roundRect">
            <a:avLst>
              <a:gd name="adj" fmla="val 26019"/>
            </a:avLst>
          </a:prstGeom>
          <a:solidFill>
            <a:srgbClr val="FFFFFF"/>
          </a:solidFill>
        </p:spPr>
      </p:sp>
      <p:sp>
        <p:nvSpPr>
          <p:cNvPr id="14" name="Shape 10"/>
          <p:cNvSpPr/>
          <p:nvPr/>
        </p:nvSpPr>
        <p:spPr>
          <a:xfrm>
            <a:off x="1130198" y="2730398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30198" y="278800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1473098" y="2781605"/>
            <a:ext cx="209580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 / 项目名称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028700" y="3086100"/>
            <a:ext cx="2667305" cy="291694"/>
          </a:xfrm>
          <a:prstGeom prst="roundRect">
            <a:avLst>
              <a:gd name="adj" fmla="val 26019"/>
            </a:avLst>
          </a:prstGeom>
          <a:solidFill>
            <a:srgbClr val="FFFFFF"/>
          </a:solidFill>
        </p:spPr>
      </p:sp>
      <p:sp>
        <p:nvSpPr>
          <p:cNvPr id="18" name="Shape 14"/>
          <p:cNvSpPr/>
          <p:nvPr/>
        </p:nvSpPr>
        <p:spPr>
          <a:xfrm>
            <a:off x="1130198" y="3111703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30198" y="316839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1473098" y="3161995"/>
            <a:ext cx="209580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真实业务数据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028700" y="3467405"/>
            <a:ext cx="2667305" cy="291694"/>
          </a:xfrm>
          <a:prstGeom prst="roundRect">
            <a:avLst>
              <a:gd name="adj" fmla="val 26019"/>
            </a:avLst>
          </a:prstGeom>
          <a:solidFill>
            <a:srgbClr val="FFFFFF"/>
          </a:solidFill>
        </p:spPr>
      </p:sp>
      <p:sp>
        <p:nvSpPr>
          <p:cNvPr id="22" name="Shape 18"/>
          <p:cNvSpPr/>
          <p:nvPr/>
        </p:nvSpPr>
        <p:spPr>
          <a:xfrm>
            <a:off x="1130198" y="3492094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0198" y="3549701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1473098" y="3543300"/>
            <a:ext cx="209580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绝对用户路径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1028700" y="3847795"/>
            <a:ext cx="2667305" cy="291694"/>
          </a:xfrm>
          <a:prstGeom prst="roundRect">
            <a:avLst>
              <a:gd name="adj" fmla="val 26019"/>
            </a:avLst>
          </a:prstGeom>
          <a:solidFill>
            <a:srgbClr val="FFFFFF"/>
          </a:solidFill>
        </p:spPr>
      </p:sp>
      <p:sp>
        <p:nvSpPr>
          <p:cNvPr id="26" name="Shape 22"/>
          <p:cNvSpPr/>
          <p:nvPr/>
        </p:nvSpPr>
        <p:spPr>
          <a:xfrm>
            <a:off x="1130198" y="3873398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130198" y="393100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1473098" y="3924605"/>
            <a:ext cx="209580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项目专属截图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1028700" y="4229100"/>
            <a:ext cx="2667305" cy="291694"/>
          </a:xfrm>
          <a:prstGeom prst="roundRect">
            <a:avLst>
              <a:gd name="adj" fmla="val 26019"/>
            </a:avLst>
          </a:prstGeom>
          <a:solidFill>
            <a:srgbClr val="FFFFFF"/>
          </a:solidFill>
        </p:spPr>
      </p:sp>
      <p:sp>
        <p:nvSpPr>
          <p:cNvPr id="30" name="Shape 26"/>
          <p:cNvSpPr/>
          <p:nvPr/>
        </p:nvSpPr>
        <p:spPr>
          <a:xfrm>
            <a:off x="1130198" y="4254703"/>
            <a:ext cx="241402" cy="241402"/>
          </a:xfrm>
          <a:prstGeom prst="roundRect">
            <a:avLst>
              <a:gd name="adj" fmla="val 50000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30198" y="4311396"/>
            <a:ext cx="241402" cy="120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05</a:t>
            </a:r>
            <a:endParaRPr lang="en-US" sz="650" dirty="0"/>
          </a:p>
        </p:txBody>
      </p:sp>
      <p:sp>
        <p:nvSpPr>
          <p:cNvPr id="32" name="Text 28"/>
          <p:cNvSpPr/>
          <p:nvPr/>
        </p:nvSpPr>
        <p:spPr>
          <a:xfrm>
            <a:off x="1473098" y="4304995"/>
            <a:ext cx="209580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一次性语义文案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886200" y="3504895"/>
            <a:ext cx="394106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4381805" y="2603297"/>
            <a:ext cx="1854403" cy="1803197"/>
          </a:xfrm>
          <a:prstGeom prst="roundRect">
            <a:avLst>
              <a:gd name="adj" fmla="val 7759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  <a:effectLst>
            <a:outerShdw blurRad="25400" dist="25400" dir="2700000" algn="bl" rotWithShape="0">
              <a:srgbClr val="B7B2A8">
                <a:alpha val="18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143500" y="2806294"/>
            <a:ext cx="330098" cy="330098"/>
          </a:xfrm>
          <a:prstGeom prst="roundRect">
            <a:avLst>
              <a:gd name="adj" fmla="val 50139"/>
            </a:avLst>
          </a:prstGeom>
          <a:solidFill>
            <a:srgbClr val="C51516"/>
          </a:solidFill>
          <a:ln w="17780">
            <a:solidFill>
              <a:srgbClr val="C5151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143500" y="2883103"/>
            <a:ext cx="3300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−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4597603" y="3263494"/>
            <a:ext cx="1422806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脱敏 · 抽象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4597603" y="3594506"/>
            <a:ext cx="1422806" cy="381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删项目事实</a:t>
            </a:r>
            <a:endParaRPr lang="en-US" sz="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保留关系能力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597603" y="4127602"/>
            <a:ext cx="1422806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REDACT → GENERALIZE</a:t>
            </a:r>
            <a:endParaRPr lang="en-US" sz="600" dirty="0"/>
          </a:p>
        </p:txBody>
      </p:sp>
      <p:sp>
        <p:nvSpPr>
          <p:cNvPr id="40" name="Shape 36"/>
          <p:cNvSpPr/>
          <p:nvPr/>
        </p:nvSpPr>
        <p:spPr>
          <a:xfrm>
            <a:off x="6235294" y="3504895"/>
            <a:ext cx="304495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6642202" y="2184502"/>
            <a:ext cx="4711903" cy="2654503"/>
          </a:xfrm>
          <a:prstGeom prst="roundRect">
            <a:avLst>
              <a:gd name="adj" fmla="val 5270"/>
            </a:avLst>
          </a:prstGeom>
          <a:solidFill>
            <a:srgbClr val="FFFFFF"/>
          </a:solidFill>
          <a:ln w="2032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6858000" y="2374697"/>
            <a:ext cx="4280306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multi-actor-contribution-pool/</a:t>
            </a:r>
            <a:endParaRPr lang="en-US" sz="650" dirty="0"/>
          </a:p>
        </p:txBody>
      </p:sp>
      <p:sp>
        <p:nvSpPr>
          <p:cNvPr id="43" name="Shape 39"/>
          <p:cNvSpPr/>
          <p:nvPr/>
        </p:nvSpPr>
        <p:spPr>
          <a:xfrm>
            <a:off x="6858000" y="2730398"/>
            <a:ext cx="2095805" cy="787298"/>
          </a:xfrm>
          <a:prstGeom prst="roundRect">
            <a:avLst>
              <a:gd name="adj" fmla="val 14518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4" name="Text 40"/>
          <p:cNvSpPr/>
          <p:nvPr/>
        </p:nvSpPr>
        <p:spPr>
          <a:xfrm>
            <a:off x="6997903" y="2870302"/>
            <a:ext cx="18159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candidate.json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7010705" y="3149194"/>
            <a:ext cx="1790395" cy="254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元数据、关系、槽位与风险边界</a:t>
            </a:r>
            <a:endParaRPr lang="en-US" sz="650" dirty="0"/>
          </a:p>
        </p:txBody>
      </p:sp>
      <p:sp>
        <p:nvSpPr>
          <p:cNvPr id="46" name="Shape 42"/>
          <p:cNvSpPr/>
          <p:nvPr/>
        </p:nvSpPr>
        <p:spPr>
          <a:xfrm>
            <a:off x="9042502" y="2730398"/>
            <a:ext cx="2095805" cy="787298"/>
          </a:xfrm>
          <a:prstGeom prst="roundRect">
            <a:avLst>
              <a:gd name="adj" fmla="val 14518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7" name="Text 43"/>
          <p:cNvSpPr/>
          <p:nvPr/>
        </p:nvSpPr>
        <p:spPr>
          <a:xfrm>
            <a:off x="9182405" y="2870302"/>
            <a:ext cx="18159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component.js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9195206" y="3149194"/>
            <a:ext cx="1790395" cy="254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可编辑渲染实现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6858000" y="3683203"/>
            <a:ext cx="2095805" cy="787298"/>
          </a:xfrm>
          <a:prstGeom prst="roundRect">
            <a:avLst>
              <a:gd name="adj" fmla="val 14518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0" name="Text 46"/>
          <p:cNvSpPr/>
          <p:nvPr/>
        </p:nvSpPr>
        <p:spPr>
          <a:xfrm>
            <a:off x="6997903" y="3823106"/>
            <a:ext cx="18159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preview.svg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7010705" y="4101998"/>
            <a:ext cx="1790395" cy="254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不依赖业务数据的预览</a:t>
            </a:r>
            <a:endParaRPr lang="en-US" sz="650" dirty="0"/>
          </a:p>
        </p:txBody>
      </p:sp>
      <p:sp>
        <p:nvSpPr>
          <p:cNvPr id="52" name="Shape 48"/>
          <p:cNvSpPr/>
          <p:nvPr/>
        </p:nvSpPr>
        <p:spPr>
          <a:xfrm>
            <a:off x="9042502" y="3683203"/>
            <a:ext cx="2095805" cy="787298"/>
          </a:xfrm>
          <a:prstGeom prst="roundRect">
            <a:avLst>
              <a:gd name="adj" fmla="val 14518"/>
            </a:avLst>
          </a:prstGeom>
          <a:solidFill>
            <a:srgbClr val="07195A"/>
          </a:solidFill>
          <a:ln w="1270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3" name="Text 49"/>
          <p:cNvSpPr/>
          <p:nvPr/>
        </p:nvSpPr>
        <p:spPr>
          <a:xfrm>
            <a:off x="9182405" y="3823106"/>
            <a:ext cx="1815998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README.md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9195206" y="4101998"/>
            <a:ext cx="1790395" cy="254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DDE5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适用条件与证据说明</a:t>
            </a:r>
            <a:endParaRPr lang="en-US" sz="650" dirty="0"/>
          </a:p>
        </p:txBody>
      </p:sp>
      <p:sp>
        <p:nvSpPr>
          <p:cNvPr id="55" name="Text 51"/>
          <p:cNvSpPr/>
          <p:nvPr/>
        </p:nvSpPr>
        <p:spPr>
          <a:xfrm>
            <a:off x="6858000" y="4597603"/>
            <a:ext cx="42803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真实测试夹具 · 四文件缺一不可 · candidate 仍非 production-ready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7" name="Text 53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SHARING CONTRACT</a:t>
            </a:r>
            <a:endParaRPr lang="en-US" sz="650" dirty="0"/>
          </a:p>
        </p:txBody>
      </p:sp>
      <p:sp>
        <p:nvSpPr>
          <p:cNvPr id="58" name="Text 54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项目事实留在项目；共享区只接收可复用、可审计、可独立验证的候选包。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第三步：风险分流决定自动化走多远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自动化只搬运低风险候选；中高风险分别等待判断或在建分支前停止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561795"/>
            <a:ext cx="266730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2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CANDIDATE EVIDENCE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000500" y="1561795"/>
            <a:ext cx="2603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2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RISK ROUTER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7556602" y="1561795"/>
            <a:ext cx="40261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2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ROUTING OUTCOMES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609905" y="1904695"/>
            <a:ext cx="2667305" cy="545897"/>
          </a:xfrm>
          <a:prstGeom prst="roundRect">
            <a:avLst>
              <a:gd name="adj" fmla="val 209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61695" y="2038198"/>
            <a:ext cx="279806" cy="279806"/>
          </a:xfrm>
          <a:prstGeom prst="ellipse">
            <a:avLst/>
          </a:prstGeom>
          <a:solidFill>
            <a:srgbClr val="E6EAF3"/>
          </a:solidFill>
        </p:spPr>
      </p:sp>
      <p:sp>
        <p:nvSpPr>
          <p:cNvPr id="12" name="Text 8"/>
          <p:cNvSpPr/>
          <p:nvPr/>
        </p:nvSpPr>
        <p:spPr>
          <a:xfrm>
            <a:off x="761695" y="2095805"/>
            <a:ext cx="2798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1206094" y="2006194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component-trace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206094" y="2222906"/>
            <a:ext cx="19046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真实组件调用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3276295" y="2178101"/>
            <a:ext cx="368503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9905" y="2616098"/>
            <a:ext cx="2667305" cy="545897"/>
          </a:xfrm>
          <a:prstGeom prst="roundRect">
            <a:avLst>
              <a:gd name="adj" fmla="val 209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1695" y="2749601"/>
            <a:ext cx="279806" cy="279806"/>
          </a:xfrm>
          <a:prstGeom prst="ellipse">
            <a:avLst/>
          </a:prstGeom>
          <a:solidFill>
            <a:srgbClr val="E6EAF3"/>
          </a:solidFill>
        </p:spPr>
      </p:sp>
      <p:sp>
        <p:nvSpPr>
          <p:cNvPr id="18" name="Text 14"/>
          <p:cNvSpPr/>
          <p:nvPr/>
        </p:nvSpPr>
        <p:spPr>
          <a:xfrm>
            <a:off x="761695" y="2806294"/>
            <a:ext cx="2798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2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1206094" y="2717597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visualSelection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206094" y="2933395"/>
            <a:ext cx="19046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路线与候选族</a:t>
            </a:r>
            <a:endParaRPr lang="en-US" sz="650" dirty="0"/>
          </a:p>
        </p:txBody>
      </p:sp>
      <p:sp>
        <p:nvSpPr>
          <p:cNvPr id="21" name="Shape 17"/>
          <p:cNvSpPr/>
          <p:nvPr/>
        </p:nvSpPr>
        <p:spPr>
          <a:xfrm>
            <a:off x="3276295" y="2889504"/>
            <a:ext cx="368503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9905" y="3327502"/>
            <a:ext cx="2667305" cy="545897"/>
          </a:xfrm>
          <a:prstGeom prst="roundRect">
            <a:avLst>
              <a:gd name="adj" fmla="val 209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61695" y="3461004"/>
            <a:ext cx="279806" cy="279806"/>
          </a:xfrm>
          <a:prstGeom prst="ellipse">
            <a:avLst/>
          </a:prstGeom>
          <a:solidFill>
            <a:srgbClr val="E6EAF3"/>
          </a:solidFill>
        </p:spPr>
      </p:sp>
      <p:sp>
        <p:nvSpPr>
          <p:cNvPr id="24" name="Text 20"/>
          <p:cNvSpPr/>
          <p:nvPr/>
        </p:nvSpPr>
        <p:spPr>
          <a:xfrm>
            <a:off x="761695" y="3517697"/>
            <a:ext cx="2798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1206094" y="3429000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issues / lessons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206094" y="3644798"/>
            <a:ext cx="19046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缺陷与学习信号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3276295" y="3600907"/>
            <a:ext cx="368503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09905" y="4038905"/>
            <a:ext cx="2667305" cy="545897"/>
          </a:xfrm>
          <a:prstGeom prst="roundRect">
            <a:avLst>
              <a:gd name="adj" fmla="val 20938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61695" y="4172407"/>
            <a:ext cx="279806" cy="279806"/>
          </a:xfrm>
          <a:prstGeom prst="ellipse">
            <a:avLst/>
          </a:prstGeom>
          <a:solidFill>
            <a:srgbClr val="E6EAF3"/>
          </a:solidFill>
        </p:spPr>
      </p:sp>
      <p:sp>
        <p:nvSpPr>
          <p:cNvPr id="30" name="Text 26"/>
          <p:cNvSpPr/>
          <p:nvPr/>
        </p:nvSpPr>
        <p:spPr>
          <a:xfrm>
            <a:off x="761695" y="4229100"/>
            <a:ext cx="2798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4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1206094" y="4140403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candidate proposal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206094" y="4356202"/>
            <a:ext cx="19046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脱敏后的结构化提案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3276295" y="4311396"/>
            <a:ext cx="368503" cy="0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3644798" y="2178101"/>
            <a:ext cx="0" cy="2133295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644798" y="3245206"/>
            <a:ext cx="291694" cy="0"/>
          </a:xfrm>
          <a:prstGeom prst="line">
            <a:avLst/>
          </a:prstGeom>
          <a:noFill/>
          <a:ln w="22860">
            <a:solidFill>
              <a:srgbClr val="07195A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4000500" y="2070202"/>
            <a:ext cx="2603297" cy="2603297"/>
          </a:xfrm>
          <a:prstGeom prst="diamond">
            <a:avLst/>
          </a:prstGeom>
          <a:solidFill>
            <a:srgbClr val="E6EAF3"/>
          </a:solidFill>
          <a:ln w="25400">
            <a:solidFill>
              <a:srgbClr val="07195A"/>
            </a:solidFill>
            <a:prstDash val="solid"/>
          </a:ln>
          <a:effectLst>
            <a:outerShdw blurRad="25400" dist="50800" dir="2700000" algn="bl" rotWithShape="0">
              <a:srgbClr val="B7B2A8">
                <a:alpha val="1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5086807" y="2387498"/>
            <a:ext cx="431597" cy="431597"/>
          </a:xfrm>
          <a:prstGeom prst="ellipse">
            <a:avLst/>
          </a:prstGeom>
          <a:solidFill>
            <a:srgbClr val="07195A"/>
          </a:solidFill>
        </p:spPr>
      </p:sp>
      <p:sp>
        <p:nvSpPr>
          <p:cNvPr id="38" name="Text 34"/>
          <p:cNvSpPr/>
          <p:nvPr/>
        </p:nvSpPr>
        <p:spPr>
          <a:xfrm>
            <a:off x="5086807" y="2476195"/>
            <a:ext cx="4315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?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4444898" y="3010205"/>
            <a:ext cx="17145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RISK ROUTER</a:t>
            </a:r>
            <a:endParaRPr lang="en-US" sz="1350" dirty="0"/>
          </a:p>
        </p:txBody>
      </p:sp>
      <p:sp>
        <p:nvSpPr>
          <p:cNvPr id="40" name="Text 36"/>
          <p:cNvSpPr/>
          <p:nvPr/>
        </p:nvSpPr>
        <p:spPr>
          <a:xfrm>
            <a:off x="4559198" y="3333902"/>
            <a:ext cx="1485900" cy="482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 ID？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近似重复？</a:t>
            </a:r>
            <a:endParaRPr lang="en-US" sz="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安全或规范冲突？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444898" y="3962095"/>
            <a:ext cx="17145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先分风险，再决定自动化边界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7556602" y="1904695"/>
            <a:ext cx="4026103" cy="825703"/>
          </a:xfrm>
          <a:prstGeom prst="roundRect">
            <a:avLst>
              <a:gd name="adj" fmla="val 13843"/>
            </a:avLst>
          </a:prstGeom>
          <a:solidFill>
            <a:srgbClr val="FFFFFF"/>
          </a:solidFill>
          <a:ln w="1397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7733995" y="2057400"/>
            <a:ext cx="75895" cy="520294"/>
          </a:xfrm>
          <a:prstGeom prst="roundRect">
            <a:avLst>
              <a:gd name="adj" fmla="val 50603"/>
            </a:avLst>
          </a:prstGeom>
          <a:solidFill>
            <a:srgbClr val="07195A"/>
          </a:solidFill>
        </p:spPr>
      </p:sp>
      <p:sp>
        <p:nvSpPr>
          <p:cNvPr id="44" name="Text 40"/>
          <p:cNvSpPr/>
          <p:nvPr/>
        </p:nvSpPr>
        <p:spPr>
          <a:xfrm>
            <a:off x="8013802" y="2031797"/>
            <a:ext cx="14602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AUTO-INTAKE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9525305" y="2031797"/>
            <a:ext cx="8001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低风险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8013802" y="2311603"/>
            <a:ext cx="15873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独立新增 + 规范通过</a:t>
            </a:r>
            <a:endParaRPr lang="en-US" sz="650" dirty="0"/>
          </a:p>
        </p:txBody>
      </p:sp>
      <p:sp>
        <p:nvSpPr>
          <p:cNvPr id="47" name="Text 43"/>
          <p:cNvSpPr/>
          <p:nvPr/>
        </p:nvSpPr>
        <p:spPr>
          <a:xfrm>
            <a:off x="9715500" y="2253996"/>
            <a:ext cx="16130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自动进入候选区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7556602" y="3047695"/>
            <a:ext cx="4026103" cy="825703"/>
          </a:xfrm>
          <a:prstGeom prst="roundRect">
            <a:avLst>
              <a:gd name="adj" fmla="val 13843"/>
            </a:avLst>
          </a:prstGeom>
          <a:solidFill>
            <a:srgbClr val="FFFFFF"/>
          </a:solidFill>
          <a:ln w="1397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7733995" y="3200400"/>
            <a:ext cx="75895" cy="520294"/>
          </a:xfrm>
          <a:prstGeom prst="roundRect">
            <a:avLst>
              <a:gd name="adj" fmla="val 50603"/>
            </a:avLst>
          </a:prstGeom>
          <a:solidFill>
            <a:srgbClr val="1F6289"/>
          </a:solidFill>
        </p:spPr>
      </p:sp>
      <p:sp>
        <p:nvSpPr>
          <p:cNvPr id="50" name="Text 46"/>
          <p:cNvSpPr/>
          <p:nvPr/>
        </p:nvSpPr>
        <p:spPr>
          <a:xfrm>
            <a:off x="8013802" y="3174797"/>
            <a:ext cx="14602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CURATOR-REVIEW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9525305" y="3174797"/>
            <a:ext cx="8001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中风险</a:t>
            </a:r>
            <a:endParaRPr lang="en-US" sz="650" dirty="0"/>
          </a:p>
        </p:txBody>
      </p:sp>
      <p:sp>
        <p:nvSpPr>
          <p:cNvPr id="52" name="Text 48"/>
          <p:cNvSpPr/>
          <p:nvPr/>
        </p:nvSpPr>
        <p:spPr>
          <a:xfrm>
            <a:off x="8013802" y="3454603"/>
            <a:ext cx="15873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近似 / 命名 / 复用层级</a:t>
            </a:r>
            <a:endParaRPr lang="en-US" sz="650" dirty="0"/>
          </a:p>
        </p:txBody>
      </p:sp>
      <p:sp>
        <p:nvSpPr>
          <p:cNvPr id="53" name="Text 49"/>
          <p:cNvSpPr/>
          <p:nvPr/>
        </p:nvSpPr>
        <p:spPr>
          <a:xfrm>
            <a:off x="9715500" y="3396996"/>
            <a:ext cx="16130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 Curator 判断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7556602" y="4190695"/>
            <a:ext cx="4026103" cy="825703"/>
          </a:xfrm>
          <a:prstGeom prst="roundRect">
            <a:avLst>
              <a:gd name="adj" fmla="val 13843"/>
            </a:avLst>
          </a:prstGeom>
          <a:solidFill>
            <a:srgbClr val="FBECEB"/>
          </a:solidFill>
          <a:ln w="2286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7733995" y="4343400"/>
            <a:ext cx="75895" cy="520294"/>
          </a:xfrm>
          <a:prstGeom prst="roundRect">
            <a:avLst>
              <a:gd name="adj" fmla="val 50603"/>
            </a:avLst>
          </a:prstGeom>
          <a:solidFill>
            <a:srgbClr val="C51516"/>
          </a:solidFill>
        </p:spPr>
      </p:sp>
      <p:sp>
        <p:nvSpPr>
          <p:cNvPr id="56" name="Text 52"/>
          <p:cNvSpPr/>
          <p:nvPr/>
        </p:nvSpPr>
        <p:spPr>
          <a:xfrm>
            <a:off x="8013802" y="4317797"/>
            <a:ext cx="14602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BLOCKED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9525305" y="4317797"/>
            <a:ext cx="8001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高风险</a:t>
            </a:r>
            <a:endParaRPr lang="en-US" sz="650" dirty="0"/>
          </a:p>
        </p:txBody>
      </p:sp>
      <p:sp>
        <p:nvSpPr>
          <p:cNvPr id="58" name="Text 54"/>
          <p:cNvSpPr/>
          <p:nvPr/>
        </p:nvSpPr>
        <p:spPr>
          <a:xfrm>
            <a:off x="8013802" y="4597603"/>
            <a:ext cx="15873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 ID / 安全 / 规范冲突</a:t>
            </a:r>
            <a:endParaRPr lang="en-US" sz="650" dirty="0"/>
          </a:p>
        </p:txBody>
      </p:sp>
      <p:sp>
        <p:nvSpPr>
          <p:cNvPr id="59" name="Text 55"/>
          <p:cNvSpPr/>
          <p:nvPr/>
        </p:nvSpPr>
        <p:spPr>
          <a:xfrm>
            <a:off x="9715500" y="4539996"/>
            <a:ext cx="16130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建分支前阻断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6603797" y="3372307"/>
            <a:ext cx="431597" cy="0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7035394" y="2318004"/>
            <a:ext cx="0" cy="2286000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035394" y="2318004"/>
            <a:ext cx="418795" cy="0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7035394" y="3461004"/>
            <a:ext cx="418795" cy="0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64" name="Shape 60"/>
          <p:cNvSpPr/>
          <p:nvPr/>
        </p:nvSpPr>
        <p:spPr>
          <a:xfrm>
            <a:off x="7035394" y="4604004"/>
            <a:ext cx="418795" cy="0"/>
          </a:xfrm>
          <a:prstGeom prst="line">
            <a:avLst/>
          </a:prstGeom>
          <a:noFill/>
          <a:ln w="2413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65" name="Shape 61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66" name="Text 62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BOUNDARY NOTE</a:t>
            </a:r>
            <a:endParaRPr lang="en-US" sz="650" dirty="0"/>
          </a:p>
        </p:txBody>
      </p:sp>
      <p:sp>
        <p:nvSpPr>
          <p:cNvPr id="67" name="Text 63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候选区 ≠ 正式 Skill：任何路线都不能绕过后续的正式晋升确认</a:t>
            </a:r>
            <a:endParaRPr lang="en-US" sz="900" dirty="0"/>
          </a:p>
        </p:txBody>
      </p:sp>
      <p:sp>
        <p:nvSpPr>
          <p:cNvPr id="68" name="Shape 64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第四步：Draft PR 把候选变成可审计申请单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自动化准备分支、提交和检查证据；PR #2 已合并为 beta.9，但价值判断仍属于人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561795"/>
            <a:ext cx="2857500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 状态轨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127602" y="1561795"/>
            <a:ext cx="74551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HISTORICAL PR #2 EVIDENCE · 2026-07-20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851306" y="2108606"/>
            <a:ext cx="0" cy="2603297"/>
          </a:xfrm>
          <a:prstGeom prst="line">
            <a:avLst/>
          </a:prstGeom>
          <a:noFill/>
          <a:ln w="63500">
            <a:solidFill>
              <a:srgbClr val="D9D5C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34594" y="1968703"/>
            <a:ext cx="431597" cy="431597"/>
          </a:xfrm>
          <a:prstGeom prst="roundRect">
            <a:avLst>
              <a:gd name="adj" fmla="val 2351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34594" y="2102206"/>
            <a:ext cx="4315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397203" y="1968703"/>
            <a:ext cx="20702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自动分支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397203" y="2247595"/>
            <a:ext cx="2070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agent/leander-team-sharing-v2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34594" y="2603297"/>
            <a:ext cx="431597" cy="431597"/>
          </a:xfrm>
          <a:prstGeom prst="roundRect">
            <a:avLst>
              <a:gd name="adj" fmla="val 2351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34594" y="2736799"/>
            <a:ext cx="4315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397203" y="2603297"/>
            <a:ext cx="20702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Draft PR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397203" y="2883103"/>
            <a:ext cx="2070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先汇总证据，不自动晋升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4594" y="3238805"/>
            <a:ext cx="431597" cy="431597"/>
          </a:xfrm>
          <a:prstGeom prst="roundRect">
            <a:avLst>
              <a:gd name="adj" fmla="val 2351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34594" y="3372307"/>
            <a:ext cx="4315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397203" y="3238805"/>
            <a:ext cx="20702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检查通过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397203" y="3517697"/>
            <a:ext cx="2070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 11 / 11 · 安全 5 / 5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34594" y="3873398"/>
            <a:ext cx="431597" cy="431597"/>
          </a:xfrm>
          <a:prstGeom prst="roundRect">
            <a:avLst>
              <a:gd name="adj" fmla="val 23517"/>
            </a:avLst>
          </a:prstGeom>
          <a:solidFill>
            <a:srgbClr val="FBECEB"/>
          </a:solidFill>
          <a:ln w="2286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34594" y="4006901"/>
            <a:ext cx="4315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397203" y="3873398"/>
            <a:ext cx="20702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人工合并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397203" y="4153205"/>
            <a:ext cx="2070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 #2 → main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34594" y="4508906"/>
            <a:ext cx="431597" cy="431597"/>
          </a:xfrm>
          <a:prstGeom prst="roundRect">
            <a:avLst>
              <a:gd name="adj" fmla="val 2351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34594" y="4641494"/>
            <a:ext cx="431597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397203" y="4508906"/>
            <a:ext cx="20702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版本发布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397203" y="4787798"/>
            <a:ext cx="20702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leander-ppt-v0.6.0-beta.9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127602" y="1815998"/>
            <a:ext cx="7455103" cy="3327502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4432097" y="2031797"/>
            <a:ext cx="4826203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2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AUDIT EVIDENCE BOARD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207094" y="2031797"/>
            <a:ext cx="2070202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PR #2 · beta.9 · HISTORICAL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4432097" y="2349094"/>
            <a:ext cx="6845198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432097" y="2501798"/>
            <a:ext cx="6845198" cy="355702"/>
          </a:xfrm>
          <a:prstGeom prst="roundRect">
            <a:avLst>
              <a:gd name="adj" fmla="val 21337"/>
            </a:avLst>
          </a:prstGeom>
          <a:solidFill>
            <a:srgbClr val="E6EAF3"/>
          </a:solidFill>
        </p:spPr>
      </p:sp>
      <p:sp>
        <p:nvSpPr>
          <p:cNvPr id="35" name="Text 31"/>
          <p:cNvSpPr/>
          <p:nvPr/>
        </p:nvSpPr>
        <p:spPr>
          <a:xfrm>
            <a:off x="4597603" y="2596896"/>
            <a:ext cx="14602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merge commit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6223406" y="2577694"/>
            <a:ext cx="4826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b92a66a · Merge pull request #2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432097" y="2958998"/>
            <a:ext cx="6845198" cy="355702"/>
          </a:xfrm>
          <a:prstGeom prst="roundRect">
            <a:avLst>
              <a:gd name="adj" fmla="val 21337"/>
            </a:avLst>
          </a:prstGeom>
          <a:solidFill>
            <a:srgbClr val="E6EAF3"/>
          </a:solidFill>
        </p:spPr>
      </p:sp>
      <p:sp>
        <p:nvSpPr>
          <p:cNvPr id="38" name="Text 34"/>
          <p:cNvSpPr/>
          <p:nvPr/>
        </p:nvSpPr>
        <p:spPr>
          <a:xfrm>
            <a:off x="4597603" y="3054096"/>
            <a:ext cx="14602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release tag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6223406" y="3034894"/>
            <a:ext cx="4826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leander-ppt-v0.6.0-beta.9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432097" y="3416198"/>
            <a:ext cx="6845198" cy="355702"/>
          </a:xfrm>
          <a:prstGeom prst="roundRect">
            <a:avLst>
              <a:gd name="adj" fmla="val 21337"/>
            </a:avLst>
          </a:prstGeom>
          <a:solidFill>
            <a:srgbClr val="E6EAF3"/>
          </a:solidFill>
        </p:spPr>
      </p:sp>
      <p:sp>
        <p:nvSpPr>
          <p:cNvPr id="41" name="Text 37"/>
          <p:cNvSpPr/>
          <p:nvPr/>
        </p:nvSpPr>
        <p:spPr>
          <a:xfrm>
            <a:off x="4597603" y="3511296"/>
            <a:ext cx="1460297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branch sync</a:t>
            </a:r>
            <a:endParaRPr lang="en-US" sz="650" dirty="0"/>
          </a:p>
        </p:txBody>
      </p:sp>
      <p:sp>
        <p:nvSpPr>
          <p:cNvPr id="42" name="Text 38"/>
          <p:cNvSpPr/>
          <p:nvPr/>
        </p:nvSpPr>
        <p:spPr>
          <a:xfrm>
            <a:off x="6223406" y="3492094"/>
            <a:ext cx="4826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main = origin/main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432097" y="4000500"/>
            <a:ext cx="2070202" cy="800100"/>
          </a:xfrm>
          <a:prstGeom prst="roundRect">
            <a:avLst>
              <a:gd name="adj" fmla="val 1268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584802" y="4153205"/>
            <a:ext cx="63094" cy="495605"/>
          </a:xfrm>
          <a:prstGeom prst="roundRect">
            <a:avLst>
              <a:gd name="adj" fmla="val 50724"/>
            </a:avLst>
          </a:prstGeom>
          <a:solidFill>
            <a:srgbClr val="07195A"/>
          </a:solidFill>
        </p:spPr>
      </p:sp>
      <p:sp>
        <p:nvSpPr>
          <p:cNvPr id="45" name="Text 41"/>
          <p:cNvSpPr/>
          <p:nvPr/>
        </p:nvSpPr>
        <p:spPr>
          <a:xfrm>
            <a:off x="4774997" y="4127602"/>
            <a:ext cx="1561795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11 / 11</a:t>
            </a:r>
            <a:endParaRPr lang="en-US" sz="1050" dirty="0"/>
          </a:p>
        </p:txBody>
      </p:sp>
      <p:sp>
        <p:nvSpPr>
          <p:cNvPr id="46" name="Text 42"/>
          <p:cNvSpPr/>
          <p:nvPr/>
        </p:nvSpPr>
        <p:spPr>
          <a:xfrm>
            <a:off x="4774997" y="4438498"/>
            <a:ext cx="156179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候选包、风险分流、版本通过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6718097" y="4000500"/>
            <a:ext cx="2070202" cy="800100"/>
          </a:xfrm>
          <a:prstGeom prst="roundRect">
            <a:avLst>
              <a:gd name="adj" fmla="val 1268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6870802" y="4153205"/>
            <a:ext cx="63094" cy="495605"/>
          </a:xfrm>
          <a:prstGeom prst="roundRect">
            <a:avLst>
              <a:gd name="adj" fmla="val 50724"/>
            </a:avLst>
          </a:prstGeom>
          <a:solidFill>
            <a:srgbClr val="07195A"/>
          </a:solidFill>
        </p:spPr>
      </p:sp>
      <p:sp>
        <p:nvSpPr>
          <p:cNvPr id="49" name="Text 45"/>
          <p:cNvSpPr/>
          <p:nvPr/>
        </p:nvSpPr>
        <p:spPr>
          <a:xfrm>
            <a:off x="7060997" y="4127602"/>
            <a:ext cx="1561795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5 / 5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7060997" y="4438498"/>
            <a:ext cx="156179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分支、范围、独立证据与批次安全</a:t>
            </a:r>
            <a:endParaRPr lang="en-US" sz="650" dirty="0"/>
          </a:p>
        </p:txBody>
      </p:sp>
      <p:sp>
        <p:nvSpPr>
          <p:cNvPr id="51" name="Shape 47"/>
          <p:cNvSpPr/>
          <p:nvPr/>
        </p:nvSpPr>
        <p:spPr>
          <a:xfrm>
            <a:off x="9004097" y="4000500"/>
            <a:ext cx="2070202" cy="800100"/>
          </a:xfrm>
          <a:prstGeom prst="roundRect">
            <a:avLst>
              <a:gd name="adj" fmla="val 1268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2" name="Shape 48"/>
          <p:cNvSpPr/>
          <p:nvPr/>
        </p:nvSpPr>
        <p:spPr>
          <a:xfrm>
            <a:off x="9156802" y="4153205"/>
            <a:ext cx="63094" cy="495605"/>
          </a:xfrm>
          <a:prstGeom prst="roundRect">
            <a:avLst>
              <a:gd name="adj" fmla="val 50724"/>
            </a:avLst>
          </a:prstGeom>
          <a:solidFill>
            <a:srgbClr val="2E7D32"/>
          </a:solidFill>
        </p:spPr>
      </p:sp>
      <p:sp>
        <p:nvSpPr>
          <p:cNvPr id="53" name="Text 49"/>
          <p:cNvSpPr/>
          <p:nvPr/>
        </p:nvSpPr>
        <p:spPr>
          <a:xfrm>
            <a:off x="9346997" y="4127602"/>
            <a:ext cx="1561795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SELF-TEST PASS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9346997" y="4438498"/>
            <a:ext cx="156179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candidate-harvest self-test</a:t>
            </a:r>
            <a:endParaRPr lang="en-US" sz="650" dirty="0"/>
          </a:p>
        </p:txBody>
      </p:sp>
      <p:sp>
        <p:nvSpPr>
          <p:cNvPr id="55" name="Shape 51"/>
          <p:cNvSpPr/>
          <p:nvPr/>
        </p:nvSpPr>
        <p:spPr>
          <a:xfrm flipH="1">
            <a:off x="3568903" y="4089197"/>
            <a:ext cx="558698" cy="0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56" name="Text 52"/>
          <p:cNvSpPr/>
          <p:nvPr/>
        </p:nvSpPr>
        <p:spPr>
          <a:xfrm>
            <a:off x="3594506" y="3860597"/>
            <a:ext cx="5084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证据就绪</a:t>
            </a:r>
            <a:endParaRPr lang="en-US" sz="650" dirty="0"/>
          </a:p>
        </p:txBody>
      </p:sp>
      <p:sp>
        <p:nvSpPr>
          <p:cNvPr id="57" name="Shape 53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8" name="Text 54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HUMAN DECISION BOUNDARY</a:t>
            </a:r>
            <a:endParaRPr lang="en-US" sz="650" dirty="0"/>
          </a:p>
        </p:txBody>
      </p:sp>
      <p:sp>
        <p:nvSpPr>
          <p:cNvPr id="59" name="Text 55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自动化把证据摆齐；是否进入正式源，仍由一次人工合并决定。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真实飞书消息证明：待审批在前，合并结果在后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通知覆盖人工动作前后，但审批权和审计证据必须留在 GitHub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511503"/>
            <a:ext cx="5956402" cy="3974897"/>
          </a:xfrm>
          <a:prstGeom prst="roundRect">
            <a:avLst>
              <a:gd name="adj" fmla="val 3520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</p:spPr>
      </p:sp>
      <p:pic>
        <p:nvPicPr>
          <p:cNvPr id="8" name="Image 1" descr="C:\西井\01项目\09-harness工程\team-skill-sharing-mechanism-ppt\source\screenshots\original-thread\feishu-approval-and-merged-crop-red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1613002"/>
            <a:ext cx="5753405" cy="37719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11403" y="1613002"/>
            <a:ext cx="5753405" cy="3771900"/>
          </a:xfrm>
          <a:prstGeom prst="rect">
            <a:avLst/>
          </a:prstGeom>
          <a:ln w="12700">
            <a:solidFill>
              <a:srgbClr val="D9D5C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38505" y="1714500"/>
            <a:ext cx="1613002" cy="228600"/>
          </a:xfrm>
          <a:prstGeom prst="roundRect">
            <a:avLst>
              <a:gd name="adj" fmla="val 50000"/>
            </a:avLst>
          </a:prstGeom>
          <a:solidFill>
            <a:srgbClr val="E9EEF7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38505" y="1765706"/>
            <a:ext cx="1613002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真实飞书截图 · 已脱敏</a:t>
            </a:r>
            <a:endParaRPr lang="en-US" sz="600" dirty="0"/>
          </a:p>
        </p:txBody>
      </p:sp>
      <p:sp>
        <p:nvSpPr>
          <p:cNvPr id="12" name="Shape 7"/>
          <p:cNvSpPr/>
          <p:nvPr/>
        </p:nvSpPr>
        <p:spPr>
          <a:xfrm>
            <a:off x="6096305" y="2018995"/>
            <a:ext cx="254203" cy="254203"/>
          </a:xfrm>
          <a:prstGeom prst="roundRect">
            <a:avLst>
              <a:gd name="adj" fmla="val 50000"/>
            </a:avLst>
          </a:prstGeom>
          <a:solidFill>
            <a:srgbClr val="C51516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096305" y="2057400"/>
            <a:ext cx="254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</a:t>
            </a:r>
            <a:endParaRPr lang="en-US" sz="650" dirty="0"/>
          </a:p>
        </p:txBody>
      </p:sp>
      <p:sp>
        <p:nvSpPr>
          <p:cNvPr id="14" name="Shape 9"/>
          <p:cNvSpPr/>
          <p:nvPr/>
        </p:nvSpPr>
        <p:spPr>
          <a:xfrm>
            <a:off x="6096305" y="3987698"/>
            <a:ext cx="254203" cy="254203"/>
          </a:xfrm>
          <a:prstGeom prst="roundRect">
            <a:avLst>
              <a:gd name="adj" fmla="val 50000"/>
            </a:avLst>
          </a:prstGeom>
          <a:solidFill>
            <a:srgbClr val="C51516"/>
          </a:solidFill>
          <a:ln w="254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096305" y="4026103"/>
            <a:ext cx="254203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</a:t>
            </a:r>
            <a:endParaRPr lang="en-US" sz="650" dirty="0"/>
          </a:p>
        </p:txBody>
      </p:sp>
      <p:sp>
        <p:nvSpPr>
          <p:cNvPr id="16" name="Text 11"/>
          <p:cNvSpPr/>
          <p:nvPr/>
        </p:nvSpPr>
        <p:spPr>
          <a:xfrm>
            <a:off x="6870802" y="1511503"/>
            <a:ext cx="4711903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NOTIFICATION SEQUENCE · REAL MESSAGE EVIDENCE</a:t>
            </a:r>
            <a:endParaRPr lang="en-US" sz="650" dirty="0"/>
          </a:p>
        </p:txBody>
      </p:sp>
      <p:sp>
        <p:nvSpPr>
          <p:cNvPr id="17" name="Shape 12"/>
          <p:cNvSpPr/>
          <p:nvPr/>
        </p:nvSpPr>
        <p:spPr>
          <a:xfrm>
            <a:off x="7060997" y="1917497"/>
            <a:ext cx="0" cy="2908706"/>
          </a:xfrm>
          <a:prstGeom prst="line">
            <a:avLst/>
          </a:prstGeom>
          <a:noFill/>
          <a:ln w="25400">
            <a:solidFill>
              <a:srgbClr val="D9D5C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909206" y="2006194"/>
            <a:ext cx="304495" cy="304495"/>
          </a:xfrm>
          <a:prstGeom prst="roundRect">
            <a:avLst>
              <a:gd name="adj" fmla="val 50150"/>
            </a:avLst>
          </a:prstGeom>
          <a:solidFill>
            <a:srgbClr val="0719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909206" y="2089404"/>
            <a:ext cx="3044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01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7366406" y="1815998"/>
            <a:ext cx="4216298" cy="748894"/>
          </a:xfrm>
          <a:prstGeom prst="roundRect">
            <a:avLst>
              <a:gd name="adj" fmla="val 1526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582205" y="1955902"/>
            <a:ext cx="3746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Checks 通过后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582205" y="2184502"/>
            <a:ext cx="3746297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飞书先发“待人工审批”，附查看 PR / 检查与进入审核入口。</a:t>
            </a:r>
            <a:endParaRPr lang="en-US" sz="650" dirty="0"/>
          </a:p>
        </p:txBody>
      </p:sp>
      <p:sp>
        <p:nvSpPr>
          <p:cNvPr id="23" name="Shape 18"/>
          <p:cNvSpPr/>
          <p:nvPr/>
        </p:nvSpPr>
        <p:spPr>
          <a:xfrm>
            <a:off x="6909206" y="3034894"/>
            <a:ext cx="304495" cy="304495"/>
          </a:xfrm>
          <a:prstGeom prst="roundRect">
            <a:avLst>
              <a:gd name="adj" fmla="val 50150"/>
            </a:avLst>
          </a:prstGeom>
          <a:solidFill>
            <a:srgbClr val="C5151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909206" y="3118104"/>
            <a:ext cx="3044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02</a:t>
            </a:r>
            <a:endParaRPr lang="en-US" sz="600" dirty="0"/>
          </a:p>
        </p:txBody>
      </p:sp>
      <p:sp>
        <p:nvSpPr>
          <p:cNvPr id="25" name="Shape 20"/>
          <p:cNvSpPr/>
          <p:nvPr/>
        </p:nvSpPr>
        <p:spPr>
          <a:xfrm>
            <a:off x="7366406" y="2844698"/>
            <a:ext cx="4216298" cy="748894"/>
          </a:xfrm>
          <a:prstGeom prst="roundRect">
            <a:avLst>
              <a:gd name="adj" fmla="val 18681"/>
            </a:avLst>
          </a:prstGeom>
          <a:solidFill>
            <a:srgbClr val="FBECEB"/>
          </a:solidFill>
          <a:ln w="27940">
            <a:solidFill>
              <a:srgbClr val="C5151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82205" y="2984602"/>
            <a:ext cx="3746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人工进入 GitHub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582205" y="3213202"/>
            <a:ext cx="3746297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 Files changed、Checks 与风险，再决定合并、退回或关闭。</a:t>
            </a:r>
            <a:endParaRPr lang="en-US" sz="650" dirty="0"/>
          </a:p>
        </p:txBody>
      </p:sp>
      <p:sp>
        <p:nvSpPr>
          <p:cNvPr id="29" name="Shape 24"/>
          <p:cNvSpPr/>
          <p:nvPr/>
        </p:nvSpPr>
        <p:spPr>
          <a:xfrm>
            <a:off x="6909206" y="4063594"/>
            <a:ext cx="304495" cy="304495"/>
          </a:xfrm>
          <a:prstGeom prst="roundRect">
            <a:avLst>
              <a:gd name="adj" fmla="val 50150"/>
            </a:avLst>
          </a:prstGeom>
          <a:solidFill>
            <a:srgbClr val="0719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909206" y="4146804"/>
            <a:ext cx="30449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03</a:t>
            </a:r>
            <a:endParaRPr lang="en-US" sz="600" dirty="0"/>
          </a:p>
        </p:txBody>
      </p:sp>
      <p:sp>
        <p:nvSpPr>
          <p:cNvPr id="31" name="Shape 26"/>
          <p:cNvSpPr/>
          <p:nvPr/>
        </p:nvSpPr>
        <p:spPr>
          <a:xfrm>
            <a:off x="7366406" y="3873398"/>
            <a:ext cx="4216298" cy="748894"/>
          </a:xfrm>
          <a:prstGeom prst="roundRect">
            <a:avLst>
              <a:gd name="adj" fmla="val 1526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582205" y="4013302"/>
            <a:ext cx="3746297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人工动作完成后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7582205" y="4241902"/>
            <a:ext cx="3746297" cy="267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5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飞书再发“已合并”结果；后续版本与 Release 流程继续执行。</a:t>
            </a:r>
            <a:endParaRPr lang="en-US" sz="650" dirty="0"/>
          </a:p>
        </p:txBody>
      </p:sp>
      <p:sp>
        <p:nvSpPr>
          <p:cNvPr id="34" name="Text 29"/>
          <p:cNvSpPr/>
          <p:nvPr/>
        </p:nvSpPr>
        <p:spPr>
          <a:xfrm>
            <a:off x="6870802" y="4966106"/>
            <a:ext cx="4711903" cy="3557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证据边界：真实消息证明通知顺序；界面中的按钮只负责跳转，不代表飞书拥有合并权限。</a:t>
            </a:r>
            <a:endParaRPr lang="en-US" sz="600" dirty="0"/>
          </a:p>
        </p:txBody>
      </p:sp>
      <p:sp>
        <p:nvSpPr>
          <p:cNvPr id="35" name="Shape 30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第五步：正式晋升只保留一次高价值人工确认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把证据准备齐；Curator 只回答批准、退回还是暂缓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561795"/>
            <a:ext cx="3047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AGENT-PREPARED PACKAGE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4190695" y="1561795"/>
            <a:ext cx="4190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00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ONE HUMAN DECISION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8889797" y="1561795"/>
            <a:ext cx="2691994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0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DECISION RECEIPT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609905" y="1904695"/>
            <a:ext cx="3047695" cy="3174797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38505" y="2108606"/>
            <a:ext cx="2590495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完整证据包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38505" y="2355494"/>
            <a:ext cx="2590495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 负责准备，不替人做价值判断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838505" y="2691994"/>
            <a:ext cx="2590495" cy="394106"/>
          </a:xfrm>
          <a:prstGeom prst="roundRect">
            <a:avLst>
              <a:gd name="adj" fmla="val 22506"/>
            </a:avLst>
          </a:prstGeom>
          <a:solidFill>
            <a:srgbClr val="E6EAF3"/>
          </a:solidFill>
        </p:spPr>
      </p:sp>
      <p:sp>
        <p:nvSpPr>
          <p:cNvPr id="14" name="Shape 10"/>
          <p:cNvSpPr/>
          <p:nvPr/>
        </p:nvSpPr>
        <p:spPr>
          <a:xfrm>
            <a:off x="965606" y="2775204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5606" y="2819095"/>
            <a:ext cx="2286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1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1345997" y="2800807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近似组件对比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38505" y="3213202"/>
            <a:ext cx="2590495" cy="394106"/>
          </a:xfrm>
          <a:prstGeom prst="roundRect">
            <a:avLst>
              <a:gd name="adj" fmla="val 22506"/>
            </a:avLst>
          </a:prstGeom>
          <a:solidFill>
            <a:srgbClr val="E6EAF3"/>
          </a:solidFill>
        </p:spPr>
      </p:sp>
      <p:sp>
        <p:nvSpPr>
          <p:cNvPr id="18" name="Shape 14"/>
          <p:cNvSpPr/>
          <p:nvPr/>
        </p:nvSpPr>
        <p:spPr>
          <a:xfrm>
            <a:off x="965606" y="3295498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65606" y="3340303"/>
            <a:ext cx="2286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2</a:t>
            </a:r>
            <a:endParaRPr lang="en-US" sz="650" dirty="0"/>
          </a:p>
        </p:txBody>
      </p:sp>
      <p:sp>
        <p:nvSpPr>
          <p:cNvPr id="20" name="Text 16"/>
          <p:cNvSpPr/>
          <p:nvPr/>
        </p:nvSpPr>
        <p:spPr>
          <a:xfrm>
            <a:off x="1345997" y="3321101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双主题渲染预览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38505" y="3733495"/>
            <a:ext cx="2590495" cy="394106"/>
          </a:xfrm>
          <a:prstGeom prst="roundRect">
            <a:avLst>
              <a:gd name="adj" fmla="val 22506"/>
            </a:avLst>
          </a:prstGeom>
          <a:solidFill>
            <a:srgbClr val="E6EAF3"/>
          </a:solidFill>
        </p:spPr>
      </p:sp>
      <p:sp>
        <p:nvSpPr>
          <p:cNvPr id="22" name="Shape 18"/>
          <p:cNvSpPr/>
          <p:nvPr/>
        </p:nvSpPr>
        <p:spPr>
          <a:xfrm>
            <a:off x="965606" y="3816706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65606" y="3860597"/>
            <a:ext cx="2286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3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1345997" y="3841394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注册表变更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38505" y="4254703"/>
            <a:ext cx="2590495" cy="394106"/>
          </a:xfrm>
          <a:prstGeom prst="roundRect">
            <a:avLst>
              <a:gd name="adj" fmla="val 22506"/>
            </a:avLst>
          </a:prstGeom>
          <a:solidFill>
            <a:srgbClr val="E6EAF3"/>
          </a:solidFill>
        </p:spPr>
      </p:sp>
      <p:sp>
        <p:nvSpPr>
          <p:cNvPr id="26" name="Shape 22"/>
          <p:cNvSpPr/>
          <p:nvPr/>
        </p:nvSpPr>
        <p:spPr>
          <a:xfrm>
            <a:off x="965606" y="4336999"/>
            <a:ext cx="228600" cy="228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65606" y="4381805"/>
            <a:ext cx="228600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4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1345997" y="4362602"/>
            <a:ext cx="1904695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版本与回归范围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57600" y="2253996"/>
            <a:ext cx="431597" cy="0"/>
          </a:xfrm>
          <a:prstGeom prst="line">
            <a:avLst/>
          </a:prstGeom>
          <a:noFill/>
          <a:ln w="2286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4190695" y="1904695"/>
            <a:ext cx="4190695" cy="685800"/>
          </a:xfrm>
          <a:prstGeom prst="roundRect">
            <a:avLst>
              <a:gd name="adj" fmla="val 20400"/>
            </a:avLst>
          </a:prstGeom>
          <a:solidFill>
            <a:srgbClr val="FBECEB"/>
          </a:solidFill>
          <a:ln w="25400">
            <a:solidFill>
              <a:srgbClr val="C51516"/>
            </a:solidFill>
            <a:prstDash val="solid"/>
          </a:ln>
          <a:effectLst>
            <a:outerShdw blurRad="25400" dist="25400" dir="2700000" algn="bl" rotWithShape="0">
              <a:srgbClr val="B7B2A8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381805" y="2031797"/>
            <a:ext cx="431597" cy="431597"/>
          </a:xfrm>
          <a:prstGeom prst="ellipse">
            <a:avLst/>
          </a:prstGeom>
          <a:solidFill>
            <a:srgbClr val="C51516"/>
          </a:solidFill>
        </p:spPr>
      </p:sp>
      <p:sp>
        <p:nvSpPr>
          <p:cNvPr id="32" name="Text 28"/>
          <p:cNvSpPr/>
          <p:nvPr/>
        </p:nvSpPr>
        <p:spPr>
          <a:xfrm>
            <a:off x="4381805" y="2120494"/>
            <a:ext cx="431597" cy="2029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016398" y="2057400"/>
            <a:ext cx="3098902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Curator · 唯一人工 Gate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5016398" y="2318004"/>
            <a:ext cx="3098902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这个候选值得进入正式自动选型吗？</a:t>
            </a:r>
            <a:endParaRPr lang="en-US" sz="650" dirty="0"/>
          </a:p>
        </p:txBody>
      </p:sp>
      <p:sp>
        <p:nvSpPr>
          <p:cNvPr id="35" name="Shape 31"/>
          <p:cNvSpPr/>
          <p:nvPr/>
        </p:nvSpPr>
        <p:spPr>
          <a:xfrm>
            <a:off x="6286500" y="2590495"/>
            <a:ext cx="0" cy="304495"/>
          </a:xfrm>
          <a:prstGeom prst="line">
            <a:avLst/>
          </a:prstGeom>
          <a:noFill/>
          <a:ln w="22860">
            <a:solidFill>
              <a:srgbClr val="C5151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94199" y="2895905"/>
            <a:ext cx="2870302" cy="0"/>
          </a:xfrm>
          <a:prstGeom prst="line">
            <a:avLst/>
          </a:prstGeom>
          <a:noFill/>
          <a:ln w="19050">
            <a:solidFill>
              <a:srgbClr val="D9D5C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794199" y="2895905"/>
            <a:ext cx="0" cy="165506"/>
          </a:xfrm>
          <a:prstGeom prst="line">
            <a:avLst/>
          </a:prstGeom>
          <a:noFill/>
          <a:ln w="1905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4190695" y="3124505"/>
            <a:ext cx="1206094" cy="952805"/>
          </a:xfrm>
          <a:prstGeom prst="roundRect">
            <a:avLst>
              <a:gd name="adj" fmla="val 1199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330598" y="3269894"/>
            <a:ext cx="63094" cy="660197"/>
          </a:xfrm>
          <a:prstGeom prst="roundRect">
            <a:avLst>
              <a:gd name="adj" fmla="val 50724"/>
            </a:avLst>
          </a:prstGeom>
          <a:solidFill>
            <a:srgbClr val="07195A"/>
          </a:solidFill>
        </p:spPr>
      </p:sp>
      <p:sp>
        <p:nvSpPr>
          <p:cNvPr id="40" name="Text 36"/>
          <p:cNvSpPr/>
          <p:nvPr/>
        </p:nvSpPr>
        <p:spPr>
          <a:xfrm>
            <a:off x="4496105" y="3289097"/>
            <a:ext cx="76169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批准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4496105" y="3619195"/>
            <a:ext cx="761695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进入正式注册表</a:t>
            </a:r>
            <a:endParaRPr lang="en-US" sz="650" dirty="0"/>
          </a:p>
        </p:txBody>
      </p:sp>
      <p:sp>
        <p:nvSpPr>
          <p:cNvPr id="42" name="Shape 38"/>
          <p:cNvSpPr/>
          <p:nvPr/>
        </p:nvSpPr>
        <p:spPr>
          <a:xfrm>
            <a:off x="4794199" y="4076395"/>
            <a:ext cx="0" cy="368503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229807" y="2895905"/>
            <a:ext cx="0" cy="165506"/>
          </a:xfrm>
          <a:prstGeom prst="line">
            <a:avLst/>
          </a:prstGeom>
          <a:noFill/>
          <a:ln w="1905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44" name="Shape 40"/>
          <p:cNvSpPr/>
          <p:nvPr/>
        </p:nvSpPr>
        <p:spPr>
          <a:xfrm>
            <a:off x="5626303" y="3124505"/>
            <a:ext cx="1206094" cy="952805"/>
          </a:xfrm>
          <a:prstGeom prst="roundRect">
            <a:avLst>
              <a:gd name="adj" fmla="val 1199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5766206" y="3269894"/>
            <a:ext cx="63094" cy="660197"/>
          </a:xfrm>
          <a:prstGeom prst="roundRect">
            <a:avLst>
              <a:gd name="adj" fmla="val 50724"/>
            </a:avLst>
          </a:prstGeom>
          <a:solidFill>
            <a:srgbClr val="1F6289"/>
          </a:solidFill>
        </p:spPr>
      </p:sp>
      <p:sp>
        <p:nvSpPr>
          <p:cNvPr id="46" name="Text 42"/>
          <p:cNvSpPr/>
          <p:nvPr/>
        </p:nvSpPr>
        <p:spPr>
          <a:xfrm>
            <a:off x="5930798" y="3289097"/>
            <a:ext cx="76169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退回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5930798" y="3619195"/>
            <a:ext cx="761695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补证据 / 改抽象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6229807" y="4076395"/>
            <a:ext cx="0" cy="368503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664501" y="2895905"/>
            <a:ext cx="0" cy="165506"/>
          </a:xfrm>
          <a:prstGeom prst="line">
            <a:avLst/>
          </a:prstGeom>
          <a:noFill/>
          <a:ln w="1905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50" name="Shape 46"/>
          <p:cNvSpPr/>
          <p:nvPr/>
        </p:nvSpPr>
        <p:spPr>
          <a:xfrm>
            <a:off x="7060997" y="3124505"/>
            <a:ext cx="1206094" cy="952805"/>
          </a:xfrm>
          <a:prstGeom prst="roundRect">
            <a:avLst>
              <a:gd name="adj" fmla="val 11996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7200900" y="3269894"/>
            <a:ext cx="63094" cy="660197"/>
          </a:xfrm>
          <a:prstGeom prst="roundRect">
            <a:avLst>
              <a:gd name="adj" fmla="val 50724"/>
            </a:avLst>
          </a:prstGeom>
          <a:solidFill>
            <a:srgbClr val="666666"/>
          </a:solidFill>
        </p:spPr>
      </p:sp>
      <p:sp>
        <p:nvSpPr>
          <p:cNvPr id="52" name="Text 48"/>
          <p:cNvSpPr/>
          <p:nvPr/>
        </p:nvSpPr>
        <p:spPr>
          <a:xfrm>
            <a:off x="7366406" y="3289097"/>
            <a:ext cx="76169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暂缓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7366406" y="3619195"/>
            <a:ext cx="761695" cy="2542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等待更多复用证据</a:t>
            </a:r>
            <a:endParaRPr lang="en-US" sz="650" dirty="0"/>
          </a:p>
        </p:txBody>
      </p:sp>
      <p:sp>
        <p:nvSpPr>
          <p:cNvPr id="54" name="Shape 50"/>
          <p:cNvSpPr/>
          <p:nvPr/>
        </p:nvSpPr>
        <p:spPr>
          <a:xfrm>
            <a:off x="7664501" y="4076395"/>
            <a:ext cx="0" cy="368503"/>
          </a:xfrm>
          <a:prstGeom prst="line">
            <a:avLst/>
          </a:prstGeom>
          <a:noFill/>
          <a:ln w="17780">
            <a:solidFill>
              <a:srgbClr val="D9D5C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794199" y="4444898"/>
            <a:ext cx="3892601" cy="0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686800" y="3492094"/>
            <a:ext cx="0" cy="952805"/>
          </a:xfrm>
          <a:prstGeom prst="line">
            <a:avLst/>
          </a:prstGeom>
          <a:noFill/>
          <a:ln w="20320">
            <a:solidFill>
              <a:srgbClr val="D9D5C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686800" y="3492094"/>
            <a:ext cx="101498" cy="0"/>
          </a:xfrm>
          <a:prstGeom prst="line">
            <a:avLst/>
          </a:prstGeom>
          <a:noFill/>
          <a:ln w="2286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8889797" y="1904695"/>
            <a:ext cx="2691994" cy="3174797"/>
          </a:xfrm>
          <a:prstGeom prst="roundRect">
            <a:avLst>
              <a:gd name="adj" fmla="val 5197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9" name="Text 55"/>
          <p:cNvSpPr/>
          <p:nvPr/>
        </p:nvSpPr>
        <p:spPr>
          <a:xfrm>
            <a:off x="9118397" y="2108606"/>
            <a:ext cx="22347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一次判断，留下可审计结果</a:t>
            </a:r>
            <a:endParaRPr lang="en-US" sz="1050" dirty="0"/>
          </a:p>
        </p:txBody>
      </p:sp>
      <p:sp>
        <p:nvSpPr>
          <p:cNvPr id="60" name="Text 56"/>
          <p:cNvSpPr/>
          <p:nvPr/>
        </p:nvSpPr>
        <p:spPr>
          <a:xfrm>
            <a:off x="9118397" y="2361895"/>
            <a:ext cx="22347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结果不靠口头传递</a:t>
            </a:r>
            <a:endParaRPr lang="en-US" sz="650" dirty="0"/>
          </a:p>
        </p:txBody>
      </p:sp>
      <p:sp>
        <p:nvSpPr>
          <p:cNvPr id="61" name="Shape 57"/>
          <p:cNvSpPr/>
          <p:nvPr/>
        </p:nvSpPr>
        <p:spPr>
          <a:xfrm>
            <a:off x="9118397" y="2743200"/>
            <a:ext cx="2234794" cy="495605"/>
          </a:xfrm>
          <a:prstGeom prst="roundRect">
            <a:avLst>
              <a:gd name="adj" fmla="val 1789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9283903" y="2838298"/>
            <a:ext cx="5715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批准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9905695" y="2851099"/>
            <a:ext cx="12829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注册表 + 版本发布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9283903" y="3054096"/>
            <a:ext cx="19046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decision receipt</a:t>
            </a:r>
            <a:endParaRPr lang="en-US" sz="650" dirty="0"/>
          </a:p>
        </p:txBody>
      </p:sp>
      <p:sp>
        <p:nvSpPr>
          <p:cNvPr id="65" name="Shape 61"/>
          <p:cNvSpPr/>
          <p:nvPr/>
        </p:nvSpPr>
        <p:spPr>
          <a:xfrm>
            <a:off x="9118397" y="3403397"/>
            <a:ext cx="2234794" cy="495605"/>
          </a:xfrm>
          <a:prstGeom prst="roundRect">
            <a:avLst>
              <a:gd name="adj" fmla="val 1789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9283903" y="3498494"/>
            <a:ext cx="5715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退回</a:t>
            </a:r>
            <a:endParaRPr lang="en-US" sz="900" dirty="0"/>
          </a:p>
        </p:txBody>
      </p:sp>
      <p:sp>
        <p:nvSpPr>
          <p:cNvPr id="67" name="Text 63"/>
          <p:cNvSpPr/>
          <p:nvPr/>
        </p:nvSpPr>
        <p:spPr>
          <a:xfrm>
            <a:off x="9905695" y="3511296"/>
            <a:ext cx="12829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回到候选并补证据</a:t>
            </a:r>
            <a:endParaRPr lang="en-US" sz="650" dirty="0"/>
          </a:p>
        </p:txBody>
      </p:sp>
      <p:sp>
        <p:nvSpPr>
          <p:cNvPr id="68" name="Text 64"/>
          <p:cNvSpPr/>
          <p:nvPr/>
        </p:nvSpPr>
        <p:spPr>
          <a:xfrm>
            <a:off x="9283903" y="3715207"/>
            <a:ext cx="19046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decision receipt</a:t>
            </a:r>
            <a:endParaRPr lang="en-US" sz="650" dirty="0"/>
          </a:p>
        </p:txBody>
      </p:sp>
      <p:sp>
        <p:nvSpPr>
          <p:cNvPr id="69" name="Shape 65"/>
          <p:cNvSpPr/>
          <p:nvPr/>
        </p:nvSpPr>
        <p:spPr>
          <a:xfrm>
            <a:off x="9118397" y="4063594"/>
            <a:ext cx="2234794" cy="495605"/>
          </a:xfrm>
          <a:prstGeom prst="roundRect">
            <a:avLst>
              <a:gd name="adj" fmla="val 17897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9283903" y="4159606"/>
            <a:ext cx="571500" cy="1773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暂缓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9905695" y="4172407"/>
            <a:ext cx="1282903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保留候选与原因</a:t>
            </a:r>
            <a:endParaRPr lang="en-US" sz="650" dirty="0"/>
          </a:p>
        </p:txBody>
      </p:sp>
      <p:sp>
        <p:nvSpPr>
          <p:cNvPr id="72" name="Text 68"/>
          <p:cNvSpPr/>
          <p:nvPr/>
        </p:nvSpPr>
        <p:spPr>
          <a:xfrm>
            <a:off x="9283903" y="4375404"/>
            <a:ext cx="1904695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65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decision receipt</a:t>
            </a:r>
            <a:endParaRPr lang="en-US" sz="650" dirty="0"/>
          </a:p>
        </p:txBody>
      </p:sp>
      <p:sp>
        <p:nvSpPr>
          <p:cNvPr id="73" name="Shape 69"/>
          <p:cNvSpPr/>
          <p:nvPr/>
        </p:nvSpPr>
        <p:spPr>
          <a:xfrm>
            <a:off x="609905" y="5397703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74" name="Text 70"/>
          <p:cNvSpPr/>
          <p:nvPr/>
        </p:nvSpPr>
        <p:spPr>
          <a:xfrm>
            <a:off x="761695" y="5473598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DECISION BOUNDARY</a:t>
            </a:r>
            <a:endParaRPr lang="en-US" sz="650" dirty="0"/>
          </a:p>
        </p:txBody>
      </p:sp>
      <p:sp>
        <p:nvSpPr>
          <p:cNvPr id="75" name="Text 71"/>
          <p:cNvSpPr/>
          <p:nvPr/>
        </p:nvSpPr>
        <p:spPr>
          <a:xfrm>
            <a:off x="787298" y="5651906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核心规则例外：SKILL / Gate / Agent / Theme 仍转交 Owner / RFC，不由一次 Curator 决策覆盖。</a:t>
            </a:r>
            <a:endParaRPr lang="en-US" sz="900" dirty="0"/>
          </a:p>
        </p:txBody>
      </p:sp>
      <p:sp>
        <p:nvSpPr>
          <p:cNvPr id="76" name="Shape 72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人工在 PR 中看变更和审核，不在飞书里直接合并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 要同时给出 Conversation / Files changed、审核状态与人工决定位置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905" y="1511503"/>
            <a:ext cx="5130698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REAL PR CONVERSATION · AVAILABLE</a:t>
            </a:r>
            <a:endParaRPr lang="en-US" sz="650" dirty="0"/>
          </a:p>
        </p:txBody>
      </p:sp>
      <p:sp>
        <p:nvSpPr>
          <p:cNvPr id="8" name="Shape 4"/>
          <p:cNvSpPr/>
          <p:nvPr/>
        </p:nvSpPr>
        <p:spPr>
          <a:xfrm>
            <a:off x="609905" y="1790395"/>
            <a:ext cx="5130698" cy="3174797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</p:spPr>
      </p:sp>
      <p:pic>
        <p:nvPicPr>
          <p:cNvPr id="9" name="Image 1" descr="C:\西井\01项目\09-harness工程\team-skill-sharing-mechanism-ppt\source\screenshots\original-thread\github-pr-mer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1904695"/>
            <a:ext cx="4902098" cy="294619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24205" y="1904695"/>
            <a:ext cx="4902098" cy="2946197"/>
          </a:xfrm>
          <a:prstGeom prst="rect">
            <a:avLst/>
          </a:prstGeom>
          <a:ln w="12700">
            <a:solidFill>
              <a:srgbClr val="D9D5CB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25703" y="2006194"/>
            <a:ext cx="1473098" cy="254203"/>
          </a:xfrm>
          <a:prstGeom prst="roundRect">
            <a:avLst>
              <a:gd name="adj" fmla="val 34892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01598" y="2070202"/>
            <a:ext cx="1320394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GitHub PR 截图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6146597" y="1511503"/>
            <a:ext cx="5435194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REAL FILES CHANGED · AVAILABLE</a:t>
            </a:r>
            <a:endParaRPr lang="en-US" sz="650" dirty="0"/>
          </a:p>
        </p:txBody>
      </p:sp>
      <p:sp>
        <p:nvSpPr>
          <p:cNvPr id="14" name="Shape 9"/>
          <p:cNvSpPr/>
          <p:nvPr/>
        </p:nvSpPr>
        <p:spPr>
          <a:xfrm>
            <a:off x="6146597" y="1790395"/>
            <a:ext cx="5435194" cy="3174797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 w="17780">
            <a:solidFill>
              <a:srgbClr val="D9D5CB"/>
            </a:solidFill>
            <a:prstDash val="solid"/>
          </a:ln>
        </p:spPr>
      </p:sp>
      <p:pic>
        <p:nvPicPr>
          <p:cNvPr id="15" name="Image 2" descr="C:\西井\01项目\09-harness工程\team-skill-sharing-mechanism-ppt\source\screenshots\original-thread\github-files-changed-pr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97" y="2133295"/>
            <a:ext cx="5206594" cy="248899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60897" y="2133295"/>
            <a:ext cx="5206594" cy="2488997"/>
          </a:xfrm>
          <a:prstGeom prst="rect">
            <a:avLst/>
          </a:prstGeom>
          <a:ln w="12700">
            <a:solidFill>
              <a:srgbClr val="D9D5CB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362395" y="1904695"/>
            <a:ext cx="1600200" cy="254203"/>
          </a:xfrm>
          <a:prstGeom prst="roundRect">
            <a:avLst>
              <a:gd name="adj" fmla="val 34892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439205" y="1968703"/>
            <a:ext cx="1447495" cy="1399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 Files changed 截图</a:t>
            </a:r>
            <a:endParaRPr lang="en-US" sz="600" dirty="0"/>
          </a:p>
        </p:txBody>
      </p:sp>
      <p:sp>
        <p:nvSpPr>
          <p:cNvPr id="19" name="Shape 13"/>
          <p:cNvSpPr/>
          <p:nvPr/>
        </p:nvSpPr>
        <p:spPr>
          <a:xfrm>
            <a:off x="609905" y="5219395"/>
            <a:ext cx="3353105" cy="482803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4497" y="5346497"/>
            <a:ext cx="30348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Draft</a:t>
            </a:r>
            <a:endParaRPr lang="en-US" sz="650" dirty="0"/>
          </a:p>
        </p:txBody>
      </p:sp>
      <p:sp>
        <p:nvSpPr>
          <p:cNvPr id="21" name="Text 15"/>
          <p:cNvSpPr/>
          <p:nvPr/>
        </p:nvSpPr>
        <p:spPr>
          <a:xfrm>
            <a:off x="774497" y="5587898"/>
            <a:ext cx="3034894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algn="l"/>
          </a:lstStyle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先形成可审计差异</a:t>
            </a:r>
            <a:endParaRPr lang="en-US" sz="600" dirty="0"/>
          </a:p>
        </p:txBody>
      </p:sp>
      <p:sp>
        <p:nvSpPr>
          <p:cNvPr id="22" name="Shape 16"/>
          <p:cNvSpPr/>
          <p:nvPr/>
        </p:nvSpPr>
        <p:spPr>
          <a:xfrm>
            <a:off x="3962095" y="5460797"/>
            <a:ext cx="228600" cy="0"/>
          </a:xfrm>
          <a:prstGeom prst="line">
            <a:avLst/>
          </a:prstGeom>
          <a:noFill/>
          <a:ln w="21590">
            <a:solidFill>
              <a:srgbClr val="D9D5CB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4267505" y="5219395"/>
            <a:ext cx="3353105" cy="482803"/>
          </a:xfrm>
          <a:prstGeom prst="roundRect">
            <a:avLst>
              <a:gd name="adj" fmla="val 28977"/>
            </a:avLst>
          </a:prstGeom>
          <a:solidFill>
            <a:srgbClr val="FBECEB"/>
          </a:solidFill>
          <a:ln w="21590">
            <a:solidFill>
              <a:srgbClr val="C5151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298594" y="5333695"/>
            <a:ext cx="32004" cy="254203"/>
          </a:xfrm>
          <a:prstGeom prst="roundRect">
            <a:avLst>
              <a:gd name="adj" fmla="val 100000"/>
            </a:avLst>
          </a:prstGeom>
          <a:solidFill>
            <a:srgbClr val="1F6289"/>
          </a:solidFill>
        </p:spPr>
      </p:sp>
      <p:sp>
        <p:nvSpPr>
          <p:cNvPr id="25" name="Text 19"/>
          <p:cNvSpPr/>
          <p:nvPr/>
        </p:nvSpPr>
        <p:spPr>
          <a:xfrm>
            <a:off x="4432097" y="5346497"/>
            <a:ext cx="30348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5151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Review</a:t>
            </a:r>
            <a:endParaRPr lang="en-US" sz="650" dirty="0"/>
          </a:p>
        </p:txBody>
      </p:sp>
      <p:sp>
        <p:nvSpPr>
          <p:cNvPr id="26" name="Text 20"/>
          <p:cNvSpPr/>
          <p:nvPr/>
        </p:nvSpPr>
        <p:spPr>
          <a:xfrm>
            <a:off x="4432097" y="5587898"/>
            <a:ext cx="3034894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algn="l"/>
          </a:lstStyle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Approve / Request changes</a:t>
            </a:r>
            <a:endParaRPr lang="en-US" sz="600" dirty="0"/>
          </a:p>
        </p:txBody>
      </p:sp>
      <p:sp>
        <p:nvSpPr>
          <p:cNvPr id="27" name="Shape 21"/>
          <p:cNvSpPr/>
          <p:nvPr/>
        </p:nvSpPr>
        <p:spPr>
          <a:xfrm>
            <a:off x="7619695" y="5460797"/>
            <a:ext cx="228600" cy="0"/>
          </a:xfrm>
          <a:prstGeom prst="line">
            <a:avLst/>
          </a:prstGeom>
          <a:noFill/>
          <a:ln w="21590">
            <a:solidFill>
              <a:srgbClr val="C51516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925105" y="5219395"/>
            <a:ext cx="3353105" cy="482803"/>
          </a:xfrm>
          <a:prstGeom prst="roundRect">
            <a:avLst>
              <a:gd name="adj" fmla="val 23674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089697" y="5346497"/>
            <a:ext cx="3034894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Decision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8089697" y="5587898"/>
            <a:ext cx="3034894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algn="l"/>
          </a:lstStyle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Merge / Close / Return</a:t>
            </a:r>
            <a:endParaRPr lang="en-US" sz="600" dirty="0"/>
          </a:p>
        </p:txBody>
      </p:sp>
      <p:sp>
        <p:nvSpPr>
          <p:cNvPr id="31" name="Shape 25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905" y="457200"/>
            <a:ext cx="9905695" cy="3685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第六步：发布、更新和回滚形成消费闭环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609905" y="914400"/>
            <a:ext cx="4826203" cy="19202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5" name="Text 2"/>
          <p:cNvSpPr/>
          <p:nvPr/>
        </p:nvSpPr>
        <p:spPr>
          <a:xfrm>
            <a:off x="609905" y="1041502"/>
            <a:ext cx="9525305" cy="2157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Tag / Release 是唯一消费边界；安装失败时恢复旧版本，而不是污染当前项目</a:t>
            </a:r>
            <a:endParaRPr lang="en-US" sz="900" dirty="0"/>
          </a:p>
        </p:txBody>
      </p:sp>
      <p:pic>
        <p:nvPicPr>
          <p:cNvPr id="6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133295" y="2305202"/>
            <a:ext cx="325526" cy="0"/>
          </a:xfrm>
          <a:prstGeom prst="line">
            <a:avLst/>
          </a:prstGeom>
          <a:noFill/>
          <a:ln w="25400">
            <a:solidFill>
              <a:srgbClr val="A8A39A"/>
            </a:solidFill>
            <a:prstDash val="solid"/>
            <a:tailEnd type="triangle"/>
          </a:ln>
        </p:spPr>
      </p:sp>
      <p:sp>
        <p:nvSpPr>
          <p:cNvPr id="8" name="Shape 4"/>
          <p:cNvSpPr/>
          <p:nvPr/>
        </p:nvSpPr>
        <p:spPr>
          <a:xfrm>
            <a:off x="609905" y="2076602"/>
            <a:ext cx="1473098" cy="457200"/>
          </a:xfrm>
          <a:prstGeom prst="roundRect">
            <a:avLst>
              <a:gd name="adj" fmla="val 19400"/>
            </a:avLst>
          </a:prstGeom>
          <a:solidFill>
            <a:srgbClr val="07195A"/>
          </a:solidFill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09905" y="2216506"/>
            <a:ext cx="14730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版本选择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9905" y="2686507"/>
            <a:ext cx="1473098" cy="1130198"/>
          </a:xfrm>
          <a:prstGeom prst="roundRect">
            <a:avLst>
              <a:gd name="adj" fmla="val 1011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2691994"/>
            <a:ext cx="1320394" cy="32004"/>
          </a:xfrm>
          <a:prstGeom prst="roundRect">
            <a:avLst>
              <a:gd name="adj" fmla="val 100000"/>
            </a:avLst>
          </a:prstGeom>
          <a:solidFill>
            <a:srgbClr val="07195A"/>
          </a:solidFill>
        </p:spPr>
      </p:sp>
      <p:sp>
        <p:nvSpPr>
          <p:cNvPr id="12" name="Text 8"/>
          <p:cNvSpPr/>
          <p:nvPr/>
        </p:nvSpPr>
        <p:spPr>
          <a:xfrm>
            <a:off x="748894" y="2800807"/>
            <a:ext cx="11942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可用操作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748894" y="3079699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14" name="Text 10"/>
          <p:cNvSpPr/>
          <p:nvPr/>
        </p:nvSpPr>
        <p:spPr>
          <a:xfrm>
            <a:off x="863194" y="3029407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beta / stable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748894" y="3396996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16" name="Text 12"/>
          <p:cNvSpPr/>
          <p:nvPr/>
        </p:nvSpPr>
        <p:spPr>
          <a:xfrm>
            <a:off x="863194" y="3346704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校验版本一致性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033418" y="2305202"/>
            <a:ext cx="325526" cy="0"/>
          </a:xfrm>
          <a:prstGeom prst="line">
            <a:avLst/>
          </a:prstGeom>
          <a:noFill/>
          <a:ln w="25400">
            <a:solidFill>
              <a:srgbClr val="A8A39A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2509114" y="2076602"/>
            <a:ext cx="1473098" cy="457200"/>
          </a:xfrm>
          <a:prstGeom prst="roundRect">
            <a:avLst>
              <a:gd name="adj" fmla="val 19400"/>
            </a:avLst>
          </a:prstGeom>
          <a:solidFill>
            <a:srgbClr val="07195A"/>
          </a:solidFill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2509114" y="2216506"/>
            <a:ext cx="14730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Tag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509114" y="2686507"/>
            <a:ext cx="1473098" cy="1130198"/>
          </a:xfrm>
          <a:prstGeom prst="roundRect">
            <a:avLst>
              <a:gd name="adj" fmla="val 1011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85923" y="2691994"/>
            <a:ext cx="1320394" cy="32004"/>
          </a:xfrm>
          <a:prstGeom prst="roundRect">
            <a:avLst>
              <a:gd name="adj" fmla="val 100000"/>
            </a:avLst>
          </a:prstGeom>
          <a:solidFill>
            <a:srgbClr val="07195A"/>
          </a:solidFill>
        </p:spPr>
      </p:sp>
      <p:sp>
        <p:nvSpPr>
          <p:cNvPr id="22" name="Text 18"/>
          <p:cNvSpPr/>
          <p:nvPr/>
        </p:nvSpPr>
        <p:spPr>
          <a:xfrm>
            <a:off x="2649017" y="2800807"/>
            <a:ext cx="11942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可用操作</a:t>
            </a:r>
            <a:endParaRPr lang="en-US" sz="650" dirty="0"/>
          </a:p>
        </p:txBody>
      </p:sp>
      <p:sp>
        <p:nvSpPr>
          <p:cNvPr id="23" name="Shape 19"/>
          <p:cNvSpPr/>
          <p:nvPr/>
        </p:nvSpPr>
        <p:spPr>
          <a:xfrm>
            <a:off x="2649017" y="3079699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24" name="Text 20"/>
          <p:cNvSpPr/>
          <p:nvPr/>
        </p:nvSpPr>
        <p:spPr>
          <a:xfrm>
            <a:off x="2763317" y="3029407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批准版本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2649017" y="3396996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26" name="Text 22"/>
          <p:cNvSpPr/>
          <p:nvPr/>
        </p:nvSpPr>
        <p:spPr>
          <a:xfrm>
            <a:off x="2763317" y="3346704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保护正式 ref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5933542" y="2305202"/>
            <a:ext cx="325526" cy="0"/>
          </a:xfrm>
          <a:prstGeom prst="line">
            <a:avLst/>
          </a:prstGeom>
          <a:noFill/>
          <a:ln w="25400">
            <a:solidFill>
              <a:srgbClr val="A8A39A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4409237" y="2076602"/>
            <a:ext cx="1473098" cy="457200"/>
          </a:xfrm>
          <a:prstGeom prst="roundRect">
            <a:avLst>
              <a:gd name="adj" fmla="val 19400"/>
            </a:avLst>
          </a:prstGeom>
          <a:solidFill>
            <a:srgbClr val="07195A"/>
          </a:solidFill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4409237" y="2216506"/>
            <a:ext cx="14730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Release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409237" y="2686507"/>
            <a:ext cx="1473098" cy="1130198"/>
          </a:xfrm>
          <a:prstGeom prst="roundRect">
            <a:avLst>
              <a:gd name="adj" fmla="val 1011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486046" y="2691994"/>
            <a:ext cx="1320394" cy="32004"/>
          </a:xfrm>
          <a:prstGeom prst="roundRect">
            <a:avLst>
              <a:gd name="adj" fmla="val 100000"/>
            </a:avLst>
          </a:prstGeom>
          <a:solidFill>
            <a:srgbClr val="07195A"/>
          </a:solidFill>
        </p:spPr>
      </p:sp>
      <p:sp>
        <p:nvSpPr>
          <p:cNvPr id="32" name="Text 28"/>
          <p:cNvSpPr/>
          <p:nvPr/>
        </p:nvSpPr>
        <p:spPr>
          <a:xfrm>
            <a:off x="4549140" y="2800807"/>
            <a:ext cx="11942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可用操作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4549140" y="3079699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34" name="Text 30"/>
          <p:cNvSpPr/>
          <p:nvPr/>
        </p:nvSpPr>
        <p:spPr>
          <a:xfrm>
            <a:off x="4663440" y="3029407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唯一正式源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4549140" y="3396996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36" name="Text 32"/>
          <p:cNvSpPr/>
          <p:nvPr/>
        </p:nvSpPr>
        <p:spPr>
          <a:xfrm>
            <a:off x="4663440" y="3346704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可追溯下载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7833665" y="2305202"/>
            <a:ext cx="325526" cy="0"/>
          </a:xfrm>
          <a:prstGeom prst="line">
            <a:avLst/>
          </a:prstGeom>
          <a:noFill/>
          <a:ln w="25400">
            <a:solidFill>
              <a:srgbClr val="A8A39A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6309360" y="2076602"/>
            <a:ext cx="1473098" cy="457200"/>
          </a:xfrm>
          <a:prstGeom prst="roundRect">
            <a:avLst>
              <a:gd name="adj" fmla="val 19400"/>
            </a:avLst>
          </a:prstGeom>
          <a:solidFill>
            <a:srgbClr val="07195A"/>
          </a:solidFill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6309360" y="2216506"/>
            <a:ext cx="14730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临时 worktree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6309360" y="2686507"/>
            <a:ext cx="1473098" cy="1130198"/>
          </a:xfrm>
          <a:prstGeom prst="roundRect">
            <a:avLst>
              <a:gd name="adj" fmla="val 1011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385255" y="2691994"/>
            <a:ext cx="1320394" cy="32004"/>
          </a:xfrm>
          <a:prstGeom prst="roundRect">
            <a:avLst>
              <a:gd name="adj" fmla="val 100000"/>
            </a:avLst>
          </a:prstGeom>
          <a:solidFill>
            <a:srgbClr val="07195A"/>
          </a:solidFill>
        </p:spPr>
      </p:sp>
      <p:sp>
        <p:nvSpPr>
          <p:cNvPr id="42" name="Text 38"/>
          <p:cNvSpPr/>
          <p:nvPr/>
        </p:nvSpPr>
        <p:spPr>
          <a:xfrm>
            <a:off x="6449263" y="2800807"/>
            <a:ext cx="11942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可用操作</a:t>
            </a:r>
            <a:endParaRPr lang="en-US" sz="650" dirty="0"/>
          </a:p>
        </p:txBody>
      </p:sp>
      <p:sp>
        <p:nvSpPr>
          <p:cNvPr id="43" name="Shape 39"/>
          <p:cNvSpPr/>
          <p:nvPr/>
        </p:nvSpPr>
        <p:spPr>
          <a:xfrm>
            <a:off x="6449263" y="3079699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44" name="Text 40"/>
          <p:cNvSpPr/>
          <p:nvPr/>
        </p:nvSpPr>
        <p:spPr>
          <a:xfrm>
            <a:off x="6563563" y="3029407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隔离拉取</a:t>
            </a:r>
            <a:endParaRPr lang="en-US" sz="700" dirty="0"/>
          </a:p>
        </p:txBody>
      </p:sp>
      <p:sp>
        <p:nvSpPr>
          <p:cNvPr id="45" name="Shape 41"/>
          <p:cNvSpPr/>
          <p:nvPr/>
        </p:nvSpPr>
        <p:spPr>
          <a:xfrm>
            <a:off x="6449263" y="3396996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46" name="Text 42"/>
          <p:cNvSpPr/>
          <p:nvPr/>
        </p:nvSpPr>
        <p:spPr>
          <a:xfrm>
            <a:off x="6563563" y="3346704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独立自检</a:t>
            </a:r>
            <a:endParaRPr lang="en-US" sz="700" dirty="0"/>
          </a:p>
        </p:txBody>
      </p:sp>
      <p:sp>
        <p:nvSpPr>
          <p:cNvPr id="47" name="Shape 43"/>
          <p:cNvSpPr/>
          <p:nvPr/>
        </p:nvSpPr>
        <p:spPr>
          <a:xfrm>
            <a:off x="9732874" y="2305202"/>
            <a:ext cx="325526" cy="0"/>
          </a:xfrm>
          <a:prstGeom prst="line">
            <a:avLst/>
          </a:prstGeom>
          <a:noFill/>
          <a:ln w="25400">
            <a:solidFill>
              <a:srgbClr val="A8A39A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8209483" y="2076602"/>
            <a:ext cx="1473098" cy="457200"/>
          </a:xfrm>
          <a:prstGeom prst="roundRect">
            <a:avLst>
              <a:gd name="adj" fmla="val 19400"/>
            </a:avLst>
          </a:prstGeom>
          <a:solidFill>
            <a:srgbClr val="07195A"/>
          </a:solidFill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49" name="Text 45"/>
          <p:cNvSpPr/>
          <p:nvPr/>
        </p:nvSpPr>
        <p:spPr>
          <a:xfrm>
            <a:off x="8209483" y="2216506"/>
            <a:ext cx="14730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备份与安装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8209483" y="2686507"/>
            <a:ext cx="1473098" cy="1130198"/>
          </a:xfrm>
          <a:prstGeom prst="roundRect">
            <a:avLst>
              <a:gd name="adj" fmla="val 1011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1" name="Shape 47"/>
          <p:cNvSpPr/>
          <p:nvPr/>
        </p:nvSpPr>
        <p:spPr>
          <a:xfrm>
            <a:off x="8285378" y="2691994"/>
            <a:ext cx="1320394" cy="32004"/>
          </a:xfrm>
          <a:prstGeom prst="roundRect">
            <a:avLst>
              <a:gd name="adj" fmla="val 100000"/>
            </a:avLst>
          </a:prstGeom>
          <a:solidFill>
            <a:srgbClr val="07195A"/>
          </a:solidFill>
        </p:spPr>
      </p:sp>
      <p:sp>
        <p:nvSpPr>
          <p:cNvPr id="52" name="Text 48"/>
          <p:cNvSpPr/>
          <p:nvPr/>
        </p:nvSpPr>
        <p:spPr>
          <a:xfrm>
            <a:off x="8349386" y="2800807"/>
            <a:ext cx="11942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可用操作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8349386" y="3079699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54" name="Text 50"/>
          <p:cNvSpPr/>
          <p:nvPr/>
        </p:nvSpPr>
        <p:spPr>
          <a:xfrm>
            <a:off x="8463686" y="3029407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先备份旧版本</a:t>
            </a:r>
            <a:endParaRPr lang="en-US" sz="700" dirty="0"/>
          </a:p>
        </p:txBody>
      </p:sp>
      <p:sp>
        <p:nvSpPr>
          <p:cNvPr id="55" name="Shape 51"/>
          <p:cNvSpPr/>
          <p:nvPr/>
        </p:nvSpPr>
        <p:spPr>
          <a:xfrm>
            <a:off x="8349386" y="3396996"/>
            <a:ext cx="44806" cy="44806"/>
          </a:xfrm>
          <a:prstGeom prst="roundRect">
            <a:avLst>
              <a:gd name="adj" fmla="val 42857"/>
            </a:avLst>
          </a:prstGeom>
          <a:solidFill>
            <a:srgbClr val="07195A"/>
          </a:solidFill>
        </p:spPr>
      </p:sp>
      <p:sp>
        <p:nvSpPr>
          <p:cNvPr id="56" name="Text 52"/>
          <p:cNvSpPr/>
          <p:nvPr/>
        </p:nvSpPr>
        <p:spPr>
          <a:xfrm>
            <a:off x="8463686" y="3346704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按通道更新</a:t>
            </a:r>
            <a:endParaRPr lang="en-US" sz="700" dirty="0"/>
          </a:p>
        </p:txBody>
      </p:sp>
      <p:sp>
        <p:nvSpPr>
          <p:cNvPr id="57" name="Shape 53"/>
          <p:cNvSpPr/>
          <p:nvPr/>
        </p:nvSpPr>
        <p:spPr>
          <a:xfrm>
            <a:off x="10109606" y="2076602"/>
            <a:ext cx="1473098" cy="457200"/>
          </a:xfrm>
          <a:prstGeom prst="roundRect">
            <a:avLst>
              <a:gd name="adj" fmla="val 19400"/>
            </a:avLst>
          </a:prstGeom>
          <a:solidFill>
            <a:srgbClr val="C51516"/>
          </a:solidFill>
          <a:ln w="25400">
            <a:solidFill>
              <a:srgbClr val="C51516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58" name="Text 54"/>
          <p:cNvSpPr/>
          <p:nvPr/>
        </p:nvSpPr>
        <p:spPr>
          <a:xfrm>
            <a:off x="10109606" y="2108606"/>
            <a:ext cx="1473098" cy="886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50" b="1" kern="0" spc="14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CURRENT</a:t>
            </a:r>
            <a:endParaRPr lang="en-US" sz="450" dirty="0"/>
          </a:p>
        </p:txBody>
      </p:sp>
      <p:sp>
        <p:nvSpPr>
          <p:cNvPr id="59" name="Text 55"/>
          <p:cNvSpPr/>
          <p:nvPr/>
        </p:nvSpPr>
        <p:spPr>
          <a:xfrm>
            <a:off x="10109606" y="2247595"/>
            <a:ext cx="1473098" cy="1901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允许版本 beta.9</a:t>
            </a:r>
            <a:endParaRPr lang="en-US" sz="950" dirty="0"/>
          </a:p>
        </p:txBody>
      </p:sp>
      <p:sp>
        <p:nvSpPr>
          <p:cNvPr id="60" name="Shape 56"/>
          <p:cNvSpPr/>
          <p:nvPr/>
        </p:nvSpPr>
        <p:spPr>
          <a:xfrm>
            <a:off x="10109606" y="2686507"/>
            <a:ext cx="1473098" cy="1130198"/>
          </a:xfrm>
          <a:prstGeom prst="roundRect">
            <a:avLst>
              <a:gd name="adj" fmla="val 10113"/>
            </a:avLst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61" name="Shape 57"/>
          <p:cNvSpPr/>
          <p:nvPr/>
        </p:nvSpPr>
        <p:spPr>
          <a:xfrm>
            <a:off x="10185502" y="2691994"/>
            <a:ext cx="1320394" cy="32004"/>
          </a:xfrm>
          <a:prstGeom prst="roundRect">
            <a:avLst>
              <a:gd name="adj" fmla="val 100000"/>
            </a:avLst>
          </a:prstGeom>
          <a:solidFill>
            <a:srgbClr val="C51516"/>
          </a:solidFill>
        </p:spPr>
      </p:sp>
      <p:sp>
        <p:nvSpPr>
          <p:cNvPr id="62" name="Text 58"/>
          <p:cNvSpPr/>
          <p:nvPr/>
        </p:nvSpPr>
        <p:spPr>
          <a:xfrm>
            <a:off x="10248595" y="2800807"/>
            <a:ext cx="1194206" cy="1399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A8A3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可用操作</a:t>
            </a:r>
            <a:endParaRPr lang="en-US" sz="650" dirty="0"/>
          </a:p>
        </p:txBody>
      </p:sp>
      <p:sp>
        <p:nvSpPr>
          <p:cNvPr id="63" name="Shape 59"/>
          <p:cNvSpPr/>
          <p:nvPr/>
        </p:nvSpPr>
        <p:spPr>
          <a:xfrm>
            <a:off x="10248595" y="3079699"/>
            <a:ext cx="44806" cy="44806"/>
          </a:xfrm>
          <a:prstGeom prst="roundRect">
            <a:avLst>
              <a:gd name="adj" fmla="val 42857"/>
            </a:avLst>
          </a:prstGeom>
          <a:solidFill>
            <a:srgbClr val="C51516"/>
          </a:solidFill>
        </p:spPr>
      </p:sp>
      <p:sp>
        <p:nvSpPr>
          <p:cNvPr id="64" name="Text 60"/>
          <p:cNvSpPr/>
          <p:nvPr/>
        </p:nvSpPr>
        <p:spPr>
          <a:xfrm>
            <a:off x="10362895" y="3029407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验证成功保留</a:t>
            </a:r>
            <a:endParaRPr lang="en-US" sz="700" dirty="0"/>
          </a:p>
        </p:txBody>
      </p:sp>
      <p:sp>
        <p:nvSpPr>
          <p:cNvPr id="65" name="Shape 61"/>
          <p:cNvSpPr/>
          <p:nvPr/>
        </p:nvSpPr>
        <p:spPr>
          <a:xfrm>
            <a:off x="10248595" y="3396996"/>
            <a:ext cx="44806" cy="44806"/>
          </a:xfrm>
          <a:prstGeom prst="roundRect">
            <a:avLst>
              <a:gd name="adj" fmla="val 42857"/>
            </a:avLst>
          </a:prstGeom>
          <a:solidFill>
            <a:srgbClr val="C51516"/>
          </a:solidFill>
        </p:spPr>
      </p:sp>
      <p:sp>
        <p:nvSpPr>
          <p:cNvPr id="66" name="Text 62"/>
          <p:cNvSpPr/>
          <p:nvPr/>
        </p:nvSpPr>
        <p:spPr>
          <a:xfrm>
            <a:off x="10362895" y="3346704"/>
            <a:ext cx="10799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dirty="0">
                <a:solidFill>
                  <a:srgbClr val="3D3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失败触发恢复</a:t>
            </a:r>
            <a:endParaRPr lang="en-US" sz="700" dirty="0"/>
          </a:p>
        </p:txBody>
      </p:sp>
      <p:sp>
        <p:nvSpPr>
          <p:cNvPr id="67" name="Shape 63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  <p:sp>
        <p:nvSpPr>
          <p:cNvPr id="68" name="Shape 64"/>
          <p:cNvSpPr/>
          <p:nvPr/>
        </p:nvSpPr>
        <p:spPr>
          <a:xfrm>
            <a:off x="609905" y="4013302"/>
            <a:ext cx="1676095" cy="0"/>
          </a:xfrm>
          <a:prstGeom prst="line">
            <a:avLst/>
          </a:prstGeom>
          <a:noFill/>
          <a:ln w="15240">
            <a:solidFill>
              <a:srgbClr val="D9D5CB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2361895" y="3937406"/>
            <a:ext cx="3937406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深蓝＝正常发布路径 · 红色＝当前允许版本</a:t>
            </a:r>
            <a:endParaRPr lang="en-US" sz="650" dirty="0"/>
          </a:p>
        </p:txBody>
      </p:sp>
      <p:sp>
        <p:nvSpPr>
          <p:cNvPr id="70" name="Text 66"/>
          <p:cNvSpPr/>
          <p:nvPr/>
        </p:nvSpPr>
        <p:spPr>
          <a:xfrm>
            <a:off x="609905" y="4089197"/>
            <a:ext cx="10972800" cy="152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210" dirty="0">
                <a:solidFill>
                  <a:srgbClr val="666666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SEPARATE RECOVERY RAIL · REVERSE DIRECTION</a:t>
            </a:r>
            <a:endParaRPr lang="en-US" sz="650" dirty="0"/>
          </a:p>
        </p:txBody>
      </p:sp>
      <p:sp>
        <p:nvSpPr>
          <p:cNvPr id="71" name="Shape 67"/>
          <p:cNvSpPr/>
          <p:nvPr/>
        </p:nvSpPr>
        <p:spPr>
          <a:xfrm>
            <a:off x="609905" y="4280306"/>
            <a:ext cx="10972800" cy="342900"/>
          </a:xfrm>
          <a:prstGeom prst="roundRect">
            <a:avLst>
              <a:gd name="adj" fmla="val 25867"/>
            </a:avLst>
          </a:prstGeom>
          <a:solidFill>
            <a:srgbClr val="E6EAF3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 flipH="1">
            <a:off x="1815998" y="4451299"/>
            <a:ext cx="8648395" cy="0"/>
          </a:xfrm>
          <a:prstGeom prst="line">
            <a:avLst/>
          </a:prstGeom>
          <a:noFill/>
          <a:ln w="22860">
            <a:solidFill>
              <a:srgbClr val="1F6289"/>
            </a:solidFill>
            <a:prstDash val="dash"/>
            <a:tailEnd type="triangle"/>
          </a:ln>
        </p:spPr>
      </p:sp>
      <p:sp>
        <p:nvSpPr>
          <p:cNvPr id="73" name="Shape 69"/>
          <p:cNvSpPr/>
          <p:nvPr/>
        </p:nvSpPr>
        <p:spPr>
          <a:xfrm>
            <a:off x="2565806" y="4330598"/>
            <a:ext cx="7060997" cy="241402"/>
          </a:xfrm>
          <a:prstGeom prst="roundRect">
            <a:avLst>
              <a:gd name="adj" fmla="val 31439"/>
            </a:avLst>
          </a:prstGeom>
          <a:solidFill>
            <a:srgbClr val="E6EAF3"/>
          </a:solidFill>
          <a:ln w="12700">
            <a:solidFill>
              <a:srgbClr val="E6EAF3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2667305" y="4369003"/>
            <a:ext cx="6858000" cy="165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F62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恢复旧版本 ← 恢复备份 ← 停止失败安装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609905" y="4813402"/>
            <a:ext cx="10972800" cy="495605"/>
          </a:xfrm>
          <a:prstGeom prst="roundRect">
            <a:avLst>
              <a:gd name="adj" fmla="val 23063"/>
            </a:avLst>
          </a:prstGeom>
          <a:solidFill>
            <a:srgbClr val="E6EAF3"/>
          </a:solidFill>
          <a:ln w="17780">
            <a:solidFill>
              <a:srgbClr val="07195A"/>
            </a:solidFill>
            <a:prstDash val="solid"/>
          </a:ln>
          <a:effectLst>
            <a:outerShdw blurRad="101600" dist="25400" dir="5400000" algn="bl" rotWithShape="0">
              <a:srgbClr val="1A2030">
                <a:alpha val="14000"/>
              </a:srgbClr>
            </a:outerShdw>
          </a:effectLst>
        </p:spPr>
      </p:sp>
      <p:sp>
        <p:nvSpPr>
          <p:cNvPr id="76" name="Text 72"/>
          <p:cNvSpPr/>
          <p:nvPr/>
        </p:nvSpPr>
        <p:spPr>
          <a:xfrm>
            <a:off x="761695" y="4889297"/>
            <a:ext cx="10668305" cy="127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kern="0" spc="130" dirty="0">
                <a:solidFill>
                  <a:srgbClr val="07195A"/>
                </a:solidFill>
                <a:latin typeface="Century Gothic" panose="020B0502020202020204" pitchFamily="34" charset="0"/>
                <a:ea typeface="Century Gothic" panose="020B0502020202020204" pitchFamily="34" charset="-122"/>
                <a:cs typeface="Century Gothic" panose="020B0502020202020204" pitchFamily="34" charset="-120"/>
              </a:rPr>
              <a:t>CURRENT IMPLEMENTATION BOUNDARY</a:t>
            </a:r>
            <a:endParaRPr lang="en-US" sz="650" dirty="0"/>
          </a:p>
        </p:txBody>
      </p:sp>
      <p:sp>
        <p:nvSpPr>
          <p:cNvPr id="77" name="Text 73"/>
          <p:cNvSpPr/>
          <p:nvPr/>
        </p:nvSpPr>
        <p:spPr>
          <a:xfrm>
            <a:off x="787298" y="5067605"/>
            <a:ext cx="10617098" cy="177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最新正式 Release 仍为 beta.9；main 中更新不等于已发布，团队端运行仍取决于本地安装和凭据。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theme/assets/logo-westwe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86000" y="2730398"/>
            <a:ext cx="7619695" cy="609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719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每个人贡献候选，</a:t>
            </a:r>
            <a:r>
              <a:rPr lang="en-US" sz="2700" b="1" dirty="0">
                <a:solidFill>
                  <a:srgbClr val="C515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正式源只走一条路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355702" y="6324905"/>
            <a:ext cx="11481206" cy="25603"/>
          </a:xfrm>
          <a:prstGeom prst="rect">
            <a:avLst/>
          </a:prstGeom>
          <a:solidFill>
            <a:srgbClr val="C51516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6790</Words>
  <Application>WPS 演示</Application>
  <PresentationFormat>On-screen Show (16:9)</PresentationFormat>
  <Paragraphs>1112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Century Gothic</vt:lpstr>
      <vt:lpstr>Century Gothic</vt:lpstr>
      <vt:lpstr>Century Gothic</vt:lpstr>
      <vt:lpstr>Calibri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Westwell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Leander PPT</dc:creator>
  <dc:subject>PptxGenJS Presentation</dc:subject>
  <cp:lastModifiedBy>某在斯</cp:lastModifiedBy>
  <cp:revision>3</cp:revision>
  <dcterms:created xsi:type="dcterms:W3CDTF">2026-07-24T07:41:00Z</dcterms:created>
  <dcterms:modified xsi:type="dcterms:W3CDTF">2026-07-24T15:07:29Z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204F5B679D594A02B615BF7860B6F605_13</vt:lpwstr>
  </property>
  <property fmtid="{D5CDD505-2E9C-101B-9397-08002B2CF9AE}" pid="3" name="KSOProductBuildVer">
    <vt:lpwstr>2052-12.1.0.23125</vt:lpwstr>
  </property>
</Properties>
</file>